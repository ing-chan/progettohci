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ink/ink1.xml" ContentType="application/inkml+xml"/>
  <Override PartName="/ppt/charts/chart1.xml" ContentType="application/vnd.openxmlformats-officedocument.drawingml.chart+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401" r:id="rId5"/>
    <p:sldId id="402" r:id="rId6"/>
    <p:sldId id="403" r:id="rId7"/>
    <p:sldId id="404" r:id="rId8"/>
    <p:sldId id="418" r:id="rId9"/>
    <p:sldId id="405" r:id="rId10"/>
    <p:sldId id="406" r:id="rId11"/>
    <p:sldId id="407" r:id="rId12"/>
    <p:sldId id="419" r:id="rId13"/>
    <p:sldId id="408" r:id="rId14"/>
    <p:sldId id="409" r:id="rId15"/>
    <p:sldId id="426" r:id="rId16"/>
    <p:sldId id="412" r:id="rId17"/>
    <p:sldId id="428" r:id="rId18"/>
    <p:sldId id="256" r:id="rId19"/>
    <p:sldId id="257" r:id="rId20"/>
    <p:sldId id="258" r:id="rId21"/>
    <p:sldId id="259" r:id="rId22"/>
    <p:sldId id="260" r:id="rId23"/>
    <p:sldId id="261" r:id="rId24"/>
    <p:sldId id="262" r:id="rId25"/>
    <p:sldId id="425" r:id="rId26"/>
    <p:sldId id="424" r:id="rId27"/>
    <p:sldId id="414" r:id="rId28"/>
    <p:sldId id="415" r:id="rId29"/>
    <p:sldId id="416" r:id="rId30"/>
    <p:sldId id="417" r:id="rId31"/>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10-26T14:03:44.061"/>
    <p1510:client id="{A1AEDC98-AB1A-E690-DE04-6F0E9BC16071}" v="57" dt="2026-10-26T13:53:18.129"/>
    <p1510:client id="{AF532C96-0CC3-A222-4894-A109D88E2BFF}" v="4" dt="2026-10-26T15:54:08.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95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6B6B78"/>
                </a:solidFill>
                <a:latin typeface="Space Mono"/>
              </a:defRPr>
            </a:pPr>
            <a:r>
              <a:rPr lang="it-IT" sz="900" b="0" i="0" u="none" strike="noStrike">
                <a:solidFill>
                  <a:srgbClr val="6B6B78"/>
                </a:solidFill>
                <a:latin typeface="Space Mono"/>
              </a:rPr>
              <a:t>risposte corrette per livello di difficoltà</a:t>
            </a:r>
          </a:p>
        </c:rich>
      </c:tx>
      <c:overlay val="0"/>
    </c:title>
    <c:autoTitleDeleted val="0"/>
    <c:plotArea>
      <c:layout/>
      <c:barChart>
        <c:barDir val="col"/>
        <c:grouping val="clustered"/>
        <c:varyColors val="0"/>
        <c:ser>
          <c:idx val="0"/>
          <c:order val="0"/>
          <c:tx>
            <c:strRef>
              <c:f>Sheet1!$B$1</c:f>
              <c:strCache>
                <c:ptCount val="1"/>
                <c:pt idx="0">
                  <c:v>risposte corrette</c:v>
                </c:pt>
              </c:strCache>
            </c:strRef>
          </c:tx>
          <c:spPr>
            <a:solidFill>
              <a:srgbClr val="1700E8"/>
            </a:solidFill>
            <a:effectLst/>
          </c:spPr>
          <c:invertIfNegative val="0"/>
          <c:dLbls>
            <c:numFmt formatCode="0&quot;%&quot;" sourceLinked="0"/>
            <c:spPr>
              <a:noFill/>
              <a:ln>
                <a:noFill/>
              </a:ln>
              <a:effectLst/>
            </c:spPr>
            <c:txPr>
              <a:bodyPr/>
              <a:lstStyle/>
              <a:p>
                <a:pPr>
                  <a:defRPr sz="1000" b="1" i="0" u="none" strike="noStrike">
                    <a:solidFill>
                      <a:srgbClr val="1700E8"/>
                    </a:solidFill>
                    <a:latin typeface="Space Mono"/>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liv. 0</c:v>
                </c:pt>
                <c:pt idx="1">
                  <c:v>liv. 1</c:v>
                </c:pt>
                <c:pt idx="2">
                  <c:v>liv. 2</c:v>
                </c:pt>
                <c:pt idx="3">
                  <c:v>liv. 3</c:v>
                </c:pt>
                <c:pt idx="4">
                  <c:v>liv. 4</c:v>
                </c:pt>
              </c:strCache>
            </c:strRef>
          </c:cat>
          <c:val>
            <c:numRef>
              <c:f>Sheet1!$B$2:$B$6</c:f>
              <c:numCache>
                <c:formatCode>General</c:formatCode>
                <c:ptCount val="5"/>
                <c:pt idx="0">
                  <c:v>100</c:v>
                </c:pt>
                <c:pt idx="1">
                  <c:v>87</c:v>
                </c:pt>
                <c:pt idx="2">
                  <c:v>80</c:v>
                </c:pt>
                <c:pt idx="3">
                  <c:v>86</c:v>
                </c:pt>
                <c:pt idx="4">
                  <c:v>53</c:v>
                </c:pt>
              </c:numCache>
            </c:numRef>
          </c:val>
          <c:extLst>
            <c:ext xmlns:c16="http://schemas.microsoft.com/office/drawing/2014/chart" uri="{C3380CC4-5D6E-409C-BE32-E72D297353CC}">
              <c16:uniqueId val="{00000000-CA5C-4AE4-849A-B8EA8732A03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11111"/>
                </a:solidFill>
                <a:latin typeface="Space Mono"/>
              </a:defRPr>
            </a:pPr>
            <a:endParaRPr lang="en-US"/>
          </a:p>
        </c:txPr>
        <c:crossAx val="2094734552"/>
        <c:crosses val="autoZero"/>
        <c:auto val="1"/>
        <c:lblAlgn val="ctr"/>
        <c:lblOffset val="100"/>
        <c:noMultiLvlLbl val="1"/>
      </c:catAx>
      <c:valAx>
        <c:axId val="2094734552"/>
        <c:scaling>
          <c:orientation val="minMax"/>
          <c:max val="11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4:23:51.296"/>
    </inkml:context>
    <inkml:brush xml:id="br0">
      <inkml:brushProperty name="width" value="0.1" units="cm"/>
      <inkml:brushProperty name="height" value="0.1" units="cm"/>
      <inkml:brushProperty name="color" value="#E71224"/>
    </inkml:brush>
  </inkml:definitions>
  <inkml:trace contextRef="#ctx0" brushRef="#br0">1 4472 8192,'94'-2'10526,"0"-3"-6258,19-4-3847,55-8-5833,90-7-4983,-85 16 10987,350 8-592,-214 1 0,132 31 0,-126-4 0,-252-23 0,0 2 0,-1 2 0,0 4 0,-1 2 0,0 2 0,-2 4 0,0 2 0,85 46 0,-56-18-344,82 63 0,-30 5 2351,-56-29 4519,-77-82-5716,-1 1 1,0 0-1,0 0 1,-1 0-1,0 1 1,-1 0-1,0 0 1,0 0 0,2 15-1,1 33 2103,-7 5-3754,0-44 841,0-9 0,0 0 0,-1-1 0,1 1 0,-2-1 0,-4 17 0,5-23 0,0-1 0,0 1 0,0-1 0,-1 0 0,1 0 0,-1 0 0,1 0 0,-1 0 0,0 0 0,0 0 0,0 0 0,0 0 0,0-1 0,0 1 0,0-1 0,-1 0 0,1 0 0,0 0 0,-1 0 0,1 0 0,-1 0 0,1 0 0,-1-1 0,0 1 0,-4-1 0,-1 1 0,0 0 0,1-1 0,-1 0 0,0 0 0,0-1 0,1 0 0,-1 0 0,0-1 0,1 0 0,-1 0 0,1-1 0,0 0 0,0 0 0,0 0 0,0-1 0,1 0 0,-1-1 0,1 0 0,0 0 0,0 0 0,1 0 0,0-1 0,0 0 0,0 0 0,0 0 0,1-1 0,0 0 0,1 1 0,-4-10 0,-2-7 0,1 0 0,1 0 0,1-1 0,2 0 0,0 0 0,1-1 0,2 1 0,0-1 0,4-30 0,-1 43 0,0 1 0,1-1 0,1 1 0,-1 0 0,2 1 0,0-1 0,0 1 0,8-12 0,-2 5 0,1 1 0,0 1 0,1 0 0,15-13 0,3 1-3090,2 1 0,1 2 0,0 2 0,46-22 1,36-10-475,3 8 4555,-85 35-936,0 1-1,1 2 1,0 2 0,59-4 0,146 9 55,-115 3 322,-87-1-514,0 2 1,0 1-1,0 2 0,-1 2 1,0 2-1,0 1 1,-1 1-1,-1 2 0,46 25 1,-23-11 81,1-2 0,2-4 0,0-1 0,1-4 0,109 17 0,-53-21 0,1-5 0,140-8 0,-180-6 0,-1-3 0,0-4 0,0-3 0,-2-4 0,0-3 0,113-51 0,-27-4 0,268-173 0,-241 127 0,186-157 0,-316 230 0,-2-2 0,-3-3 0,-2-2 0,-2-2 0,-4-3 0,75-130 0,68-229 0,-26-10 0,-58 149 0,-53 157 0,5 2 0,77-120 0,177-212 0,-193 302 0,266-264 0,-307 347 0,3 3 0,3 4 0,2 3 0,4 5 0,121-59 0,139-17 0,-209 94 0,231-33 0,-45 45-268,2 28 4479,-138 0 6790,-168-1-10588,0 0 1,0 1-1,0 1 1,0 1-1,-1 1 1,1 1-1,21 10 1,-27-9-437,0 1 0,0 1 0,-1 0 0,0 1 0,-1 1 0,0 0 0,-1 1 0,0 0 0,14 19 0,0 1 23,-11-14 0,0 1 0,15 26 0,-9-8 0,2 3 0,25 56 0,-43-81 0,0 1 0,0 0 0,-2 0 0,0 0 0,-1 0 0,0 1 0,0 29 0,-4-36 0,1-1 0,-2 0 0,1 1 0,-1-1 0,0 0 0,-1 0 0,0-1 0,-1 1 0,0 0 0,0-1 0,-1 0 0,0 0 0,0 0 0,0-1 0,-11 11 0,-27 23 0,-2-1 0,-1-3 0,-63 39 0,-162 79 0,234-137 0,-1-1 0,-1-2 0,0-1 0,-1-2 0,0-2 0,-1-2 0,0-1 0,0-3 0,-1-1 0,-58-3 0,92-1 0,0 1 0,0-2 0,1 1 0,-1-1 0,0 0 0,1 0 0,-1-1 0,1 0 0,0-1 0,0 1 0,0-1 0,0-1 0,1 1 0,-1-1 0,-7-8 0,8 6 0,1 0 0,0 0 0,0-1 0,0 1 0,1-1 0,0 0 0,1-1 0,0 1 0,0-1 0,1 1 0,0-1 0,0 0 0,0-11 0,1 15-75,-2-24 123,1-45 0,10 24-2008,-6 44 975,0 0 1,0 0 0,1 0-1,0 1 1,6-11 0,20-22-5839,3 1 3710,74-67 3404,-79 78-823,27-22 532,2 3 0,2 2 0,97-54 0,-144 91 0,2 0 0,-1 1 0,0 1 0,1 0 0,0 1 0,0 0 0,0 1 0,16-1 0,16 2 0,49 5 0,-8 0 0,-72-3 107,0 0 1,-1 1 0,1 1-1,0 0 1,-1 0-1,0 2 1,21 8-1,5 7 373,39 26 0,-33-18 561,37 26-2562,113 96 0,25 19 1702,496 266-181,-508-333 0,-175-89 0,61 16 0,-31-11 0,-15-3 0,4 2 0,81 16 0,124 27 2765,-167-35-4148,130 18 1,97-20 8984,-181-21-8777,141 7-5511,16 0 6969,-218-11-295,143-21 0,-35-9 12,270-56 0,-204 20 0,-2-10 0,-4-11 0,393-206 0,-316 103 1888,-299 176 5667,-7 3-5666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4:28:00.236"/>
    </inkml:context>
    <inkml:brush xml:id="br0">
      <inkml:brushProperty name="width" value="0.1" units="cm"/>
      <inkml:brushProperty name="height" value="0.1" units="cm"/>
      <inkml:brushProperty name="color" value="#E71224"/>
    </inkml:brush>
  </inkml:definitions>
  <inkml:trace contextRef="#ctx0" brushRef="#br0">1 394 8192,'51'0'15027,"0"0"-10415,104 0-9233,-151 0 3775,2 1-303,1-1 0,-1-1 0,1 1 0,0-1 1,-1 0-1,11-3 0,-15 3 857,0 0 0,1-1 0,-1 1 0,0-1 0,0 1 0,0-1 0,0 0 0,0 0 1,0 0-1,-1 0 0,1 0 0,-1 0 0,1 0 0,-1-1 0,0 1 0,0 0 0,0-1 0,0 1 1,0-1-1,0-3 0,5-28 292,-1-1 0,-2 0 0,-1 0 0,-6-68 0,2 26 0,1 54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4:30:06.683"/>
    </inkml:context>
    <inkml:brush xml:id="br0">
      <inkml:brushProperty name="width" value="0.1" units="cm"/>
      <inkml:brushProperty name="height" value="0.1" units="cm"/>
      <inkml:brushProperty name="color" value="#E71224"/>
    </inkml:brush>
  </inkml:definitions>
  <inkml:trace contextRef="#ctx0" brushRef="#br0">1 1773 8192,'6'-19'18604,"14"-11"-20438,-11 20 3086,16-25-1252,2 1 0,1 1 0,2 2 0,1 1 0,51-39 0,-54 48 1083,11-13-4016,23-17-1491,-14 23 10138,28-6-15111,3 3 3415,83-19 3899,-133 45 2210,0 1 0,0 2 0,1 1 0,40 4 1,-6-1 8614,-24 2-1552,-34-2-6914,0 0 1,0 0-1,-1 0 1,1 0-1,-1 1 1,1 0-1,5 5 1,-7-5-319,0 0-1,0 0 1,-1 1 0,0-1 0,0 1 0,0 0 0,0 0 0,0 0 0,-1 0-1,0 1 1,0-1 0,0 1 0,0-1 0,-1 1 0,1 0 0,-1 0 0,0 8 0,0-2 42,0 0 0,-2-1 0,1 1 0,-1 0 0,-1-1 0,0 1 0,0-1 0,-1 0 0,-6 16 0,6-21 0,1 0 0,0 0 0,-1-1 0,0 1 0,0-1 0,-1 0 0,1 0 0,-1 0 0,0 0 0,0-1 0,0 1 0,0-1 0,-1 0 0,1 0 0,-1-1 0,0 0 0,1 1 0,-1-1 0,0-1 0,-10 3 0,-7-1-8866,0-2 3312,16-1 4885,0 0 0,0 0-1,0-1 1,0 0 0,-6-2 0,9 2 684,0 0 0,1 0 1,-1 0-1,0-1 0,1 1 0,-1-1 1,1 1-1,0-1 0,-1 0 1,1 0-1,0 0 0,0 0 1,0 0-1,0-1 0,1 1 0,-1-1 1,1 1-1,-1-1 0,1 1 1,0-1-1,0 0 0,0 0 1,0 1-1,0-1 0,1 0 0,-1-5 1,0-1-16,0 0 0,1 0 0,0 0 0,0 0 0,1 1 0,0-1 0,0 0 0,1 0 0,1 1 0,-1-1 0,1 1 0,0 0 0,1 0 0,0 0 0,1 0 0,-1 1 0,1-1 0,1 1 0,-1 1 0,1-1 0,10-8 0,16-7 0,1 2 0,0 1 0,1 1 0,1 3 0,64-21 0,-44 16 0,-37 12 0,1 2 0,-1 0 0,1 0 0,0 2 0,36-4 0,-1 4 0,-1-3 0,61-16 0,70-9 0,65 11 0,-200 14 0,-2-1 0,1-2 0,49-18 0,34-8 0,78-27 0,-155 45 0,44-13 0,-40 14 0,0-2 0,71-36 0,262-141 0,-262 126 0,-77 39 0,2 3 0,60-23 0,393-92 0,-439 127 0,196-41 0,325-29 0,-126 60 0,-334 22 0,530-2 495,-603 11 2532,-1 3 0,77 20 0,-39-7 2847,99 27-3287,-59-6-2595,169 78 1,-179-57 7,17 8 0,-85-45 0,-32-14 0,0-2 0,45 15 0,-15-15 0,0-2 0,0-3 0,1-2 0,64-4 0,-46 0 0,-47 2 0,47 9 0,-46-5 0,40 2 0,-48-7-216,14 1 406,34 4 0,-54-3-996,-1 0-1,1 1 1,-1 0 0,0 1 0,0 1-1,16 8 1,9 4-10880,2-2 9694,-19-8 2370,0 0 1,20 12 0,32 26-370,-44-24 9425,-14-10-7545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7D91B-D39C-F2CA-4EFD-747F7232C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F758D-2DC6-D9BA-C9EB-8E228D94D1EC}"/>
              </a:ext>
            </a:extLst>
          </p:cNvPr>
          <p:cNvSpPr txBox="1">
            <a:spLocks noGrp="1"/>
          </p:cNvSpPr>
          <p:nvPr>
            <p:ph type="body" sz="quarter" idx="1"/>
          </p:nvPr>
        </p:nvSpPr>
        <p:spPr/>
        <p:txBody>
          <a:bodyPr/>
          <a:lstStyle/>
          <a:p>
            <a:endParaRPr lang="it-IT"/>
          </a:p>
        </p:txBody>
      </p:sp>
      <p:sp>
        <p:nvSpPr>
          <p:cNvPr id="4" name="Slide Number Placeholder 3">
            <a:extLst>
              <a:ext uri="{FF2B5EF4-FFF2-40B4-BE49-F238E27FC236}">
                <a16:creationId xmlns:a16="http://schemas.microsoft.com/office/drawing/2014/main" id="{3B0B8B34-AEDC-AE83-D360-2E4A5A96884C}"/>
              </a:ext>
            </a:extLst>
          </p:cNvPr>
          <p:cNvSpPr txBox="1">
            <a:spLocks noGrp="1"/>
          </p:cNvSpPr>
          <p:nvPr>
            <p:ph type="sldNum" sz="quarter" idx="8"/>
          </p:nvPr>
        </p:nvSpPr>
        <p:spPr/>
        <p:txBody>
          <a:bodyPr/>
          <a:lstStyle/>
          <a:p>
            <a:pPr lvl="0"/>
            <a:fld id="{23508539-5D51-4043-9B56-7D31CA72F9FE}" type="slidenum">
              <a:t>14</a:t>
            </a:fld>
            <a:endParaRPr lang="en-US"/>
          </a:p>
        </p:txBody>
      </p:sp>
    </p:spTree>
    <p:extLst>
      <p:ext uri="{BB962C8B-B14F-4D97-AF65-F5344CB8AC3E}">
        <p14:creationId xmlns:p14="http://schemas.microsoft.com/office/powerpoint/2010/main" val="2069729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AA0C1-50F4-6EFD-29BE-5F440FA5C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1FBF0-77DA-57CD-33A6-D3BDFCBDB2EE}"/>
              </a:ext>
            </a:extLst>
          </p:cNvPr>
          <p:cNvSpPr txBox="1">
            <a:spLocks noGrp="1"/>
          </p:cNvSpPr>
          <p:nvPr>
            <p:ph type="body" sz="quarter" idx="1"/>
          </p:nvPr>
        </p:nvSpPr>
        <p:spPr/>
        <p:txBody>
          <a:bodyPr/>
          <a:lstStyle/>
          <a:p>
            <a:endParaRPr lang="it-IT"/>
          </a:p>
        </p:txBody>
      </p:sp>
      <p:sp>
        <p:nvSpPr>
          <p:cNvPr id="4" name="Slide Number Placeholder 3">
            <a:extLst>
              <a:ext uri="{FF2B5EF4-FFF2-40B4-BE49-F238E27FC236}">
                <a16:creationId xmlns:a16="http://schemas.microsoft.com/office/drawing/2014/main" id="{B11E090B-870C-DDB6-CEEC-D586DD507BCA}"/>
              </a:ext>
            </a:extLst>
          </p:cNvPr>
          <p:cNvSpPr txBox="1">
            <a:spLocks noGrp="1"/>
          </p:cNvSpPr>
          <p:nvPr>
            <p:ph type="sldNum" sz="quarter" idx="8"/>
          </p:nvPr>
        </p:nvSpPr>
        <p:spPr/>
        <p:txBody>
          <a:bodyPr/>
          <a:lstStyle/>
          <a:p>
            <a:pPr lvl="0"/>
            <a:fld id="{8F963C80-1FF5-476C-935C-D90BFED77D49}" type="slidenum">
              <a:t>15</a:t>
            </a:fld>
            <a:endParaRPr lang="en-US"/>
          </a:p>
        </p:txBody>
      </p:sp>
    </p:spTree>
    <p:extLst>
      <p:ext uri="{BB962C8B-B14F-4D97-AF65-F5344CB8AC3E}">
        <p14:creationId xmlns:p14="http://schemas.microsoft.com/office/powerpoint/2010/main" val="285058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7B13F-898A-4056-7D6F-A860677B1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E775A-C184-C40D-F538-74A8EBCF3B40}"/>
              </a:ext>
            </a:extLst>
          </p:cNvPr>
          <p:cNvSpPr txBox="1">
            <a:spLocks noGrp="1"/>
          </p:cNvSpPr>
          <p:nvPr>
            <p:ph type="body" sz="quarter" idx="1"/>
          </p:nvPr>
        </p:nvSpPr>
        <p:spPr/>
        <p:txBody>
          <a:bodyPr/>
          <a:lstStyle/>
          <a:p>
            <a:pPr lvl="0"/>
            <a:r>
              <a:rPr lang="it-IT"/>
              <a:t>Persona: Sofia. Bisogno unico: B3+B6, capire chi c'è davvero dall'altra parte. Evidenze richiamate: TR1, chat 1-4, OSS-10 e OSS-11.</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1040294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4F449-7921-74DE-3F21-48D8F3766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A16B9-DF00-7A5B-546F-0785297397FB}"/>
              </a:ext>
            </a:extLst>
          </p:cNvPr>
          <p:cNvSpPr txBox="1">
            <a:spLocks noGrp="1"/>
          </p:cNvSpPr>
          <p:nvPr>
            <p:ph type="body" sz="quarter" idx="1"/>
          </p:nvPr>
        </p:nvSpPr>
        <p:spPr/>
        <p:txBody>
          <a:bodyPr/>
          <a:lstStyle/>
          <a:p>
            <a:pPr lvl="0"/>
            <a:r>
              <a:rPr lang="it-IT"/>
              <a:t>Scenario di Sofia: Amici in comune. Bisogno unico: B3+B6. Lo scenario mostra segnali graduali di adescamento e la debolezza di amici in comune, foto e storie come prove d'identità.</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45953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7EABF-16EE-34D1-1127-8480C2A64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D36CF-C0DE-61DA-3690-204E10FF5185}"/>
              </a:ext>
            </a:extLst>
          </p:cNvPr>
          <p:cNvSpPr txBox="1">
            <a:spLocks noGrp="1"/>
          </p:cNvSpPr>
          <p:nvPr>
            <p:ph type="body" sz="quarter" idx="1"/>
          </p:nvPr>
        </p:nvSpPr>
        <p:spPr/>
        <p:txBody>
          <a:bodyPr/>
          <a:lstStyle/>
          <a:p>
            <a:pPr lvl="0"/>
            <a:r>
              <a:rPr lang="it-IT"/>
              <a:t>Persona: Tommaso. Bisogno unico: B4+B9, avere un'idea realistica di quanto si è capaci di riconoscere un falso. Evidenze: F0, F1, TR2 e foglio 'Indizi usati'.</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3253125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B5B8E-691F-B7A2-7A6D-DC0AC013B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A9DE9-21C2-6878-1318-150C66A403DA}"/>
              </a:ext>
            </a:extLst>
          </p:cNvPr>
          <p:cNvSpPr txBox="1">
            <a:spLocks noGrp="1"/>
          </p:cNvSpPr>
          <p:nvPr>
            <p:ph type="body" sz="quarter" idx="1"/>
          </p:nvPr>
        </p:nvSpPr>
        <p:spPr/>
        <p:txBody>
          <a:bodyPr/>
          <a:lstStyle/>
          <a:p>
            <a:pPr lvl="0"/>
            <a:r>
              <a:rPr lang="it-IT"/>
              <a:t>Scenario di Tommaso: La sfida del venerdì. Bisogno unico: B4+B9. Il 53% di accuratezza al livello 4 e la fiducia dichiarata stabile motivano il confronto tra sicurezza percepita e risultato reale.</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3118396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8611F-ADCC-F208-B249-04691EDB7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6E320-B2EE-715B-8B24-8F6BBE7821DE}"/>
              </a:ext>
            </a:extLst>
          </p:cNvPr>
          <p:cNvSpPr txBox="1">
            <a:spLocks noGrp="1"/>
          </p:cNvSpPr>
          <p:nvPr>
            <p:ph type="body" sz="quarter" idx="1"/>
          </p:nvPr>
        </p:nvSpPr>
        <p:spPr/>
        <p:txBody>
          <a:bodyPr/>
          <a:lstStyle/>
          <a:p>
            <a:pPr lvl="0"/>
            <a:r>
              <a:rPr lang="it-IT"/>
              <a:t>Persona: Chiara. Bisogno unico: B5+B7, chiedere aiuto senza paura. Evidenze: Questionario Compito 1 e TR4; il 62% non saprebbe come agire.</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283315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4303E-5563-1805-53C2-EE478F3D7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F3175-8421-CCFA-D76B-4A0EDCC9B3C2}"/>
              </a:ext>
            </a:extLst>
          </p:cNvPr>
          <p:cNvSpPr txBox="1">
            <a:spLocks noGrp="1"/>
          </p:cNvSpPr>
          <p:nvPr>
            <p:ph type="body" sz="quarter" idx="1"/>
          </p:nvPr>
        </p:nvSpPr>
        <p:spPr/>
        <p:txBody>
          <a:bodyPr/>
          <a:lstStyle/>
          <a:p>
            <a:pPr lvl="0"/>
            <a:r>
              <a:rPr lang="it-IT"/>
              <a:t>Scenario di Chiara: Un'amica nei guai. Bisogno unico: B5+B7. La storia mette al centro la paura del giudizio, delle punizioni e della perdita di autonomia.</a:t>
            </a:r>
          </a:p>
          <a:p>
            <a:pPr lvl="0"/>
            <a:endParaRPr lang="it-IT"/>
          </a:p>
          <a:p>
            <a:pPr lvl="0"/>
            <a:r>
              <a:rPr lang="it-IT"/>
              <a:t>Fonti: Tether_Space_Personas_Scenari.pptx per archetipi, scenari e impostazione grafica; SafeStep - brainstorming e soluzione 2.pdf, sezione 2, per i tre bisogni principali dopo gli accorpamenti.</a:t>
            </a:r>
          </a:p>
        </p:txBody>
      </p:sp>
    </p:spTree>
    <p:extLst>
      <p:ext uri="{BB962C8B-B14F-4D97-AF65-F5344CB8AC3E}">
        <p14:creationId xmlns:p14="http://schemas.microsoft.com/office/powerpoint/2010/main" val="797506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540E5-DC89-F1BE-94D1-0F632280A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95048-C40B-47A3-B8B7-CC32D0FB5B84}"/>
              </a:ext>
            </a:extLst>
          </p:cNvPr>
          <p:cNvSpPr txBox="1">
            <a:spLocks noGrp="1"/>
          </p:cNvSpPr>
          <p:nvPr>
            <p:ph type="body" sz="quarter" idx="1"/>
          </p:nvPr>
        </p:nvSpPr>
        <p:spPr/>
        <p:txBody>
          <a:bodyPr/>
          <a:lstStyle/>
          <a:p>
            <a:pPr lvl="0"/>
            <a:r>
              <a:rPr lang="en-US"/>
              <a:t>Persona costruita da: chat 5.1 (alcuni gruppi la considerano uno scherzo anche se Matteo esce dal gruppo), questionario Q15-Q16 (chi considera un deepfake uno scherzo: 9% a 14 anni, 50% a 17), S16 e S19 (la gravità si giudica dalla reazione della vittima), CH-DRE-C5.1. Autovalutazione "riconoscere un falso" dalla media F0 (circa 7/10); "capire quando uno scherzo ferisce" è un'ipotesi del team, non un dato misurato.</a:t>
            </a:r>
          </a:p>
        </p:txBody>
      </p:sp>
      <p:sp>
        <p:nvSpPr>
          <p:cNvPr id="4" name="Slide Number Placeholder 3">
            <a:extLst>
              <a:ext uri="{FF2B5EF4-FFF2-40B4-BE49-F238E27FC236}">
                <a16:creationId xmlns:a16="http://schemas.microsoft.com/office/drawing/2014/main" id="{40007282-96F9-E12B-7CA1-BC848568C7BA}"/>
              </a:ext>
            </a:extLst>
          </p:cNvPr>
          <p:cNvSpPr txBox="1">
            <a:spLocks noGrp="1"/>
          </p:cNvSpPr>
          <p:nvPr>
            <p:ph type="sldNum" sz="quarter" idx="8"/>
          </p:nvPr>
        </p:nvSpPr>
        <p:spPr/>
        <p:txBody>
          <a:bodyPr/>
          <a:lstStyle/>
          <a:p>
            <a:pPr lvl="0"/>
            <a:fld id="{15D41BE8-ACE4-4D8E-A0F6-25AD749F2550}" type="slidenum">
              <a:t>22</a:t>
            </a:fld>
            <a:endParaRPr lang="en-US"/>
          </a:p>
        </p:txBody>
      </p:sp>
    </p:spTree>
    <p:extLst>
      <p:ext uri="{BB962C8B-B14F-4D97-AF65-F5344CB8AC3E}">
        <p14:creationId xmlns:p14="http://schemas.microsoft.com/office/powerpoint/2010/main" val="3783378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1C10E-56F6-6C9A-6992-35A33CA9C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907E1-114A-BCA1-837B-1410C118273E}"/>
              </a:ext>
            </a:extLst>
          </p:cNvPr>
          <p:cNvSpPr txBox="1">
            <a:spLocks noGrp="1"/>
          </p:cNvSpPr>
          <p:nvPr>
            <p:ph type="body" sz="quarter" idx="1"/>
          </p:nvPr>
        </p:nvSpPr>
        <p:spPr/>
        <p:txBody>
          <a:bodyPr/>
          <a:lstStyle/>
          <a:p>
            <a:pPr lvl="0"/>
            <a:r>
              <a:rPr lang="en-US"/>
              <a:t>Evidenze: chat 5.1 (alcuni gruppi la considerano uno scherzo nonostante Matteo esca dal gruppo; altri: "non si mandano foto modificate con l'IA sul gruppo", "se lo prende male è giusto eliminarla"), Q15-Q16, S16, S19, CH-DRE-C5.1. Requisiti: capire i criteri per cui un contenuto manipolato diventa grave (consenso, danno, diffusione); vedere la situazione dal punto di vista di chi è preso di mira; sapere cosa fare da autore o da spettatore.</a:t>
            </a:r>
          </a:p>
        </p:txBody>
      </p:sp>
      <p:sp>
        <p:nvSpPr>
          <p:cNvPr id="4" name="Slide Number Placeholder 3">
            <a:extLst>
              <a:ext uri="{FF2B5EF4-FFF2-40B4-BE49-F238E27FC236}">
                <a16:creationId xmlns:a16="http://schemas.microsoft.com/office/drawing/2014/main" id="{872C0B90-885F-0DBB-5DD8-156AC8913960}"/>
              </a:ext>
            </a:extLst>
          </p:cNvPr>
          <p:cNvSpPr txBox="1">
            <a:spLocks noGrp="1"/>
          </p:cNvSpPr>
          <p:nvPr>
            <p:ph type="sldNum" sz="quarter" idx="8"/>
          </p:nvPr>
        </p:nvSpPr>
        <p:spPr/>
        <p:txBody>
          <a:bodyPr/>
          <a:lstStyle/>
          <a:p>
            <a:pPr lvl="0"/>
            <a:fld id="{708BA7C5-EAD0-4734-85E6-A982C03FF847}" type="slidenum">
              <a:t>23</a:t>
            </a:fld>
            <a:endParaRPr lang="en-US"/>
          </a:p>
        </p:txBody>
      </p:sp>
    </p:spTree>
    <p:extLst>
      <p:ext uri="{BB962C8B-B14F-4D97-AF65-F5344CB8AC3E}">
        <p14:creationId xmlns:p14="http://schemas.microsoft.com/office/powerpoint/2010/main" val="930912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S_DIVIDER">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2E5246-E2E0-47E7-864F-1E79E5739E10}"/>
              </a:ext>
            </a:extLst>
          </p:cNvPr>
          <p:cNvSpPr>
            <a:spLocks noGrp="1"/>
          </p:cNvSpPr>
          <p:nvPr/>
        </p:nvSpPr>
        <p:spPr>
          <a:xfrm>
            <a:off x="365760" y="4846320"/>
            <a:ext cx="4114800" cy="182880"/>
          </a:xfrm>
          <a:prstGeom prst="rect">
            <a:avLst/>
          </a:prstGeom>
          <a:noFill/>
        </p:spPr>
        <p:txBody>
          <a:bodyPr wrap="square" lIns="0" tIns="0" rIns="0" bIns="0" anchor="ctr"/>
          <a:lstStyle/>
          <a:p>
            <a:pPr marL="0" indent="0">
              <a:buNone/>
            </a:pPr>
            <a:r>
              <a:rPr sz="750">
                <a:solidFill>
                  <a:schemeClr val="accent1"/>
                </a:solidFill>
                <a:latin typeface="Space Mono"/>
                <a:ea typeface="Space Mono"/>
                <a:cs typeface="Space Mono"/>
              </a:rPr>
              <a:t>2026-27 ° polimi – Fondamenti di HCI</a:t>
            </a:r>
            <a:endParaRPr sz="750"/>
          </a:p>
        </p:txBody>
      </p:sp>
      <p:sp>
        <p:nvSpPr>
          <p:cNvPr id="3" name="Text 1">
            <a:extLst>
              <a:ext uri="{FF2B5EF4-FFF2-40B4-BE49-F238E27FC236}">
                <a16:creationId xmlns:a16="http://schemas.microsoft.com/office/drawing/2014/main" id="{551B964C-303F-4F86-8D0E-69A5E47BBA44}"/>
              </a:ext>
            </a:extLst>
          </p:cNvPr>
          <p:cNvSpPr>
            <a:spLocks noGrp="1"/>
          </p:cNvSpPr>
          <p:nvPr>
            <p:ph type="title" idx="101" hasCustomPrompt="1"/>
          </p:nvPr>
        </p:nvSpPr>
        <p:spPr>
          <a:xfrm>
            <a:off x="548640" y="548640"/>
            <a:ext cx="4389120" cy="1645920"/>
          </a:xfrm>
          <a:prstGeom prst="rect">
            <a:avLst/>
          </a:prstGeom>
          <a:noFill/>
        </p:spPr>
        <p:txBody>
          <a:bodyPr wrap="square"/>
          <a:lstStyle>
            <a:lvl1pPr marL="0" indent="0" algn="l">
              <a:lnSpc>
                <a:spcPct val="95000"/>
              </a:lnSpc>
              <a:buNone/>
              <a:defRPr sz="3400" b="1">
                <a:solidFill>
                  <a:schemeClr val="accent1"/>
                </a:solidFill>
                <a:latin typeface="Space Mono"/>
                <a:ea typeface="Space Mono"/>
                <a:cs typeface="Space Mono"/>
              </a:defRPr>
            </a:lvl1pPr>
          </a:lstStyle>
          <a:p>
            <a:pPr marL="0" indent="0" algn="l">
              <a:lnSpc>
                <a:spcPct val="95000"/>
              </a:lnSpc>
              <a:buNone/>
            </a:pPr>
            <a:endParaRPr sz="3400"/>
          </a:p>
        </p:txBody>
      </p:sp>
      <p:sp>
        <p:nvSpPr>
          <p:cNvPr id="25" name="Slide Number Placeholder 0">
            <a:extLst>
              <a:ext uri="{FF2B5EF4-FFF2-40B4-BE49-F238E27FC236}">
                <a16:creationId xmlns:a16="http://schemas.microsoft.com/office/drawing/2014/main" id="{B46BF9A4-1801-4C4A-8955-4FC6427325F2}"/>
              </a:ext>
            </a:extLst>
          </p:cNvPr>
          <p:cNvSpPr>
            <a:spLocks noGrp="1"/>
          </p:cNvSpPr>
          <p:nvPr>
            <p:ph type="sldNum" idx="4294967295"/>
          </p:nvPr>
        </p:nvSpPr>
        <p:spPr>
          <a:xfrm>
            <a:off x="365760" y="91440"/>
            <a:ext cx="548640" cy="201168"/>
          </a:xfrm>
          <a:prstGeom prst="rect">
            <a:avLst/>
          </a:prstGeom>
        </p:spPr>
        <p:txBody>
          <a:bodyPr/>
          <a:lstStyle>
            <a:lvl1pPr>
              <a:buNone/>
              <a:defRPr sz="800">
                <a:solidFill>
                  <a:srgbClr val="1700E8"/>
                </a:solidFill>
                <a:latin typeface="Space Mono"/>
                <a:ea typeface="Space Mono"/>
                <a:cs typeface="Space Mono"/>
              </a:defRPr>
            </a:lvl1pPr>
          </a:lstStyle>
          <a:p>
            <a:pPr algn="l">
              <a:buNone/>
            </a:pPr>
            <a:fld id="{F7021451-1387-4CA6-816F-3879F97B5CBC}" type="slidenum">
              <a:rPr b="0"/>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S_PERSONA">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3337DB9-243B-4D9C-A3C2-24C6AC9F047B}"/>
              </a:ext>
            </a:extLst>
          </p:cNvPr>
          <p:cNvSpPr>
            <a:spLocks noGrp="1"/>
          </p:cNvSpPr>
          <p:nvPr/>
        </p:nvSpPr>
        <p:spPr>
          <a:xfrm>
            <a:off x="365760" y="4846320"/>
            <a:ext cx="4114800" cy="182880"/>
          </a:xfrm>
          <a:prstGeom prst="rect">
            <a:avLst/>
          </a:prstGeom>
          <a:noFill/>
        </p:spPr>
        <p:txBody>
          <a:bodyPr wrap="square" lIns="0" tIns="0" rIns="0" bIns="0" anchor="ctr"/>
          <a:lstStyle/>
          <a:p>
            <a:pPr marL="0" indent="0">
              <a:buNone/>
            </a:pPr>
            <a:r>
              <a:rPr sz="750">
                <a:solidFill>
                  <a:schemeClr val="accent1"/>
                </a:solidFill>
                <a:latin typeface="Space Mono"/>
                <a:ea typeface="Space Mono"/>
                <a:cs typeface="Space Mono"/>
              </a:rPr>
              <a:t>2026-27 ° polimi – Fondamenti di HCI</a:t>
            </a:r>
            <a:endParaRPr sz="750"/>
          </a:p>
        </p:txBody>
      </p:sp>
      <p:sp>
        <p:nvSpPr>
          <p:cNvPr id="3" name="Text 1">
            <a:extLst>
              <a:ext uri="{FF2B5EF4-FFF2-40B4-BE49-F238E27FC236}">
                <a16:creationId xmlns:a16="http://schemas.microsoft.com/office/drawing/2014/main" id="{67F9A78E-34F9-4877-83A5-81F88521C4A1}"/>
              </a:ext>
            </a:extLst>
          </p:cNvPr>
          <p:cNvSpPr>
            <a:spLocks noGrp="1"/>
          </p:cNvSpPr>
          <p:nvPr>
            <p:ph type="title" idx="101" hasCustomPrompt="1"/>
          </p:nvPr>
        </p:nvSpPr>
        <p:spPr>
          <a:xfrm>
            <a:off x="2514600" y="457200"/>
            <a:ext cx="2103120" cy="548640"/>
          </a:xfrm>
          <a:prstGeom prst="rect">
            <a:avLst/>
          </a:prstGeom>
          <a:noFill/>
        </p:spPr>
        <p:txBody>
          <a:bodyPr wrap="square"/>
          <a:lstStyle>
            <a:lvl1pPr marL="0" indent="0" algn="l">
              <a:buNone/>
              <a:defRPr sz="3000" b="1">
                <a:solidFill>
                  <a:schemeClr val="accent1"/>
                </a:solidFill>
                <a:latin typeface="Space Mono"/>
                <a:ea typeface="Space Mono"/>
                <a:cs typeface="Space Mono"/>
              </a:defRPr>
            </a:lvl1pPr>
          </a:lstStyle>
          <a:p>
            <a:pPr marL="0" indent="0" algn="l">
              <a:buNone/>
            </a:pPr>
            <a:endParaRPr sz="3000"/>
          </a:p>
        </p:txBody>
      </p:sp>
      <p:sp>
        <p:nvSpPr>
          <p:cNvPr id="25" name="Slide Number Placeholder 0">
            <a:extLst>
              <a:ext uri="{FF2B5EF4-FFF2-40B4-BE49-F238E27FC236}">
                <a16:creationId xmlns:a16="http://schemas.microsoft.com/office/drawing/2014/main" id="{29EBFEB5-6254-478A-AC4A-82CD983773C2}"/>
              </a:ext>
            </a:extLst>
          </p:cNvPr>
          <p:cNvSpPr>
            <a:spLocks noGrp="1"/>
          </p:cNvSpPr>
          <p:nvPr>
            <p:ph type="sldNum" idx="4294967295"/>
          </p:nvPr>
        </p:nvSpPr>
        <p:spPr>
          <a:xfrm>
            <a:off x="365760" y="91440"/>
            <a:ext cx="548640" cy="201168"/>
          </a:xfrm>
          <a:prstGeom prst="rect">
            <a:avLst/>
          </a:prstGeom>
        </p:spPr>
        <p:txBody>
          <a:bodyPr/>
          <a:lstStyle>
            <a:lvl1pPr>
              <a:buNone/>
              <a:defRPr sz="800">
                <a:solidFill>
                  <a:srgbClr val="1700E8"/>
                </a:solidFill>
                <a:latin typeface="Space Mono"/>
                <a:ea typeface="Space Mono"/>
                <a:cs typeface="Space Mono"/>
              </a:defRPr>
            </a:lvl1pPr>
          </a:lstStyle>
          <a:p>
            <a:pPr algn="l">
              <a:buNone/>
            </a:pPr>
            <a:fld id="{F7021451-1387-4CA6-816F-3879F97B5CBC}" type="slidenum">
              <a:rPr b="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S_STORY_TEXT_RIGH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62F911D-F802-4F4C-B907-9FC6CA824452}"/>
              </a:ext>
            </a:extLst>
          </p:cNvPr>
          <p:cNvSpPr>
            <a:spLocks noGrp="1"/>
          </p:cNvSpPr>
          <p:nvPr/>
        </p:nvSpPr>
        <p:spPr>
          <a:xfrm>
            <a:off x="365760" y="4846320"/>
            <a:ext cx="4114800" cy="182880"/>
          </a:xfrm>
          <a:prstGeom prst="rect">
            <a:avLst/>
          </a:prstGeom>
          <a:noFill/>
        </p:spPr>
        <p:txBody>
          <a:bodyPr wrap="square" lIns="0" tIns="0" rIns="0" bIns="0" anchor="ctr"/>
          <a:lstStyle/>
          <a:p>
            <a:pPr marL="0" indent="0">
              <a:buNone/>
            </a:pPr>
            <a:r>
              <a:rPr sz="750">
                <a:solidFill>
                  <a:schemeClr val="accent1"/>
                </a:solidFill>
                <a:latin typeface="Space Mono"/>
                <a:ea typeface="Space Mono"/>
                <a:cs typeface="Space Mono"/>
              </a:rPr>
              <a:t>2026-27 ° polimi – Fondamenti di HCI</a:t>
            </a:r>
            <a:endParaRPr sz="750"/>
          </a:p>
        </p:txBody>
      </p:sp>
      <p:sp>
        <p:nvSpPr>
          <p:cNvPr id="3" name="Text 1">
            <a:extLst>
              <a:ext uri="{FF2B5EF4-FFF2-40B4-BE49-F238E27FC236}">
                <a16:creationId xmlns:a16="http://schemas.microsoft.com/office/drawing/2014/main" id="{72FFB62C-9A9A-4EAA-BC9C-9CB050AA8B25}"/>
              </a:ext>
            </a:extLst>
          </p:cNvPr>
          <p:cNvSpPr>
            <a:spLocks noGrp="1"/>
          </p:cNvSpPr>
          <p:nvPr>
            <p:ph type="title" idx="101" hasCustomPrompt="1"/>
          </p:nvPr>
        </p:nvSpPr>
        <p:spPr>
          <a:xfrm>
            <a:off x="4663440" y="658368"/>
            <a:ext cx="4114800" cy="457200"/>
          </a:xfrm>
          <a:prstGeom prst="rect">
            <a:avLst/>
          </a:prstGeom>
          <a:noFill/>
        </p:spPr>
        <p:txBody>
          <a:bodyPr wrap="square"/>
          <a:lstStyle>
            <a:lvl1pPr marL="0" indent="0" algn="l">
              <a:buNone/>
              <a:defRPr sz="2000" b="1">
                <a:solidFill>
                  <a:schemeClr val="accent1"/>
                </a:solidFill>
                <a:latin typeface="Space Mono"/>
                <a:ea typeface="Space Mono"/>
                <a:cs typeface="Space Mono"/>
              </a:defRPr>
            </a:lvl1pPr>
          </a:lstStyle>
          <a:p>
            <a:pPr marL="0" indent="0" algn="l">
              <a:buNone/>
            </a:pPr>
            <a:endParaRPr sz="2000"/>
          </a:p>
        </p:txBody>
      </p:sp>
      <p:sp>
        <p:nvSpPr>
          <p:cNvPr id="25" name="Slide Number Placeholder 0">
            <a:extLst>
              <a:ext uri="{FF2B5EF4-FFF2-40B4-BE49-F238E27FC236}">
                <a16:creationId xmlns:a16="http://schemas.microsoft.com/office/drawing/2014/main" id="{A9937359-D17B-449C-88C8-6BBB38B6A3D5}"/>
              </a:ext>
            </a:extLst>
          </p:cNvPr>
          <p:cNvSpPr>
            <a:spLocks noGrp="1"/>
          </p:cNvSpPr>
          <p:nvPr>
            <p:ph type="sldNum" idx="4294967295"/>
          </p:nvPr>
        </p:nvSpPr>
        <p:spPr>
          <a:xfrm>
            <a:off x="365760" y="91440"/>
            <a:ext cx="548640" cy="201168"/>
          </a:xfrm>
          <a:prstGeom prst="rect">
            <a:avLst/>
          </a:prstGeom>
        </p:spPr>
        <p:txBody>
          <a:bodyPr/>
          <a:lstStyle>
            <a:lvl1pPr>
              <a:buNone/>
              <a:defRPr sz="800">
                <a:solidFill>
                  <a:srgbClr val="1700E8"/>
                </a:solidFill>
                <a:latin typeface="Space Mono"/>
                <a:ea typeface="Space Mono"/>
                <a:cs typeface="Space Mono"/>
              </a:defRPr>
            </a:lvl1pPr>
          </a:lstStyle>
          <a:p>
            <a:pPr algn="l">
              <a:buNone/>
            </a:pPr>
            <a:fld id="{F7021451-1387-4CA6-816F-3879F97B5CBC}" type="slidenum">
              <a:rPr b="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S_STORY_TEXT_LEF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0F7F52B-FF6F-4E00-B793-D5EB2D6A8DEF}"/>
              </a:ext>
            </a:extLst>
          </p:cNvPr>
          <p:cNvSpPr>
            <a:spLocks noGrp="1"/>
          </p:cNvSpPr>
          <p:nvPr/>
        </p:nvSpPr>
        <p:spPr>
          <a:xfrm>
            <a:off x="365760" y="4846320"/>
            <a:ext cx="4114800" cy="182880"/>
          </a:xfrm>
          <a:prstGeom prst="rect">
            <a:avLst/>
          </a:prstGeom>
          <a:noFill/>
        </p:spPr>
        <p:txBody>
          <a:bodyPr wrap="square" lIns="0" tIns="0" rIns="0" bIns="0" anchor="ctr"/>
          <a:lstStyle/>
          <a:p>
            <a:pPr marL="0" indent="0">
              <a:buNone/>
            </a:pPr>
            <a:r>
              <a:rPr sz="750">
                <a:solidFill>
                  <a:schemeClr val="accent1"/>
                </a:solidFill>
                <a:latin typeface="Space Mono"/>
                <a:ea typeface="Space Mono"/>
                <a:cs typeface="Space Mono"/>
              </a:rPr>
              <a:t>2026-27 ° polimi – Fondamenti di HCI</a:t>
            </a:r>
            <a:endParaRPr sz="750"/>
          </a:p>
        </p:txBody>
      </p:sp>
      <p:sp>
        <p:nvSpPr>
          <p:cNvPr id="3" name="Text 1">
            <a:extLst>
              <a:ext uri="{FF2B5EF4-FFF2-40B4-BE49-F238E27FC236}">
                <a16:creationId xmlns:a16="http://schemas.microsoft.com/office/drawing/2014/main" id="{3C30DA76-4636-4573-9CB1-629B2846D95A}"/>
              </a:ext>
            </a:extLst>
          </p:cNvPr>
          <p:cNvSpPr>
            <a:spLocks noGrp="1"/>
          </p:cNvSpPr>
          <p:nvPr>
            <p:ph type="title" idx="101" hasCustomPrompt="1"/>
          </p:nvPr>
        </p:nvSpPr>
        <p:spPr>
          <a:xfrm>
            <a:off x="457200" y="658368"/>
            <a:ext cx="4114800" cy="457200"/>
          </a:xfrm>
          <a:prstGeom prst="rect">
            <a:avLst/>
          </a:prstGeom>
          <a:noFill/>
        </p:spPr>
        <p:txBody>
          <a:bodyPr wrap="square"/>
          <a:lstStyle>
            <a:lvl1pPr marL="0" indent="0" algn="l">
              <a:buNone/>
              <a:defRPr sz="2000" b="1">
                <a:solidFill>
                  <a:schemeClr val="accent1"/>
                </a:solidFill>
                <a:latin typeface="Space Mono"/>
                <a:ea typeface="Space Mono"/>
                <a:cs typeface="Space Mono"/>
              </a:defRPr>
            </a:lvl1pPr>
          </a:lstStyle>
          <a:p>
            <a:pPr marL="0" indent="0" algn="l">
              <a:buNone/>
            </a:pPr>
            <a:endParaRPr sz="2000"/>
          </a:p>
        </p:txBody>
      </p:sp>
      <p:sp>
        <p:nvSpPr>
          <p:cNvPr id="25" name="Slide Number Placeholder 0">
            <a:extLst>
              <a:ext uri="{FF2B5EF4-FFF2-40B4-BE49-F238E27FC236}">
                <a16:creationId xmlns:a16="http://schemas.microsoft.com/office/drawing/2014/main" id="{9315C32B-D4F4-404A-B823-9928EDCB9A88}"/>
              </a:ext>
            </a:extLst>
          </p:cNvPr>
          <p:cNvSpPr>
            <a:spLocks noGrp="1"/>
          </p:cNvSpPr>
          <p:nvPr>
            <p:ph type="sldNum" idx="4294967295"/>
          </p:nvPr>
        </p:nvSpPr>
        <p:spPr>
          <a:xfrm>
            <a:off x="365760" y="91440"/>
            <a:ext cx="548640" cy="201168"/>
          </a:xfrm>
          <a:prstGeom prst="rect">
            <a:avLst/>
          </a:prstGeom>
        </p:spPr>
        <p:txBody>
          <a:bodyPr/>
          <a:lstStyle>
            <a:lvl1pPr>
              <a:buNone/>
              <a:defRPr sz="800">
                <a:solidFill>
                  <a:srgbClr val="1700E8"/>
                </a:solidFill>
                <a:latin typeface="Space Mono"/>
                <a:ea typeface="Space Mono"/>
                <a:cs typeface="Space Mono"/>
              </a:defRPr>
            </a:lvl1pPr>
          </a:lstStyle>
          <a:p>
            <a:pPr algn="l">
              <a:buNone/>
            </a:pPr>
            <a:fld id="{F7021451-1387-4CA6-816F-3879F97B5CBC}" type="slidenum">
              <a:rPr b="0"/>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TS_DIVIDER">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CE79E31-39E5-DA67-6729-5B9A359B990C}"/>
              </a:ext>
            </a:extLst>
          </p:cNvPr>
          <p:cNvSpPr/>
          <p:nvPr/>
        </p:nvSpPr>
        <p:spPr>
          <a:xfrm>
            <a:off x="365760" y="4846320"/>
            <a:ext cx="41148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700E8"/>
                </a:solidFill>
                <a:uFillTx/>
                <a:latin typeface="Space Mono"/>
                <a:ea typeface="Space Mono"/>
                <a:cs typeface="Space Mono"/>
              </a:rPr>
              <a:t>2026-27 ° polimi – Fondamenti di HCI</a:t>
            </a:r>
            <a:endParaRPr lang="it-IT" sz="750" b="0" i="0" u="none" strike="noStrike" kern="1200" cap="none" spc="0" baseline="0">
              <a:solidFill>
                <a:srgbClr val="111111"/>
              </a:solidFill>
              <a:uFillTx/>
              <a:latin typeface="Plus Jakarta Sans"/>
              <a:ea typeface="Plus Jakarta Sans"/>
              <a:cs typeface="Plus Jakarta Sans"/>
            </a:endParaRPr>
          </a:p>
        </p:txBody>
      </p:sp>
      <p:sp>
        <p:nvSpPr>
          <p:cNvPr id="3" name="Text 1">
            <a:extLst>
              <a:ext uri="{FF2B5EF4-FFF2-40B4-BE49-F238E27FC236}">
                <a16:creationId xmlns:a16="http://schemas.microsoft.com/office/drawing/2014/main" id="{B57A8D08-BB31-AAA7-45E4-A29DC950A0DD}"/>
              </a:ext>
            </a:extLst>
          </p:cNvPr>
          <p:cNvSpPr txBox="1">
            <a:spLocks noGrp="1"/>
          </p:cNvSpPr>
          <p:nvPr>
            <p:ph type="title"/>
          </p:nvPr>
        </p:nvSpPr>
        <p:spPr>
          <a:xfrm>
            <a:off x="548640" y="548640"/>
            <a:ext cx="4389120" cy="1645920"/>
          </a:xfrm>
          <a:prstGeom prst="rect">
            <a:avLst/>
          </a:prstGeom>
          <a:noFill/>
          <a:ln>
            <a:noFill/>
          </a:ln>
        </p:spPr>
        <p:txBody>
          <a:bodyPr vert="horz" wrap="square" lIns="91440" tIns="45720" rIns="91440" bIns="45720" anchor="t" anchorCtr="0" compatLnSpc="1">
            <a:noAutofit/>
          </a:bodyPr>
          <a:lstStyle>
            <a:lvl1pPr marL="0" marR="0" lvl="0" indent="0" fontAlgn="auto">
              <a:lnSpc>
                <a:spcPct val="95000"/>
              </a:lnSpc>
              <a:spcBef>
                <a:spcPts val="0"/>
              </a:spcBef>
              <a:spcAft>
                <a:spcPts val="0"/>
              </a:spcAft>
              <a:tabLst/>
              <a:defRPr lang="it-IT" sz="3400" b="1" i="0" u="none" strike="noStrike" cap="none" spc="0" baseline="0">
                <a:solidFill>
                  <a:srgbClr val="1700E8"/>
                </a:solidFill>
                <a:uFillTx/>
                <a:latin typeface="Space Mono"/>
                <a:ea typeface="Space Mono"/>
                <a:cs typeface="Space Mono"/>
              </a:defRPr>
            </a:lvl1pPr>
          </a:lstStyle>
          <a:p>
            <a:pPr lvl="0"/>
            <a:endParaRPr lang="it-IT"/>
          </a:p>
        </p:txBody>
      </p:sp>
      <p:sp>
        <p:nvSpPr>
          <p:cNvPr id="4" name="Slide Number Placeholder 0">
            <a:extLst>
              <a:ext uri="{FF2B5EF4-FFF2-40B4-BE49-F238E27FC236}">
                <a16:creationId xmlns:a16="http://schemas.microsoft.com/office/drawing/2014/main" id="{CF83D19F-E082-37D5-FB6C-D3CC8BA169C9}"/>
              </a:ext>
            </a:extLst>
          </p:cNvPr>
          <p:cNvSpPr txBox="1">
            <a:spLocks noGrp="1"/>
          </p:cNvSpPr>
          <p:nvPr>
            <p:ph type="sldNum" sz="quarter" idx="8"/>
          </p:nvPr>
        </p:nvSpPr>
        <p:spPr/>
        <p:txBody>
          <a:bodyPr/>
          <a:lstStyle>
            <a:lvl1pPr>
              <a:defRPr/>
            </a:lvl1pPr>
          </a:lstStyle>
          <a:p>
            <a:pPr lvl="0"/>
            <a:fld id="{72CC7523-DFE9-4AFF-B748-A38B49E4AC6E}" type="slidenum">
              <a:t>‹#›</a:t>
            </a:fld>
            <a:endParaRPr lang="it-IT"/>
          </a:p>
        </p:txBody>
      </p:sp>
    </p:spTree>
    <p:extLst>
      <p:ext uri="{BB962C8B-B14F-4D97-AF65-F5344CB8AC3E}">
        <p14:creationId xmlns:p14="http://schemas.microsoft.com/office/powerpoint/2010/main" val="16244021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S_PERSONA">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B93EAB3-BEFA-EF1C-F814-EF4FF914FC02}"/>
              </a:ext>
            </a:extLst>
          </p:cNvPr>
          <p:cNvSpPr/>
          <p:nvPr/>
        </p:nvSpPr>
        <p:spPr>
          <a:xfrm>
            <a:off x="365760" y="4846320"/>
            <a:ext cx="41148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700E8"/>
                </a:solidFill>
                <a:uFillTx/>
                <a:latin typeface="Space Mono"/>
                <a:ea typeface="Space Mono"/>
                <a:cs typeface="Space Mono"/>
              </a:rPr>
              <a:t>2026-27 ° polimi – Fondamenti di HCI</a:t>
            </a:r>
            <a:endParaRPr lang="it-IT" sz="750" b="0" i="0" u="none" strike="noStrike" kern="1200" cap="none" spc="0" baseline="0">
              <a:solidFill>
                <a:srgbClr val="111111"/>
              </a:solidFill>
              <a:uFillTx/>
              <a:latin typeface="Plus Jakarta Sans"/>
              <a:ea typeface="Plus Jakarta Sans"/>
              <a:cs typeface="Plus Jakarta Sans"/>
            </a:endParaRPr>
          </a:p>
        </p:txBody>
      </p:sp>
      <p:sp>
        <p:nvSpPr>
          <p:cNvPr id="3" name="Text 1">
            <a:extLst>
              <a:ext uri="{FF2B5EF4-FFF2-40B4-BE49-F238E27FC236}">
                <a16:creationId xmlns:a16="http://schemas.microsoft.com/office/drawing/2014/main" id="{57385842-6215-D7FA-F364-07247C02FE16}"/>
              </a:ext>
            </a:extLst>
          </p:cNvPr>
          <p:cNvSpPr txBox="1">
            <a:spLocks noGrp="1"/>
          </p:cNvSpPr>
          <p:nvPr>
            <p:ph type="title"/>
          </p:nvPr>
        </p:nvSpPr>
        <p:spPr>
          <a:xfrm>
            <a:off x="2514600" y="457200"/>
            <a:ext cx="2103120" cy="548640"/>
          </a:xfrm>
          <a:prstGeom prst="rect">
            <a:avLst/>
          </a:prstGeom>
          <a:noFill/>
          <a:ln>
            <a:noFill/>
          </a:ln>
        </p:spPr>
        <p:txBody>
          <a:bodyPr vert="horz" wrap="square" lIns="91440" tIns="45720" rIns="91440" bIns="45720" anchor="t" anchorCtr="0" compatLnSpc="1">
            <a:noAutofit/>
          </a:bodyPr>
          <a:lstStyle>
            <a:lvl1pPr marL="0" marR="0" lvl="0" indent="0" fontAlgn="auto">
              <a:lnSpc>
                <a:spcPct val="100000"/>
              </a:lnSpc>
              <a:spcBef>
                <a:spcPts val="0"/>
              </a:spcBef>
              <a:spcAft>
                <a:spcPts val="0"/>
              </a:spcAft>
              <a:tabLst/>
              <a:defRPr lang="it-IT" sz="3000" b="1" i="0" u="none" strike="noStrike" cap="none" spc="0" baseline="0">
                <a:solidFill>
                  <a:srgbClr val="1700E8"/>
                </a:solidFill>
                <a:uFillTx/>
                <a:latin typeface="Space Mono"/>
                <a:ea typeface="Space Mono"/>
                <a:cs typeface="Space Mono"/>
              </a:defRPr>
            </a:lvl1pPr>
          </a:lstStyle>
          <a:p>
            <a:pPr lvl="0"/>
            <a:endParaRPr lang="it-IT"/>
          </a:p>
        </p:txBody>
      </p:sp>
      <p:sp>
        <p:nvSpPr>
          <p:cNvPr id="4" name="Slide Number Placeholder 0">
            <a:extLst>
              <a:ext uri="{FF2B5EF4-FFF2-40B4-BE49-F238E27FC236}">
                <a16:creationId xmlns:a16="http://schemas.microsoft.com/office/drawing/2014/main" id="{93FA8615-0082-8147-1344-E9A3CE8C194B}"/>
              </a:ext>
            </a:extLst>
          </p:cNvPr>
          <p:cNvSpPr txBox="1">
            <a:spLocks noGrp="1"/>
          </p:cNvSpPr>
          <p:nvPr>
            <p:ph type="sldNum" sz="quarter" idx="8"/>
          </p:nvPr>
        </p:nvSpPr>
        <p:spPr/>
        <p:txBody>
          <a:bodyPr/>
          <a:lstStyle>
            <a:lvl1pPr>
              <a:defRPr/>
            </a:lvl1pPr>
          </a:lstStyle>
          <a:p>
            <a:pPr lvl="0"/>
            <a:fld id="{BE353CF7-0B10-48AB-9256-07261BB70801}" type="slidenum">
              <a:t>‹#›</a:t>
            </a:fld>
            <a:endParaRPr lang="it-IT"/>
          </a:p>
        </p:txBody>
      </p:sp>
    </p:spTree>
    <p:extLst>
      <p:ext uri="{BB962C8B-B14F-4D97-AF65-F5344CB8AC3E}">
        <p14:creationId xmlns:p14="http://schemas.microsoft.com/office/powerpoint/2010/main" val="240021220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S_STORY_TEXT_RIGH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A9202C6-08EC-6932-FE88-75E3B95F8C51}"/>
              </a:ext>
            </a:extLst>
          </p:cNvPr>
          <p:cNvSpPr/>
          <p:nvPr/>
        </p:nvSpPr>
        <p:spPr>
          <a:xfrm>
            <a:off x="365760" y="4846320"/>
            <a:ext cx="41148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700E8"/>
                </a:solidFill>
                <a:uFillTx/>
                <a:latin typeface="Space Mono"/>
                <a:ea typeface="Space Mono"/>
                <a:cs typeface="Space Mono"/>
              </a:rPr>
              <a:t>2026-27 ° polimi – Fondamenti di HCI</a:t>
            </a:r>
            <a:endParaRPr lang="it-IT" sz="750" b="0" i="0" u="none" strike="noStrike" kern="1200" cap="none" spc="0" baseline="0">
              <a:solidFill>
                <a:srgbClr val="111111"/>
              </a:solidFill>
              <a:uFillTx/>
              <a:latin typeface="Plus Jakarta Sans"/>
              <a:ea typeface="Plus Jakarta Sans"/>
              <a:cs typeface="Plus Jakarta Sans"/>
            </a:endParaRPr>
          </a:p>
        </p:txBody>
      </p:sp>
      <p:sp>
        <p:nvSpPr>
          <p:cNvPr id="3" name="Text 1">
            <a:extLst>
              <a:ext uri="{FF2B5EF4-FFF2-40B4-BE49-F238E27FC236}">
                <a16:creationId xmlns:a16="http://schemas.microsoft.com/office/drawing/2014/main" id="{7A6DF6EE-E6A0-8879-8A32-82836938EC99}"/>
              </a:ext>
            </a:extLst>
          </p:cNvPr>
          <p:cNvSpPr txBox="1">
            <a:spLocks noGrp="1"/>
          </p:cNvSpPr>
          <p:nvPr>
            <p:ph type="title"/>
          </p:nvPr>
        </p:nvSpPr>
        <p:spPr>
          <a:xfrm>
            <a:off x="4663440" y="658368"/>
            <a:ext cx="4114800" cy="457200"/>
          </a:xfrm>
          <a:prstGeom prst="rect">
            <a:avLst/>
          </a:prstGeom>
          <a:noFill/>
          <a:ln>
            <a:noFill/>
          </a:ln>
        </p:spPr>
        <p:txBody>
          <a:bodyPr vert="horz" wrap="square" lIns="91440" tIns="45720" rIns="91440" bIns="45720" anchor="t" anchorCtr="0" compatLnSpc="1">
            <a:noAutofit/>
          </a:bodyPr>
          <a:lstStyle>
            <a:lvl1pPr marL="0" marR="0" lvl="0" indent="0" fontAlgn="auto">
              <a:lnSpc>
                <a:spcPct val="100000"/>
              </a:lnSpc>
              <a:spcBef>
                <a:spcPts val="0"/>
              </a:spcBef>
              <a:spcAft>
                <a:spcPts val="0"/>
              </a:spcAft>
              <a:tabLst/>
              <a:defRPr lang="it-IT" sz="2000" b="1" i="0" u="none" strike="noStrike" cap="none" spc="0" baseline="0">
                <a:solidFill>
                  <a:srgbClr val="1700E8"/>
                </a:solidFill>
                <a:uFillTx/>
                <a:latin typeface="Space Mono"/>
                <a:ea typeface="Space Mono"/>
                <a:cs typeface="Space Mono"/>
              </a:defRPr>
            </a:lvl1pPr>
          </a:lstStyle>
          <a:p>
            <a:pPr lvl="0"/>
            <a:endParaRPr lang="it-IT"/>
          </a:p>
        </p:txBody>
      </p:sp>
      <p:sp>
        <p:nvSpPr>
          <p:cNvPr id="4" name="Slide Number Placeholder 0">
            <a:extLst>
              <a:ext uri="{FF2B5EF4-FFF2-40B4-BE49-F238E27FC236}">
                <a16:creationId xmlns:a16="http://schemas.microsoft.com/office/drawing/2014/main" id="{78B21912-E72E-6034-8A9E-31AC2A8A412D}"/>
              </a:ext>
            </a:extLst>
          </p:cNvPr>
          <p:cNvSpPr txBox="1">
            <a:spLocks noGrp="1"/>
          </p:cNvSpPr>
          <p:nvPr>
            <p:ph type="sldNum" sz="quarter" idx="8"/>
          </p:nvPr>
        </p:nvSpPr>
        <p:spPr/>
        <p:txBody>
          <a:bodyPr/>
          <a:lstStyle>
            <a:lvl1pPr>
              <a:defRPr/>
            </a:lvl1pPr>
          </a:lstStyle>
          <a:p>
            <a:pPr lvl="0"/>
            <a:fld id="{4B217F4A-0D1A-4136-A62F-50A4C7C7D3F1}" type="slidenum">
              <a:t>‹#›</a:t>
            </a:fld>
            <a:endParaRPr lang="it-IT"/>
          </a:p>
        </p:txBody>
      </p:sp>
    </p:spTree>
    <p:extLst>
      <p:ext uri="{BB962C8B-B14F-4D97-AF65-F5344CB8AC3E}">
        <p14:creationId xmlns:p14="http://schemas.microsoft.com/office/powerpoint/2010/main" val="4110093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S_STORY_TEXT_LEF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2E7FCCC-9AA8-4FD4-B16B-42E5E1AC322B}"/>
              </a:ext>
            </a:extLst>
          </p:cNvPr>
          <p:cNvSpPr/>
          <p:nvPr/>
        </p:nvSpPr>
        <p:spPr>
          <a:xfrm>
            <a:off x="365760" y="4846320"/>
            <a:ext cx="41148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700E8"/>
                </a:solidFill>
                <a:uFillTx/>
                <a:latin typeface="Space Mono"/>
                <a:ea typeface="Space Mono"/>
                <a:cs typeface="Space Mono"/>
              </a:rPr>
              <a:t>2026-27 ° polimi – Fondamenti di HCI</a:t>
            </a:r>
            <a:endParaRPr lang="it-IT" sz="750" b="0" i="0" u="none" strike="noStrike" kern="1200" cap="none" spc="0" baseline="0">
              <a:solidFill>
                <a:srgbClr val="111111"/>
              </a:solidFill>
              <a:uFillTx/>
              <a:latin typeface="Plus Jakarta Sans"/>
              <a:ea typeface="Plus Jakarta Sans"/>
              <a:cs typeface="Plus Jakarta Sans"/>
            </a:endParaRPr>
          </a:p>
        </p:txBody>
      </p:sp>
      <p:sp>
        <p:nvSpPr>
          <p:cNvPr id="3" name="Text 1">
            <a:extLst>
              <a:ext uri="{FF2B5EF4-FFF2-40B4-BE49-F238E27FC236}">
                <a16:creationId xmlns:a16="http://schemas.microsoft.com/office/drawing/2014/main" id="{53098B28-2DA0-5224-ABDA-81258D5E3183}"/>
              </a:ext>
            </a:extLst>
          </p:cNvPr>
          <p:cNvSpPr txBox="1">
            <a:spLocks noGrp="1"/>
          </p:cNvSpPr>
          <p:nvPr>
            <p:ph type="title"/>
          </p:nvPr>
        </p:nvSpPr>
        <p:spPr>
          <a:xfrm>
            <a:off x="457200" y="658368"/>
            <a:ext cx="4114800" cy="457200"/>
          </a:xfrm>
          <a:prstGeom prst="rect">
            <a:avLst/>
          </a:prstGeom>
          <a:noFill/>
          <a:ln>
            <a:noFill/>
          </a:ln>
        </p:spPr>
        <p:txBody>
          <a:bodyPr vert="horz" wrap="square" lIns="91440" tIns="45720" rIns="91440" bIns="45720" anchor="t" anchorCtr="0" compatLnSpc="1">
            <a:noAutofit/>
          </a:bodyPr>
          <a:lstStyle>
            <a:lvl1pPr marL="0" marR="0" lvl="0" indent="0" fontAlgn="auto">
              <a:lnSpc>
                <a:spcPct val="100000"/>
              </a:lnSpc>
              <a:spcBef>
                <a:spcPts val="0"/>
              </a:spcBef>
              <a:spcAft>
                <a:spcPts val="0"/>
              </a:spcAft>
              <a:tabLst/>
              <a:defRPr lang="it-IT" sz="2000" b="1" i="0" u="none" strike="noStrike" cap="none" spc="0" baseline="0">
                <a:solidFill>
                  <a:srgbClr val="1700E8"/>
                </a:solidFill>
                <a:uFillTx/>
                <a:latin typeface="Space Mono"/>
                <a:ea typeface="Space Mono"/>
                <a:cs typeface="Space Mono"/>
              </a:defRPr>
            </a:lvl1pPr>
          </a:lstStyle>
          <a:p>
            <a:pPr lvl="0"/>
            <a:endParaRPr lang="it-IT"/>
          </a:p>
        </p:txBody>
      </p:sp>
      <p:sp>
        <p:nvSpPr>
          <p:cNvPr id="4" name="Slide Number Placeholder 0">
            <a:extLst>
              <a:ext uri="{FF2B5EF4-FFF2-40B4-BE49-F238E27FC236}">
                <a16:creationId xmlns:a16="http://schemas.microsoft.com/office/drawing/2014/main" id="{F69A2F1C-B1E1-7E8F-D46C-92B559B4FA22}"/>
              </a:ext>
            </a:extLst>
          </p:cNvPr>
          <p:cNvSpPr txBox="1">
            <a:spLocks noGrp="1"/>
          </p:cNvSpPr>
          <p:nvPr>
            <p:ph type="sldNum" sz="quarter" idx="8"/>
          </p:nvPr>
        </p:nvSpPr>
        <p:spPr/>
        <p:txBody>
          <a:bodyPr/>
          <a:lstStyle>
            <a:lvl1pPr>
              <a:defRPr/>
            </a:lvl1pPr>
          </a:lstStyle>
          <a:p>
            <a:pPr lvl="0"/>
            <a:fld id="{52310628-14C5-4903-85F2-84F11DADDBDA}" type="slidenum">
              <a:t>‹#›</a:t>
            </a:fld>
            <a:endParaRPr lang="it-IT"/>
          </a:p>
        </p:txBody>
      </p:sp>
    </p:spTree>
    <p:extLst>
      <p:ext uri="{BB962C8B-B14F-4D97-AF65-F5344CB8AC3E}">
        <p14:creationId xmlns:p14="http://schemas.microsoft.com/office/powerpoint/2010/main" val="36476315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0B70B1AB-6AB1-4D05-842E-80FB711FDFA4}"/>
              </a:ext>
            </a:extLst>
          </p:cNvPr>
          <p:cNvSpPr>
            <a:spLocks noGrp="1"/>
          </p:cNvSpPr>
          <p:nvPr>
            <p:ph type="sldNum" idx="4294967295"/>
          </p:nvPr>
        </p:nvSpPr>
        <p:spPr>
          <a:xfrm>
            <a:off x="365760" y="91440"/>
            <a:ext cx="548640" cy="201168"/>
          </a:xfrm>
          <a:prstGeom prst="rect">
            <a:avLst/>
          </a:prstGeom>
        </p:spPr>
        <p:txBody>
          <a:bodyPr/>
          <a:lstStyle>
            <a:lvl1pPr>
              <a:buNone/>
              <a:defRPr sz="800">
                <a:solidFill>
                  <a:srgbClr val="1700E8"/>
                </a:solidFill>
                <a:latin typeface="Space Mono"/>
                <a:ea typeface="Space Mono"/>
                <a:cs typeface="Space Mono"/>
              </a:defRPr>
            </a:lvl1pPr>
          </a:lstStyle>
          <a:p>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github.com/Ing-chan/progettoHCI/tree/2b011c799b245f7171faa9f3b38614fe856eb1b9/Consegna%2026%20ottobre/Schede%20di%20lavoro"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hyperlink" Target="https://github.com/Ing-chan/progettoHCI/tree/main/Consegna%2026%20ottobre" TargetMode="External"/><Relationship Id="rId5" Type="http://schemas.openxmlformats.org/officeDocument/2006/relationships/image" Target="../media/image1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researchgate.net/publication/394089557_Co-Design_Tools_Methods_and_Techniques_for_Designing_with_Users"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www.figma.com/board/h5qeOUDtYmo8IXP3xXTvIt/brainstorming?node-id=37-305&amp;t=RCALUWaJ8XaqOTxt-1"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hyperlink" Target="https://www.figma.com/board/h5qeOUDtYmo8IXP3xXTvIt/brainstorming?node-id=37-305&amp;t=efCRvCDN4etLjZFT-1" TargetMode="Externa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ustomXml" Target="../ink/ink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hyperlink" Target="https://www.figma.com/board/h5qeOUDtYmo8IXP3xXTvIt/brainstorming?node-id=37-305&amp;t=efCRvCDN4etLjZFT-1" TargetMode="External"/><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www.figma.com/board/h5qeOUDtYmo8IXP3xXTvIt/brainstorming?node-id=37-305&amp;t=efCRvCDN4etLjZFT-1"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Ing-chan/progettoHCI/tree/2b011c799b245f7171faa9f3b38614fe856eb1b9/Consegna%2026%20ottobre/Schede%20di%20lavoro" TargetMode="External"/><Relationship Id="rId3" Type="http://schemas.openxmlformats.org/officeDocument/2006/relationships/image" Target="../media/image13.png"/><Relationship Id="rId7" Type="http://schemas.openxmlformats.org/officeDocument/2006/relationships/hyperlink" Target="https://github.com/Ing-chan/progettoHCI/tree/main/Consegna%2026%20ottobre" TargetMode="External"/><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hyperlink" Target="https://www.figma.com/board/h5qeOUDtYmo8IXP3xXTvIt/brainstorming?node-id=37-305&amp;t=efCRvCDN4etLjZFT-1" TargetMode="External"/><Relationship Id="rId5" Type="http://schemas.openxmlformats.org/officeDocument/2006/relationships/image" Target="../media/image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566928"/>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needfinding · parte 2</a:t>
            </a:r>
            <a:endParaRPr lang="en-US" sz="800">
              <a:latin typeface="Space Mono"/>
              <a:ea typeface="Space Mono"/>
              <a:cs typeface="Space Mono"/>
            </a:endParaRPr>
          </a:p>
        </p:txBody>
      </p:sp>
      <p:sp>
        <p:nvSpPr>
          <p:cNvPr id="3" name="Text 1"/>
          <p:cNvSpPr txBox="1"/>
          <p:nvPr/>
        </p:nvSpPr>
        <p:spPr>
          <a:xfrm>
            <a:off x="502920" y="822960"/>
            <a:ext cx="4206240" cy="1920240"/>
          </a:xfrm>
          <a:prstGeom prst="rect">
            <a:avLst/>
          </a:prstGeom>
          <a:noFill/>
          <a:ln/>
        </p:spPr>
        <p:txBody>
          <a:bodyPr wrap="square" lIns="0" tIns="0" rIns="0" bIns="0" rtlCol="0" anchor="t"/>
          <a:lstStyle/>
          <a:p>
            <a:pPr marL="0" indent="0">
              <a:lnSpc>
                <a:spcPct val="88000"/>
              </a:lnSpc>
              <a:buNone/>
            </a:pPr>
            <a:r>
              <a:rPr lang="en-US" sz="4000" b="1">
                <a:solidFill>
                  <a:srgbClr val="1700E8"/>
                </a:solidFill>
                <a:latin typeface="Space Mono" pitchFamily="34" charset="0"/>
                <a:ea typeface="Space Mono" pitchFamily="34" charset="-122"/>
                <a:cs typeface="Space Mono" pitchFamily="34" charset="-120"/>
              </a:rPr>
              <a:t>chi c'è</a:t>
            </a:r>
            <a:endParaRPr lang="en-US" sz="4000">
              <a:latin typeface="Space Mono"/>
              <a:ea typeface="Space Mono"/>
              <a:cs typeface="Space Mono"/>
            </a:endParaRPr>
          </a:p>
          <a:p>
            <a:pPr marL="0" indent="0">
              <a:lnSpc>
                <a:spcPct val="88000"/>
              </a:lnSpc>
              <a:buNone/>
            </a:pPr>
            <a:r>
              <a:rPr lang="en-US" sz="4000" b="1">
                <a:solidFill>
                  <a:srgbClr val="1700E8"/>
                </a:solidFill>
                <a:latin typeface="Space Mono" pitchFamily="34" charset="0"/>
                <a:ea typeface="Space Mono" pitchFamily="34" charset="-122"/>
                <a:cs typeface="Space Mono" pitchFamily="34" charset="-120"/>
              </a:rPr>
              <a:t>dall'altra</a:t>
            </a:r>
            <a:endParaRPr lang="en-US" sz="4000">
              <a:latin typeface="Space Mono"/>
              <a:ea typeface="Space Mono"/>
              <a:cs typeface="Space Mono"/>
            </a:endParaRPr>
          </a:p>
          <a:p>
            <a:pPr marL="0" indent="0">
              <a:lnSpc>
                <a:spcPct val="88000"/>
              </a:lnSpc>
              <a:buNone/>
            </a:pPr>
            <a:r>
              <a:rPr lang="en-US" sz="4000" b="1">
                <a:solidFill>
                  <a:srgbClr val="1700E8"/>
                </a:solidFill>
                <a:latin typeface="Space Mono" pitchFamily="34" charset="0"/>
                <a:ea typeface="Space Mono" pitchFamily="34" charset="-122"/>
                <a:cs typeface="Space Mono" pitchFamily="34" charset="-120"/>
              </a:rPr>
              <a:t>parte?</a:t>
            </a:r>
            <a:endParaRPr lang="en-US" sz="4000">
              <a:latin typeface="Space Mono"/>
              <a:ea typeface="Space Mono"/>
              <a:cs typeface="Space Mono"/>
            </a:endParaRPr>
          </a:p>
        </p:txBody>
      </p:sp>
      <p:pic>
        <p:nvPicPr>
          <p:cNvPr id="4" name="Image 0" descr="/home/claude/ppt/build/img/ell_red.png"/>
          <p:cNvPicPr>
            <a:picLocks noChangeAspect="1"/>
          </p:cNvPicPr>
          <p:nvPr/>
        </p:nvPicPr>
        <p:blipFill>
          <a:blip r:embed="rId2"/>
          <a:stretch>
            <a:fillRect/>
          </a:stretch>
        </p:blipFill>
        <p:spPr>
          <a:xfrm>
            <a:off x="274320" y="1810512"/>
            <a:ext cx="2194560" cy="777240"/>
          </a:xfrm>
          <a:prstGeom prst="rect">
            <a:avLst/>
          </a:prstGeom>
        </p:spPr>
      </p:pic>
      <p:sp>
        <p:nvSpPr>
          <p:cNvPr id="5" name="Text 2"/>
          <p:cNvSpPr txBox="1"/>
          <p:nvPr/>
        </p:nvSpPr>
        <p:spPr>
          <a:xfrm>
            <a:off x="502920" y="3017520"/>
            <a:ext cx="3840480" cy="457200"/>
          </a:xfrm>
          <a:prstGeom prst="rect">
            <a:avLst/>
          </a:prstGeom>
          <a:noFill/>
          <a:ln/>
        </p:spPr>
        <p:txBody>
          <a:bodyPr wrap="square" lIns="0" tIns="0" rIns="0" bIns="0" rtlCol="0" anchor="t"/>
          <a:lstStyle/>
          <a:p>
            <a:pPr marL="0" indent="0" algn="just">
              <a:buNone/>
            </a:pPr>
            <a:r>
              <a:rPr lang="en-US" sz="1050">
                <a:solidFill>
                  <a:srgbClr val="111111"/>
                </a:solidFill>
                <a:latin typeface="Plus Jakarta Sans" pitchFamily="34" charset="0"/>
                <a:ea typeface="Plus Jakarta Sans" pitchFamily="34" charset="-122"/>
                <a:cs typeface="Plus Jakarta Sans" pitchFamily="34" charset="-120"/>
              </a:rPr>
              <a:t>Dal focus group in classe ai bisogni definitivi, alle personas e alla nostra soluzione: SafeStep.</a:t>
            </a:r>
            <a:endParaRPr lang="en-US" sz="1050">
              <a:latin typeface="Plus Jakarta Sans"/>
              <a:ea typeface="Plus Jakarta Sans"/>
              <a:cs typeface="Plus Jakarta Sans"/>
            </a:endParaRPr>
          </a:p>
        </p:txBody>
      </p:sp>
      <p:sp>
        <p:nvSpPr>
          <p:cNvPr id="6" name="Text 3"/>
          <p:cNvSpPr txBox="1"/>
          <p:nvPr/>
        </p:nvSpPr>
        <p:spPr>
          <a:xfrm>
            <a:off x="502920" y="3703320"/>
            <a:ext cx="9144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team</a:t>
            </a:r>
            <a:endParaRPr lang="en-US" sz="800">
              <a:latin typeface="Space Mono"/>
              <a:ea typeface="Space Mono"/>
              <a:cs typeface="Space Mono"/>
            </a:endParaRPr>
          </a:p>
        </p:txBody>
      </p:sp>
      <p:sp>
        <p:nvSpPr>
          <p:cNvPr id="7" name="Shape 4"/>
          <p:cNvSpPr/>
          <p:nvPr/>
        </p:nvSpPr>
        <p:spPr>
          <a:xfrm>
            <a:off x="502920" y="3931920"/>
            <a:ext cx="123444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8" name="Text 5"/>
          <p:cNvSpPr txBox="1"/>
          <p:nvPr/>
        </p:nvSpPr>
        <p:spPr>
          <a:xfrm>
            <a:off x="502920" y="3931920"/>
            <a:ext cx="123444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Tether Space</a:t>
            </a:r>
            <a:endParaRPr lang="en-US" sz="750">
              <a:latin typeface="Space Mono"/>
              <a:ea typeface="Space Mono"/>
              <a:cs typeface="Space Mono"/>
            </a:endParaRPr>
          </a:p>
        </p:txBody>
      </p:sp>
      <p:sp>
        <p:nvSpPr>
          <p:cNvPr id="9" name="Text 6"/>
          <p:cNvSpPr txBox="1"/>
          <p:nvPr/>
        </p:nvSpPr>
        <p:spPr>
          <a:xfrm>
            <a:off x="1874520" y="3904488"/>
            <a:ext cx="2743200" cy="365760"/>
          </a:xfrm>
          <a:prstGeom prst="rect">
            <a:avLst/>
          </a:prstGeom>
          <a:noFill/>
          <a:ln/>
        </p:spPr>
        <p:txBody>
          <a:bodyPr wrap="square" lIns="0" tIns="0" rIns="0" bIns="0" rtlCol="0" anchor="t"/>
          <a:lstStyle/>
          <a:p>
            <a:pPr marL="0" indent="0" algn="just">
              <a:buNone/>
            </a:pPr>
            <a:r>
              <a:rPr lang="en-US" sz="750">
                <a:solidFill>
                  <a:srgbClr val="6B6B78"/>
                </a:solidFill>
                <a:latin typeface="Plus Jakarta Sans" pitchFamily="34" charset="0"/>
                <a:ea typeface="Plus Jakarta Sans" pitchFamily="34" charset="-122"/>
                <a:cs typeface="Plus Jakarta Sans" pitchFamily="34" charset="-120"/>
              </a:rPr>
              <a:t>Nicolò Diana · Miriam Awad · Daniele Di Girolamo · </a:t>
            </a:r>
          </a:p>
          <a:p>
            <a:pPr marL="0" indent="0" algn="just">
              <a:buNone/>
            </a:pPr>
            <a:r>
              <a:rPr lang="en-US" sz="750">
                <a:solidFill>
                  <a:srgbClr val="6B6B78"/>
                </a:solidFill>
                <a:latin typeface="Plus Jakarta Sans" pitchFamily="34" charset="0"/>
                <a:ea typeface="Plus Jakarta Sans" pitchFamily="34" charset="-122"/>
                <a:cs typeface="Plus Jakarta Sans" pitchFamily="34" charset="-120"/>
              </a:rPr>
              <a:t>Margherita Nerozzi · Roberto Fasano · Samuele Celedi</a:t>
            </a:r>
            <a:endParaRPr lang="en-US" sz="750">
              <a:latin typeface="Plus Jakarta Sans"/>
              <a:ea typeface="Plus Jakarta Sans"/>
              <a:cs typeface="Plus Jakarta Sans"/>
            </a:endParaRPr>
          </a:p>
        </p:txBody>
      </p:sp>
      <p:sp>
        <p:nvSpPr>
          <p:cNvPr id="10" name="Shape 7"/>
          <p:cNvSpPr/>
          <p:nvPr/>
        </p:nvSpPr>
        <p:spPr>
          <a:xfrm rot="120000">
            <a:off x="5202936" y="676656"/>
            <a:ext cx="3383280" cy="2971800"/>
          </a:xfrm>
          <a:prstGeom prst="rect">
            <a:avLst/>
          </a:prstGeom>
          <a:solidFill>
            <a:srgbClr val="1700E8"/>
          </a:solidFill>
          <a:ln w="12700">
            <a:solidFill>
              <a:srgbClr val="1700E8"/>
            </a:solidFill>
            <a:prstDash val="solid"/>
          </a:ln>
        </p:spPr>
        <p:txBody>
          <a:bodyPr/>
          <a:lstStyle/>
          <a:p>
            <a:endParaRPr lang="it-IT"/>
          </a:p>
        </p:txBody>
      </p:sp>
      <p:sp>
        <p:nvSpPr>
          <p:cNvPr id="11" name="Shape 8"/>
          <p:cNvSpPr/>
          <p:nvPr/>
        </p:nvSpPr>
        <p:spPr>
          <a:xfrm rot="120000">
            <a:off x="5120640" y="594360"/>
            <a:ext cx="3383280" cy="2971800"/>
          </a:xfrm>
          <a:prstGeom prst="rect">
            <a:avLst/>
          </a:prstGeom>
          <a:solidFill>
            <a:srgbClr val="FFFFFF"/>
          </a:solidFill>
          <a:ln w="15875">
            <a:solidFill>
              <a:srgbClr val="111111"/>
            </a:solidFill>
            <a:prstDash val="solid"/>
          </a:ln>
        </p:spPr>
        <p:txBody>
          <a:bodyPr/>
          <a:lstStyle/>
          <a:p>
            <a:endParaRPr lang="it-IT"/>
          </a:p>
        </p:txBody>
      </p:sp>
      <p:pic>
        <p:nvPicPr>
          <p:cNvPr id="12" name="Image 1" descr="foto_chat.png"/>
          <p:cNvPicPr>
            <a:picLocks noChangeAspect="1"/>
          </p:cNvPicPr>
          <p:nvPr/>
        </p:nvPicPr>
        <p:blipFill>
          <a:blip r:embed="rId3"/>
          <a:srcRect/>
          <a:stretch/>
        </p:blipFill>
        <p:spPr>
          <a:xfrm rot="120000">
            <a:off x="5202936" y="676656"/>
            <a:ext cx="3218688" cy="2514600"/>
          </a:xfrm>
          <a:prstGeom prst="rect">
            <a:avLst/>
          </a:prstGeom>
        </p:spPr>
      </p:pic>
      <p:sp>
        <p:nvSpPr>
          <p:cNvPr id="13" name="Text 9"/>
          <p:cNvSpPr txBox="1"/>
          <p:nvPr/>
        </p:nvSpPr>
        <p:spPr>
          <a:xfrm rot="120000">
            <a:off x="5202936" y="3255264"/>
            <a:ext cx="3218688" cy="292608"/>
          </a:xfrm>
          <a:prstGeom prst="rect">
            <a:avLst/>
          </a:prstGeom>
          <a:noFill/>
          <a:ln/>
        </p:spPr>
        <p:txBody>
          <a:bodyPr wrap="square" lIns="0" tIns="0" rIns="0" bIns="0" rtlCol="0" anchor="ctr"/>
          <a:lstStyle/>
          <a:p>
            <a:pPr marL="0" indent="0" algn="ctr">
              <a:buNone/>
            </a:pPr>
            <a:r>
              <a:rPr lang="en-US" sz="850" b="1">
                <a:solidFill>
                  <a:srgbClr val="1700E8"/>
                </a:solidFill>
                <a:latin typeface="Space Mono" pitchFamily="34" charset="0"/>
                <a:ea typeface="Space Mono" pitchFamily="34" charset="-122"/>
                <a:cs typeface="Space Mono" pitchFamily="34" charset="-120"/>
              </a:rPr>
              <a:t>chat analysis in classe</a:t>
            </a:r>
            <a:endParaRPr lang="en-US" sz="850">
              <a:latin typeface="Space Mono"/>
              <a:ea typeface="Space Mono"/>
              <a:cs typeface="Space Mono"/>
            </a:endParaRPr>
          </a:p>
        </p:txBody>
      </p:sp>
      <p:sp>
        <p:nvSpPr>
          <p:cNvPr id="14" name="Shape 10"/>
          <p:cNvSpPr/>
          <p:nvPr/>
        </p:nvSpPr>
        <p:spPr>
          <a:xfrm rot="-60000">
            <a:off x="6428232" y="512064"/>
            <a:ext cx="777240" cy="164592"/>
          </a:xfrm>
          <a:prstGeom prst="rect">
            <a:avLst/>
          </a:prstGeom>
          <a:solidFill>
            <a:srgbClr val="E71224">
              <a:alpha val="75000"/>
            </a:srgbClr>
          </a:solidFill>
          <a:ln w="12700">
            <a:solidFill>
              <a:srgbClr val="E71224"/>
            </a:solidFill>
            <a:prstDash val="solid"/>
          </a:ln>
        </p:spPr>
        <p:txBody>
          <a:bodyPr/>
          <a:lstStyle/>
          <a:p>
            <a:endParaRPr lang="it-IT"/>
          </a:p>
        </p:txBody>
      </p:sp>
      <p:sp>
        <p:nvSpPr>
          <p:cNvPr id="25"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1</a:t>
            </a:fld>
            <a:endParaRPr lang="en-US"/>
          </a:p>
        </p:txBody>
      </p:sp>
      <mc:AlternateContent xmlns:mc="http://schemas.openxmlformats.org/markup-compatibility/2006" xmlns:p14="http://schemas.microsoft.com/office/powerpoint/2010/main">
        <mc:Choice Requires="p14">
          <p:contentPart p14:bwMode="auto" r:id="rId4">
            <p14:nvContentPartPr>
              <p14:cNvPr id="24" name="Input penna 23">
                <a:extLst>
                  <a:ext uri="{FF2B5EF4-FFF2-40B4-BE49-F238E27FC236}">
                    <a16:creationId xmlns:a16="http://schemas.microsoft.com/office/drawing/2014/main" id="{B25094BC-0DD5-16F7-E26B-31D45B358371}"/>
                  </a:ext>
                </a:extLst>
              </p14:cNvPr>
              <p14:cNvContentPartPr/>
              <p14:nvPr/>
            </p14:nvContentPartPr>
            <p14:xfrm>
              <a:off x="2788620" y="333300"/>
              <a:ext cx="6697800" cy="1938960"/>
            </p14:xfrm>
          </p:contentPart>
        </mc:Choice>
        <mc:Fallback xmlns="">
          <p:pic>
            <p:nvPicPr>
              <p:cNvPr id="24" name="Input penna 23">
                <a:extLst>
                  <a:ext uri="{FF2B5EF4-FFF2-40B4-BE49-F238E27FC236}">
                    <a16:creationId xmlns:a16="http://schemas.microsoft.com/office/drawing/2014/main" id="{B25094BC-0DD5-16F7-E26B-31D45B358371}"/>
                  </a:ext>
                </a:extLst>
              </p:cNvPr>
              <p:cNvPicPr/>
              <p:nvPr/>
            </p:nvPicPr>
            <p:blipFill>
              <a:blip r:embed="rId5"/>
              <a:stretch>
                <a:fillRect/>
              </a:stretch>
            </p:blipFill>
            <p:spPr>
              <a:xfrm>
                <a:off x="2770620" y="315300"/>
                <a:ext cx="6733440" cy="19746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da dove ripartiamo</a:t>
            </a:r>
            <a:endParaRPr lang="en-US" sz="800">
              <a:latin typeface="Space Mono"/>
              <a:ea typeface="Space Mono"/>
              <a:cs typeface="Space Mono"/>
            </a:endParaRPr>
          </a:p>
        </p:txBody>
      </p:sp>
      <p:sp>
        <p:nvSpPr>
          <p:cNvPr id="3" name="Text 1"/>
          <p:cNvSpPr txBox="1"/>
          <p:nvPr/>
        </p:nvSpPr>
        <p:spPr>
          <a:xfrm>
            <a:off x="502920" y="502920"/>
            <a:ext cx="2926080" cy="502920"/>
          </a:xfrm>
          <a:prstGeom prst="rect">
            <a:avLst/>
          </a:prstGeom>
          <a:noFill/>
          <a:ln/>
        </p:spPr>
        <p:txBody>
          <a:bodyPr wrap="square" lIns="0" tIns="0" rIns="0" bIns="0" rtlCol="0" anchor="t"/>
          <a:lstStyle/>
          <a:p>
            <a:pPr marL="0" indent="0">
              <a:lnSpc>
                <a:spcPct val="90000"/>
              </a:lnSpc>
              <a:buNone/>
            </a:pPr>
            <a:r>
              <a:rPr lang="en-US" sz="2600" b="1" dirty="0" err="1">
                <a:solidFill>
                  <a:srgbClr val="1700E8"/>
                </a:solidFill>
                <a:latin typeface="Space Mono"/>
                <a:ea typeface="Space Mono"/>
                <a:cs typeface="Space Mono"/>
              </a:rPr>
              <a:t>obbiettivo</a:t>
            </a:r>
            <a:endParaRPr lang="en-US" sz="2600" dirty="0" err="1">
              <a:latin typeface="Space Mono"/>
              <a:ea typeface="Space Mono"/>
              <a:cs typeface="Space Mono"/>
            </a:endParaRPr>
          </a:p>
        </p:txBody>
      </p:sp>
      <p:pic>
        <p:nvPicPr>
          <p:cNvPr id="4" name="Image 0" descr="/home/claude/ppt/build/img/ell_blue.png"/>
          <p:cNvPicPr>
            <a:picLocks noChangeAspect="1"/>
          </p:cNvPicPr>
          <p:nvPr/>
        </p:nvPicPr>
        <p:blipFill>
          <a:blip r:embed="rId2"/>
          <a:stretch>
            <a:fillRect/>
          </a:stretch>
        </p:blipFill>
        <p:spPr>
          <a:xfrm>
            <a:off x="320040" y="429768"/>
            <a:ext cx="2148840" cy="658368"/>
          </a:xfrm>
          <a:prstGeom prst="rect">
            <a:avLst/>
          </a:prstGeom>
        </p:spPr>
      </p:pic>
      <p:sp>
        <p:nvSpPr>
          <p:cNvPr id="5" name="Text 2"/>
          <p:cNvSpPr txBox="1"/>
          <p:nvPr/>
        </p:nvSpPr>
        <p:spPr>
          <a:xfrm>
            <a:off x="502920" y="1234440"/>
            <a:ext cx="3931920" cy="868680"/>
          </a:xfrm>
          <a:prstGeom prst="rect">
            <a:avLst/>
          </a:prstGeom>
          <a:noFill/>
          <a:ln/>
        </p:spPr>
        <p:txBody>
          <a:bodyPr wrap="square" lIns="0" tIns="0" rIns="0" bIns="0" rtlCol="0" anchor="t"/>
          <a:lstStyle/>
          <a:p>
            <a:pPr marL="0" indent="0" algn="just">
              <a:lnSpc>
                <a:spcPct val="115000"/>
              </a:lnSpc>
              <a:buNone/>
            </a:pPr>
            <a:r>
              <a:rPr lang="en-US" sz="1100">
                <a:solidFill>
                  <a:srgbClr val="111111"/>
                </a:solidFill>
                <a:latin typeface="Plus Jakarta Sans" pitchFamily="34" charset="0"/>
                <a:ea typeface="Plus Jakarta Sans" pitchFamily="34" charset="-122"/>
                <a:cs typeface="Plus Jakarta Sans" pitchFamily="34" charset="-120"/>
              </a:rPr>
              <a:t>Dare ai ragazzi gli strumenti per riconoscere </a:t>
            </a:r>
            <a:r>
              <a:rPr lang="en-US" sz="1100" b="1">
                <a:solidFill>
                  <a:srgbClr val="FFFFFF"/>
                </a:solidFill>
                <a:highlight>
                  <a:srgbClr val="1700E8"/>
                </a:highlight>
                <a:latin typeface="Plus Jakarta Sans" pitchFamily="34" charset="0"/>
                <a:ea typeface="Plus Jakarta Sans" pitchFamily="34" charset="-122"/>
                <a:cs typeface="Plus Jakarta Sans" pitchFamily="34" charset="-120"/>
              </a:rPr>
              <a:t>chi c'è davvero dall'altra parte</a:t>
            </a:r>
            <a:r>
              <a:rPr lang="en-US" sz="1100">
                <a:solidFill>
                  <a:srgbClr val="111111"/>
                </a:solidFill>
                <a:latin typeface="Plus Jakarta Sans" pitchFamily="34" charset="0"/>
                <a:ea typeface="Plus Jakarta Sans" pitchFamily="34" charset="-122"/>
                <a:cs typeface="Plus Jakarta Sans" pitchFamily="34" charset="-120"/>
              </a:rPr>
              <a:t> dello schermo, suscitare un </a:t>
            </a:r>
            <a:r>
              <a:rPr lang="en-US" sz="1100" b="1">
                <a:solidFill>
                  <a:srgbClr val="E71224"/>
                </a:solidFill>
                <a:latin typeface="Plus Jakarta Sans" pitchFamily="34" charset="0"/>
                <a:ea typeface="Plus Jakarta Sans" pitchFamily="34" charset="-122"/>
                <a:cs typeface="Plus Jakarta Sans" pitchFamily="34" charset="-120"/>
              </a:rPr>
              <a:t>pensiero più critico</a:t>
            </a:r>
            <a:r>
              <a:rPr lang="en-US" sz="1100">
                <a:solidFill>
                  <a:srgbClr val="111111"/>
                </a:solidFill>
                <a:latin typeface="Plus Jakarta Sans" pitchFamily="34" charset="0"/>
                <a:ea typeface="Plus Jakarta Sans" pitchFamily="34" charset="-122"/>
                <a:cs typeface="Plus Jakarta Sans" pitchFamily="34" charset="-120"/>
              </a:rPr>
              <a:t> nelle relazioni online e nel </a:t>
            </a:r>
            <a:r>
              <a:rPr lang="en-US" sz="1100" b="1">
                <a:solidFill>
                  <a:srgbClr val="E71224"/>
                </a:solidFill>
                <a:latin typeface="Plus Jakarta Sans" pitchFamily="34" charset="0"/>
                <a:ea typeface="Plus Jakarta Sans" pitchFamily="34" charset="-122"/>
                <a:cs typeface="Plus Jakarta Sans" pitchFamily="34" charset="-120"/>
              </a:rPr>
              <a:t>valutare la veridicità</a:t>
            </a:r>
            <a:r>
              <a:rPr lang="en-US" sz="1100">
                <a:solidFill>
                  <a:srgbClr val="111111"/>
                </a:solidFill>
                <a:latin typeface="Plus Jakarta Sans" pitchFamily="34" charset="0"/>
                <a:ea typeface="Plus Jakarta Sans" pitchFamily="34" charset="-122"/>
                <a:cs typeface="Plus Jakarta Sans" pitchFamily="34" charset="-120"/>
              </a:rPr>
              <a:t> dei contenuti che circolano in rete.</a:t>
            </a:r>
            <a:endParaRPr lang="en-US" sz="1100">
              <a:latin typeface="Plus Jakarta Sans"/>
              <a:ea typeface="Plus Jakarta Sans"/>
              <a:cs typeface="Plus Jakarta Sans"/>
            </a:endParaRPr>
          </a:p>
        </p:txBody>
      </p:sp>
      <p:sp>
        <p:nvSpPr>
          <p:cNvPr id="6" name="Shape 3"/>
          <p:cNvSpPr/>
          <p:nvPr/>
        </p:nvSpPr>
        <p:spPr>
          <a:xfrm>
            <a:off x="502920" y="2331720"/>
            <a:ext cx="256032" cy="256032"/>
          </a:xfrm>
          <a:prstGeom prst="ellipse">
            <a:avLst/>
          </a:prstGeom>
          <a:solidFill>
            <a:srgbClr val="1700E8"/>
          </a:solidFill>
          <a:ln w="12700">
            <a:solidFill>
              <a:srgbClr val="1700E8"/>
            </a:solidFill>
            <a:prstDash val="solid"/>
          </a:ln>
        </p:spPr>
        <p:txBody>
          <a:bodyPr/>
          <a:lstStyle/>
          <a:p>
            <a:endParaRPr lang="it-IT"/>
          </a:p>
        </p:txBody>
      </p:sp>
      <p:pic>
        <p:nvPicPr>
          <p:cNvPr id="7" name="Image 1" descr="/home/claude/ppt/build/icons/target_w.png"/>
          <p:cNvPicPr>
            <a:picLocks noChangeAspect="1"/>
          </p:cNvPicPr>
          <p:nvPr/>
        </p:nvPicPr>
        <p:blipFill>
          <a:blip r:embed="rId3"/>
          <a:stretch>
            <a:fillRect/>
          </a:stretch>
        </p:blipFill>
        <p:spPr>
          <a:xfrm>
            <a:off x="572049" y="2400849"/>
            <a:ext cx="117775" cy="117775"/>
          </a:xfrm>
          <a:prstGeom prst="rect">
            <a:avLst/>
          </a:prstGeom>
        </p:spPr>
      </p:pic>
      <p:sp>
        <p:nvSpPr>
          <p:cNvPr id="8" name="Text 4"/>
          <p:cNvSpPr txBox="1"/>
          <p:nvPr/>
        </p:nvSpPr>
        <p:spPr>
          <a:xfrm>
            <a:off x="868680" y="2322576"/>
            <a:ext cx="3474720" cy="182880"/>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allenarsi</a:t>
            </a:r>
            <a:endParaRPr lang="en-US" sz="900">
              <a:latin typeface="Space Mono"/>
              <a:ea typeface="Space Mono"/>
              <a:cs typeface="Space Mono"/>
            </a:endParaRPr>
          </a:p>
        </p:txBody>
      </p:sp>
      <p:sp>
        <p:nvSpPr>
          <p:cNvPr id="9" name="Text 5"/>
          <p:cNvSpPr txBox="1"/>
          <p:nvPr/>
        </p:nvSpPr>
        <p:spPr>
          <a:xfrm>
            <a:off x="868680" y="2514600"/>
            <a:ext cx="3520440" cy="347472"/>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distinguere foto e profili veri da quelli generati con l'IA e capire le dinamiche del grooming</a:t>
            </a:r>
            <a:endParaRPr lang="en-US" sz="850">
              <a:latin typeface="Plus Jakarta Sans"/>
              <a:ea typeface="Plus Jakarta Sans"/>
              <a:cs typeface="Plus Jakarta Sans"/>
            </a:endParaRPr>
          </a:p>
        </p:txBody>
      </p:sp>
      <p:sp>
        <p:nvSpPr>
          <p:cNvPr id="10" name="Shape 6"/>
          <p:cNvSpPr/>
          <p:nvPr/>
        </p:nvSpPr>
        <p:spPr>
          <a:xfrm>
            <a:off x="502920" y="2935224"/>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1" name="Image 2" descr="/home/claude/ppt/build/icons/heart_w.png"/>
          <p:cNvPicPr>
            <a:picLocks noChangeAspect="1"/>
          </p:cNvPicPr>
          <p:nvPr/>
        </p:nvPicPr>
        <p:blipFill>
          <a:blip r:embed="rId4"/>
          <a:stretch>
            <a:fillRect/>
          </a:stretch>
        </p:blipFill>
        <p:spPr>
          <a:xfrm>
            <a:off x="572049" y="3004353"/>
            <a:ext cx="117775" cy="117775"/>
          </a:xfrm>
          <a:prstGeom prst="rect">
            <a:avLst/>
          </a:prstGeom>
        </p:spPr>
      </p:pic>
      <p:sp>
        <p:nvSpPr>
          <p:cNvPr id="12" name="Text 7"/>
          <p:cNvSpPr txBox="1"/>
          <p:nvPr/>
        </p:nvSpPr>
        <p:spPr>
          <a:xfrm>
            <a:off x="868680" y="2926080"/>
            <a:ext cx="3474720" cy="182880"/>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condividere</a:t>
            </a:r>
            <a:endParaRPr lang="en-US" sz="900">
              <a:latin typeface="Space Mono"/>
              <a:ea typeface="Space Mono"/>
              <a:cs typeface="Space Mono"/>
            </a:endParaRPr>
          </a:p>
        </p:txBody>
      </p:sp>
      <p:sp>
        <p:nvSpPr>
          <p:cNvPr id="13" name="Text 8"/>
          <p:cNvSpPr txBox="1"/>
          <p:nvPr/>
        </p:nvSpPr>
        <p:spPr>
          <a:xfrm>
            <a:off x="868680" y="3118104"/>
            <a:ext cx="3520440" cy="347472"/>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uno spazio protetto e anonimo per raccontare e sentirsi meno soli</a:t>
            </a:r>
            <a:endParaRPr lang="en-US" sz="850">
              <a:latin typeface="Plus Jakarta Sans"/>
              <a:ea typeface="Plus Jakarta Sans"/>
              <a:cs typeface="Plus Jakarta Sans"/>
            </a:endParaRPr>
          </a:p>
        </p:txBody>
      </p:sp>
      <p:sp>
        <p:nvSpPr>
          <p:cNvPr id="14" name="Shape 9"/>
          <p:cNvSpPr/>
          <p:nvPr/>
        </p:nvSpPr>
        <p:spPr>
          <a:xfrm>
            <a:off x="502920" y="3538728"/>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5" name="Image 3" descr="/home/claude/ppt/build/icons/bolt_w.png"/>
          <p:cNvPicPr>
            <a:picLocks noChangeAspect="1"/>
          </p:cNvPicPr>
          <p:nvPr/>
        </p:nvPicPr>
        <p:blipFill>
          <a:blip r:embed="rId5"/>
          <a:stretch>
            <a:fillRect/>
          </a:stretch>
        </p:blipFill>
        <p:spPr>
          <a:xfrm>
            <a:off x="572049" y="3607857"/>
            <a:ext cx="117775" cy="117775"/>
          </a:xfrm>
          <a:prstGeom prst="rect">
            <a:avLst/>
          </a:prstGeom>
        </p:spPr>
      </p:pic>
      <p:sp>
        <p:nvSpPr>
          <p:cNvPr id="16" name="Text 10"/>
          <p:cNvSpPr txBox="1"/>
          <p:nvPr/>
        </p:nvSpPr>
        <p:spPr>
          <a:xfrm>
            <a:off x="868680" y="3529584"/>
            <a:ext cx="3474720" cy="182880"/>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sensibilizzare</a:t>
            </a:r>
            <a:endParaRPr lang="en-US" sz="900">
              <a:latin typeface="Space Mono"/>
              <a:ea typeface="Space Mono"/>
              <a:cs typeface="Space Mono"/>
            </a:endParaRPr>
          </a:p>
        </p:txBody>
      </p:sp>
      <p:sp>
        <p:nvSpPr>
          <p:cNvPr id="17" name="Text 11"/>
          <p:cNvSpPr txBox="1"/>
          <p:nvPr/>
        </p:nvSpPr>
        <p:spPr>
          <a:xfrm>
            <a:off x="868680" y="3721608"/>
            <a:ext cx="3520440" cy="347472"/>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un deepfake o una chat «strana» non sono uno scherzo</a:t>
            </a:r>
            <a:endParaRPr lang="en-US" sz="850">
              <a:latin typeface="Plus Jakarta Sans"/>
              <a:ea typeface="Plus Jakarta Sans"/>
              <a:cs typeface="Plus Jakarta Sans"/>
            </a:endParaRPr>
          </a:p>
        </p:txBody>
      </p:sp>
      <p:sp>
        <p:nvSpPr>
          <p:cNvPr id="18" name="Shape 12"/>
          <p:cNvSpPr/>
          <p:nvPr/>
        </p:nvSpPr>
        <p:spPr>
          <a:xfrm>
            <a:off x="4873752" y="484632"/>
            <a:ext cx="3840480" cy="4160520"/>
          </a:xfrm>
          <a:prstGeom prst="rect">
            <a:avLst/>
          </a:prstGeom>
          <a:solidFill>
            <a:srgbClr val="DEDAFF"/>
          </a:solidFill>
          <a:ln w="15875">
            <a:solidFill>
              <a:srgbClr val="111111"/>
            </a:solidFill>
            <a:prstDash val="solid"/>
          </a:ln>
        </p:spPr>
        <p:txBody>
          <a:bodyPr/>
          <a:lstStyle/>
          <a:p>
            <a:endParaRPr lang="it-IT"/>
          </a:p>
        </p:txBody>
      </p:sp>
      <p:sp>
        <p:nvSpPr>
          <p:cNvPr id="19" name="Shape 13"/>
          <p:cNvSpPr/>
          <p:nvPr/>
        </p:nvSpPr>
        <p:spPr>
          <a:xfrm>
            <a:off x="4800600" y="411480"/>
            <a:ext cx="3840480" cy="4160520"/>
          </a:xfrm>
          <a:prstGeom prst="rect">
            <a:avLst/>
          </a:prstGeom>
          <a:solidFill>
            <a:srgbClr val="FFFFFF"/>
          </a:solidFill>
          <a:ln w="15875">
            <a:solidFill>
              <a:srgbClr val="111111"/>
            </a:solidFill>
            <a:prstDash val="solid"/>
          </a:ln>
        </p:spPr>
        <p:txBody>
          <a:bodyPr/>
          <a:lstStyle/>
          <a:p>
            <a:endParaRPr lang="it-IT"/>
          </a:p>
        </p:txBody>
      </p:sp>
      <p:sp>
        <p:nvSpPr>
          <p:cNvPr id="20" name="Shape 14"/>
          <p:cNvSpPr/>
          <p:nvPr/>
        </p:nvSpPr>
        <p:spPr>
          <a:xfrm>
            <a:off x="4937760" y="530352"/>
            <a:ext cx="256032" cy="256032"/>
          </a:xfrm>
          <a:prstGeom prst="ellipse">
            <a:avLst/>
          </a:prstGeom>
          <a:solidFill>
            <a:srgbClr val="1700E8"/>
          </a:solidFill>
          <a:ln w="12700">
            <a:solidFill>
              <a:srgbClr val="1700E8"/>
            </a:solidFill>
            <a:prstDash val="solid"/>
          </a:ln>
        </p:spPr>
        <p:txBody>
          <a:bodyPr/>
          <a:lstStyle/>
          <a:p>
            <a:endParaRPr lang="it-IT"/>
          </a:p>
        </p:txBody>
      </p:sp>
      <p:pic>
        <p:nvPicPr>
          <p:cNvPr id="21" name="Image 4" descr="/home/claude/ppt/build/icons/eye_w.png"/>
          <p:cNvPicPr>
            <a:picLocks noChangeAspect="1"/>
          </p:cNvPicPr>
          <p:nvPr/>
        </p:nvPicPr>
        <p:blipFill>
          <a:blip r:embed="rId6"/>
          <a:stretch>
            <a:fillRect/>
          </a:stretch>
        </p:blipFill>
        <p:spPr>
          <a:xfrm>
            <a:off x="5006889" y="599481"/>
            <a:ext cx="117775" cy="117775"/>
          </a:xfrm>
          <a:prstGeom prst="rect">
            <a:avLst/>
          </a:prstGeom>
        </p:spPr>
      </p:pic>
      <p:sp>
        <p:nvSpPr>
          <p:cNvPr id="22" name="Text 15"/>
          <p:cNvSpPr txBox="1"/>
          <p:nvPr/>
        </p:nvSpPr>
        <p:spPr>
          <a:xfrm>
            <a:off x="5276088" y="557784"/>
            <a:ext cx="292608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cosa era emerso nel needfinding 1</a:t>
            </a:r>
            <a:endParaRPr lang="en-US" sz="1000">
              <a:latin typeface="Space Mono"/>
              <a:ea typeface="Space Mono"/>
              <a:cs typeface="Space Mono"/>
            </a:endParaRPr>
          </a:p>
        </p:txBody>
      </p:sp>
      <p:sp>
        <p:nvSpPr>
          <p:cNvPr id="23" name="Text 16"/>
          <p:cNvSpPr txBox="1"/>
          <p:nvPr/>
        </p:nvSpPr>
        <p:spPr>
          <a:xfrm>
            <a:off x="4956048" y="960120"/>
            <a:ext cx="1325880" cy="457200"/>
          </a:xfrm>
          <a:prstGeom prst="rect">
            <a:avLst/>
          </a:prstGeom>
          <a:noFill/>
          <a:ln/>
        </p:spPr>
        <p:txBody>
          <a:bodyPr wrap="square" lIns="0" tIns="0" rIns="0" bIns="0" rtlCol="0" anchor="ctr"/>
          <a:lstStyle/>
          <a:p>
            <a:pPr marL="0" indent="0">
              <a:buNone/>
            </a:pPr>
            <a:r>
              <a:rPr lang="en-US" sz="1900" b="1">
                <a:solidFill>
                  <a:srgbClr val="1700E8"/>
                </a:solidFill>
                <a:latin typeface="Space Mono" pitchFamily="34" charset="0"/>
                <a:ea typeface="Space Mono" pitchFamily="34" charset="-122"/>
                <a:cs typeface="Space Mono" pitchFamily="34" charset="-120"/>
              </a:rPr>
              <a:t>3 su 4</a:t>
            </a:r>
            <a:endParaRPr lang="en-US" sz="1900">
              <a:latin typeface="Space Mono"/>
              <a:ea typeface="Space Mono"/>
              <a:cs typeface="Space Mono"/>
            </a:endParaRPr>
          </a:p>
        </p:txBody>
      </p:sp>
      <p:sp>
        <p:nvSpPr>
          <p:cNvPr id="24" name="Text 17"/>
          <p:cNvSpPr txBox="1"/>
          <p:nvPr/>
        </p:nvSpPr>
        <p:spPr>
          <a:xfrm>
            <a:off x="6355080" y="960120"/>
            <a:ext cx="2148840" cy="566928"/>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si sentono capaci di riconoscere un profilo falso o una foto IA, ma davanti a un dubbio la metà non fa niente</a:t>
            </a:r>
            <a:endParaRPr lang="en-US" sz="850">
              <a:latin typeface="Plus Jakarta Sans"/>
              <a:ea typeface="Plus Jakarta Sans"/>
              <a:cs typeface="Plus Jakarta Sans"/>
            </a:endParaRPr>
          </a:p>
        </p:txBody>
      </p:sp>
      <p:sp>
        <p:nvSpPr>
          <p:cNvPr id="25" name="Text 18"/>
          <p:cNvSpPr txBox="1"/>
          <p:nvPr/>
        </p:nvSpPr>
        <p:spPr>
          <a:xfrm>
            <a:off x="4956048" y="1719072"/>
            <a:ext cx="1325880" cy="457200"/>
          </a:xfrm>
          <a:prstGeom prst="rect">
            <a:avLst/>
          </a:prstGeom>
          <a:noFill/>
          <a:ln/>
        </p:spPr>
        <p:txBody>
          <a:bodyPr wrap="square" lIns="0" tIns="0" rIns="0" bIns="0" rtlCol="0" anchor="ctr"/>
          <a:lstStyle/>
          <a:p>
            <a:pPr marL="0" indent="0">
              <a:buNone/>
            </a:pPr>
            <a:r>
              <a:rPr lang="en-US" sz="1900" b="1">
                <a:solidFill>
                  <a:srgbClr val="E71224"/>
                </a:solidFill>
                <a:latin typeface="Space Mono" pitchFamily="34" charset="0"/>
                <a:ea typeface="Space Mono" pitchFamily="34" charset="-122"/>
                <a:cs typeface="Space Mono" pitchFamily="34" charset="-120"/>
              </a:rPr>
              <a:t>62%</a:t>
            </a:r>
            <a:endParaRPr lang="en-US" sz="1900">
              <a:latin typeface="Space Mono"/>
              <a:ea typeface="Space Mono"/>
              <a:cs typeface="Space Mono"/>
            </a:endParaRPr>
          </a:p>
        </p:txBody>
      </p:sp>
      <p:sp>
        <p:nvSpPr>
          <p:cNvPr id="26" name="Text 19"/>
          <p:cNvSpPr txBox="1"/>
          <p:nvPr/>
        </p:nvSpPr>
        <p:spPr>
          <a:xfrm>
            <a:off x="6355080" y="1719072"/>
            <a:ext cx="2148840" cy="566928"/>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non saprebbe bene come agire se una foto falsa di sé iniziasse a circolare</a:t>
            </a:r>
            <a:endParaRPr lang="en-US" sz="850">
              <a:latin typeface="Plus Jakarta Sans"/>
              <a:ea typeface="Plus Jakarta Sans"/>
              <a:cs typeface="Plus Jakarta Sans"/>
            </a:endParaRPr>
          </a:p>
        </p:txBody>
      </p:sp>
      <p:sp>
        <p:nvSpPr>
          <p:cNvPr id="27" name="Text 20"/>
          <p:cNvSpPr txBox="1"/>
          <p:nvPr/>
        </p:nvSpPr>
        <p:spPr>
          <a:xfrm>
            <a:off x="4956048" y="2478024"/>
            <a:ext cx="1325880" cy="457200"/>
          </a:xfrm>
          <a:prstGeom prst="rect">
            <a:avLst/>
          </a:prstGeom>
          <a:noFill/>
          <a:ln/>
        </p:spPr>
        <p:txBody>
          <a:bodyPr wrap="square" lIns="0" tIns="0" rIns="0" bIns="0" rtlCol="0" anchor="ctr"/>
          <a:lstStyle/>
          <a:p>
            <a:pPr marL="0" indent="0">
              <a:buNone/>
            </a:pPr>
            <a:r>
              <a:rPr lang="en-US" sz="1900" b="1">
                <a:solidFill>
                  <a:srgbClr val="1700E8"/>
                </a:solidFill>
                <a:latin typeface="Space Mono" pitchFamily="34" charset="0"/>
                <a:ea typeface="Space Mono" pitchFamily="34" charset="-122"/>
                <a:cs typeface="Space Mono" pitchFamily="34" charset="-120"/>
              </a:rPr>
              <a:t>35%</a:t>
            </a:r>
            <a:endParaRPr lang="en-US" sz="1900">
              <a:latin typeface="Space Mono"/>
              <a:ea typeface="Space Mono"/>
              <a:cs typeface="Space Mono"/>
            </a:endParaRPr>
          </a:p>
        </p:txBody>
      </p:sp>
      <p:sp>
        <p:nvSpPr>
          <p:cNvPr id="28" name="Text 21"/>
          <p:cNvSpPr txBox="1"/>
          <p:nvPr/>
        </p:nvSpPr>
        <p:spPr>
          <a:xfrm>
            <a:off x="6355080" y="2330223"/>
            <a:ext cx="2168546" cy="724582"/>
          </a:xfrm>
          <a:prstGeom prst="rect">
            <a:avLst/>
          </a:prstGeom>
          <a:noFill/>
          <a:ln/>
        </p:spPr>
        <p:txBody>
          <a:bodyPr wrap="square" lIns="0" tIns="0" rIns="0" bIns="0" rtlCol="0" anchor="ctr"/>
          <a:lstStyle/>
          <a:p>
            <a:pPr algn="just"/>
            <a:r>
              <a:rPr lang="en-US" sz="850" err="1">
                <a:solidFill>
                  <a:srgbClr val="111111"/>
                </a:solidFill>
                <a:latin typeface="Plus Jakarta Sans"/>
                <a:ea typeface="Plus Jakarta Sans"/>
                <a:cs typeface="Plus Jakarta Sans" pitchFamily="34" charset="-120"/>
              </a:rPr>
              <a:t>considera un deepfake di un coetaneo «un semplice scherzo». Paradossalmente la quota cresceva con l'età: in questa fase vogliamo verificare se sia davvero così. </a:t>
            </a:r>
            <a:endParaRPr lang="en-US" sz="850">
              <a:latin typeface="Plus Jakarta Sans"/>
              <a:ea typeface="Plus Jakarta Sans"/>
              <a:cs typeface="Plus Jakarta Sans"/>
            </a:endParaRPr>
          </a:p>
        </p:txBody>
      </p:sp>
      <p:sp>
        <p:nvSpPr>
          <p:cNvPr id="29" name="Text 22"/>
          <p:cNvSpPr txBox="1"/>
          <p:nvPr/>
        </p:nvSpPr>
        <p:spPr>
          <a:xfrm>
            <a:off x="4956048" y="3236976"/>
            <a:ext cx="1325880" cy="457200"/>
          </a:xfrm>
          <a:prstGeom prst="rect">
            <a:avLst/>
          </a:prstGeom>
          <a:noFill/>
          <a:ln/>
        </p:spPr>
        <p:txBody>
          <a:bodyPr wrap="square" lIns="0" tIns="0" rIns="0" bIns="0" rtlCol="0" anchor="ctr"/>
          <a:lstStyle/>
          <a:p>
            <a:pPr marL="0" indent="0">
              <a:buNone/>
            </a:pPr>
            <a:r>
              <a:rPr lang="en-US" sz="1900" b="1">
                <a:solidFill>
                  <a:srgbClr val="E71224"/>
                </a:solidFill>
                <a:latin typeface="Space Mono" pitchFamily="34" charset="0"/>
                <a:ea typeface="Space Mono" pitchFamily="34" charset="-122"/>
                <a:cs typeface="Space Mono" pitchFamily="34" charset="-120"/>
              </a:rPr>
              <a:t>17 su 96</a:t>
            </a:r>
            <a:endParaRPr lang="en-US" sz="1900">
              <a:latin typeface="Space Mono"/>
              <a:ea typeface="Space Mono"/>
              <a:cs typeface="Space Mono"/>
            </a:endParaRPr>
          </a:p>
        </p:txBody>
      </p:sp>
      <p:sp>
        <p:nvSpPr>
          <p:cNvPr id="30" name="Text 23"/>
          <p:cNvSpPr txBox="1"/>
          <p:nvPr/>
        </p:nvSpPr>
        <p:spPr>
          <a:xfrm>
            <a:off x="6355080" y="3236976"/>
            <a:ext cx="2148840" cy="566928"/>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non parlerebbe con nessuno di una conversazione che lo mette a disagio</a:t>
            </a:r>
            <a:endParaRPr lang="en-US" sz="850">
              <a:latin typeface="Plus Jakarta Sans"/>
              <a:ea typeface="Plus Jakarta Sans"/>
              <a:cs typeface="Plus Jakarta Sans"/>
            </a:endParaRPr>
          </a:p>
        </p:txBody>
      </p:sp>
      <p:sp>
        <p:nvSpPr>
          <p:cNvPr id="31" name="Text 24"/>
          <p:cNvSpPr txBox="1"/>
          <p:nvPr/>
        </p:nvSpPr>
        <p:spPr>
          <a:xfrm>
            <a:off x="4956048" y="4279392"/>
            <a:ext cx="3566160" cy="182880"/>
          </a:xfrm>
          <a:prstGeom prst="rect">
            <a:avLst/>
          </a:prstGeom>
          <a:noFill/>
          <a:ln/>
        </p:spPr>
        <p:txBody>
          <a:bodyPr wrap="square" lIns="0" tIns="0" rIns="0" bIns="0" rtlCol="0" anchor="t"/>
          <a:lstStyle/>
          <a:p>
            <a:pPr marL="0" indent="0" algn="just">
              <a:buNone/>
            </a:pPr>
            <a:r>
              <a:rPr lang="en-US" sz="700">
                <a:solidFill>
                  <a:srgbClr val="6B6B78"/>
                </a:solidFill>
                <a:latin typeface="Plus Jakarta Sans" pitchFamily="34" charset="0"/>
                <a:ea typeface="Plus Jakarta Sans" pitchFamily="34" charset="-122"/>
                <a:cs typeface="Plus Jakarta Sans" pitchFamily="34" charset="-120"/>
              </a:rPr>
              <a:t>fonte: questionario online, 104 ragazzi 14–17 anni · interviste (compito 1)</a:t>
            </a:r>
            <a:endParaRPr lang="en-US" sz="700">
              <a:latin typeface="Plus Jakarta Sans"/>
              <a:ea typeface="Plus Jakarta Sans"/>
              <a:cs typeface="Plus Jakarta Sans"/>
            </a:endParaRPr>
          </a:p>
        </p:txBody>
      </p:sp>
      <p:sp>
        <p:nvSpPr>
          <p:cNvPr id="32"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le domande aperte</a:t>
            </a:r>
            <a:endParaRPr lang="en-US" sz="800">
              <a:latin typeface="Space Mono"/>
              <a:ea typeface="Space Mono"/>
              <a:cs typeface="Space Mono"/>
            </a:endParaRPr>
          </a:p>
        </p:txBody>
      </p:sp>
      <p:sp>
        <p:nvSpPr>
          <p:cNvPr id="3" name="Text 1"/>
          <p:cNvSpPr txBox="1"/>
          <p:nvPr/>
        </p:nvSpPr>
        <p:spPr>
          <a:xfrm>
            <a:off x="502920" y="502920"/>
            <a:ext cx="54864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cosa volevamo</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verificare in classe</a:t>
            </a:r>
            <a:endParaRPr lang="en-US" sz="2600">
              <a:latin typeface="Space Mono"/>
              <a:ea typeface="Space Mono"/>
              <a:cs typeface="Space Mono"/>
            </a:endParaRPr>
          </a:p>
        </p:txBody>
      </p:sp>
      <p:sp>
        <p:nvSpPr>
          <p:cNvPr id="4" name="Text 2"/>
          <p:cNvSpPr txBox="1"/>
          <p:nvPr/>
        </p:nvSpPr>
        <p:spPr>
          <a:xfrm>
            <a:off x="502920" y="1417320"/>
            <a:ext cx="5029200" cy="274320"/>
          </a:xfrm>
          <a:prstGeom prst="rect">
            <a:avLst/>
          </a:prstGeom>
          <a:noFill/>
          <a:ln/>
        </p:spPr>
        <p:txBody>
          <a:bodyPr wrap="square" lIns="0" tIns="0" rIns="0" bIns="0" rtlCol="0" anchor="t"/>
          <a:lstStyle/>
          <a:p>
            <a:pPr marL="0" indent="0" algn="just">
              <a:buNone/>
            </a:pPr>
            <a:r>
              <a:rPr lang="en-US" sz="1000">
                <a:solidFill>
                  <a:srgbClr val="111111"/>
                </a:solidFill>
                <a:latin typeface="Plus Jakarta Sans" pitchFamily="34" charset="0"/>
                <a:ea typeface="Plus Jakarta Sans" pitchFamily="34" charset="-122"/>
                <a:cs typeface="Plus Jakarta Sans" pitchFamily="34" charset="-120"/>
              </a:rPr>
              <a:t>Il compito 1 ci aveva lasciato quattro dubbi. Ognuno è diventato un'attività del focus group.</a:t>
            </a:r>
            <a:endParaRPr lang="en-US" sz="1000">
              <a:latin typeface="Plus Jakarta Sans"/>
              <a:ea typeface="Plus Jakarta Sans"/>
              <a:cs typeface="Plus Jakarta Sans"/>
            </a:endParaRPr>
          </a:p>
        </p:txBody>
      </p:sp>
      <p:sp>
        <p:nvSpPr>
          <p:cNvPr id="5" name="Text 3"/>
          <p:cNvSpPr txBox="1"/>
          <p:nvPr/>
        </p:nvSpPr>
        <p:spPr>
          <a:xfrm>
            <a:off x="502920" y="1874520"/>
            <a:ext cx="457200" cy="502920"/>
          </a:xfrm>
          <a:prstGeom prst="rect">
            <a:avLst/>
          </a:prstGeom>
          <a:noFill/>
          <a:ln/>
        </p:spPr>
        <p:txBody>
          <a:bodyPr wrap="square" lIns="0" tIns="0" rIns="0" bIns="0" rtlCol="0" anchor="ctr"/>
          <a:lstStyle/>
          <a:p>
            <a:pPr marL="0" indent="0">
              <a:buNone/>
            </a:pPr>
            <a:r>
              <a:rPr lang="en-US" sz="1800" b="1">
                <a:solidFill>
                  <a:srgbClr val="1700E8"/>
                </a:solidFill>
                <a:latin typeface="Space Mono" pitchFamily="34" charset="0"/>
                <a:ea typeface="Space Mono" pitchFamily="34" charset="-122"/>
                <a:cs typeface="Space Mono" pitchFamily="34" charset="-120"/>
              </a:rPr>
              <a:t>01</a:t>
            </a:r>
            <a:endParaRPr lang="en-US" sz="1800">
              <a:latin typeface="Space Mono"/>
              <a:ea typeface="Space Mono"/>
              <a:cs typeface="Space Mono"/>
            </a:endParaRPr>
          </a:p>
        </p:txBody>
      </p:sp>
      <p:sp>
        <p:nvSpPr>
          <p:cNvPr id="6" name="Text 4"/>
          <p:cNvSpPr txBox="1"/>
          <p:nvPr/>
        </p:nvSpPr>
        <p:spPr>
          <a:xfrm>
            <a:off x="1051560" y="1892808"/>
            <a:ext cx="4480560" cy="502920"/>
          </a:xfrm>
          <a:prstGeom prst="rect">
            <a:avLst/>
          </a:prstGeom>
          <a:noFill/>
          <a:ln/>
        </p:spPr>
        <p:txBody>
          <a:bodyPr wrap="square" lIns="0" tIns="0" rIns="0" bIns="0" rtlCol="0" anchor="ctr"/>
          <a:lstStyle/>
          <a:p>
            <a:pPr marL="0" indent="0" algn="just">
              <a:buNone/>
            </a:pPr>
            <a:r>
              <a:rPr lang="en-US" sz="1000" b="1">
                <a:solidFill>
                  <a:srgbClr val="111111"/>
                </a:solidFill>
                <a:latin typeface="Plus Jakarta Sans" pitchFamily="34" charset="0"/>
                <a:ea typeface="Plus Jakarta Sans" pitchFamily="34" charset="-122"/>
                <a:cs typeface="Plus Jakarta Sans" pitchFamily="34" charset="-120"/>
              </a:rPr>
              <a:t>Si sentono capaci: ma lo sono davvero?</a:t>
            </a:r>
            <a:endParaRPr lang="en-US" sz="1000">
              <a:latin typeface="Plus Jakarta Sans"/>
              <a:ea typeface="Plus Jakarta Sans"/>
              <a:cs typeface="Plus Jakarta Sans"/>
            </a:endParaRPr>
          </a:p>
          <a:p>
            <a:pPr marL="0" indent="0" algn="just">
              <a:buNone/>
            </a:pPr>
            <a:r>
              <a:rPr lang="en-US" sz="850">
                <a:solidFill>
                  <a:srgbClr val="6B6B78"/>
                </a:solidFill>
                <a:latin typeface="Plus Jakarta Sans" pitchFamily="34" charset="0"/>
                <a:ea typeface="Plus Jakarta Sans" pitchFamily="34" charset="-122"/>
                <a:cs typeface="Plus Jakarta Sans" pitchFamily="34" charset="-120"/>
              </a:rPr>
              <a:t>misurare la competenza reale, non quella dichiarata</a:t>
            </a:r>
            <a:endParaRPr lang="en-US" sz="1000">
              <a:latin typeface="Plus Jakarta Sans"/>
              <a:ea typeface="Plus Jakarta Sans"/>
              <a:cs typeface="Plus Jakarta Sans"/>
            </a:endParaRPr>
          </a:p>
        </p:txBody>
      </p:sp>
      <p:sp>
        <p:nvSpPr>
          <p:cNvPr id="7" name="Shape 5"/>
          <p:cNvSpPr/>
          <p:nvPr/>
        </p:nvSpPr>
        <p:spPr>
          <a:xfrm>
            <a:off x="5669280" y="2130552"/>
            <a:ext cx="502920" cy="0"/>
          </a:xfrm>
          <a:prstGeom prst="line">
            <a:avLst/>
          </a:prstGeom>
          <a:noFill/>
          <a:ln w="15875">
            <a:solidFill>
              <a:srgbClr val="E71224"/>
            </a:solidFill>
            <a:prstDash val="solid"/>
            <a:tailEnd type="triangle"/>
          </a:ln>
        </p:spPr>
        <p:txBody>
          <a:bodyPr/>
          <a:lstStyle/>
          <a:p>
            <a:endParaRPr lang="it-IT"/>
          </a:p>
        </p:txBody>
      </p:sp>
      <p:sp>
        <p:nvSpPr>
          <p:cNvPr id="8" name="Shape 6"/>
          <p:cNvSpPr/>
          <p:nvPr/>
        </p:nvSpPr>
        <p:spPr>
          <a:xfrm>
            <a:off x="6309360" y="2002536"/>
            <a:ext cx="256032" cy="256032"/>
          </a:xfrm>
          <a:prstGeom prst="ellipse">
            <a:avLst/>
          </a:prstGeom>
          <a:solidFill>
            <a:srgbClr val="1700E8"/>
          </a:solidFill>
          <a:ln w="12700">
            <a:solidFill>
              <a:srgbClr val="1700E8"/>
            </a:solidFill>
            <a:prstDash val="solid"/>
          </a:ln>
        </p:spPr>
        <p:txBody>
          <a:bodyPr/>
          <a:lstStyle/>
          <a:p>
            <a:endParaRPr lang="it-IT"/>
          </a:p>
        </p:txBody>
      </p:sp>
      <p:pic>
        <p:nvPicPr>
          <p:cNvPr id="9" name="Image 0" descr="/home/claude/ppt/build/icons/image_w.png"/>
          <p:cNvPicPr>
            <a:picLocks noChangeAspect="1"/>
          </p:cNvPicPr>
          <p:nvPr/>
        </p:nvPicPr>
        <p:blipFill>
          <a:blip r:embed="rId2"/>
          <a:stretch>
            <a:fillRect/>
          </a:stretch>
        </p:blipFill>
        <p:spPr>
          <a:xfrm>
            <a:off x="6378489" y="2071665"/>
            <a:ext cx="117775" cy="117775"/>
          </a:xfrm>
          <a:prstGeom prst="rect">
            <a:avLst/>
          </a:prstGeom>
        </p:spPr>
      </p:pic>
      <p:sp>
        <p:nvSpPr>
          <p:cNvPr id="10" name="Text 7"/>
          <p:cNvSpPr txBox="1"/>
          <p:nvPr/>
        </p:nvSpPr>
        <p:spPr>
          <a:xfrm>
            <a:off x="6647688" y="2002536"/>
            <a:ext cx="2011680" cy="256032"/>
          </a:xfrm>
          <a:prstGeom prst="rect">
            <a:avLst/>
          </a:prstGeom>
          <a:noFill/>
          <a:ln/>
        </p:spPr>
        <p:txBody>
          <a:bodyPr wrap="square" lIns="0" tIns="0" rIns="0" bIns="0" rtlCol="0" anchor="ctr"/>
          <a:lstStyle/>
          <a:p>
            <a:r>
              <a:rPr lang="en-US" sz="950" b="1">
                <a:solidFill>
                  <a:srgbClr val="1700E8"/>
                </a:solidFill>
                <a:latin typeface="Space Mono"/>
                <a:ea typeface="Space Mono"/>
                <a:cs typeface="Space Mono" pitchFamily="34" charset="-120"/>
              </a:rPr>
              <a:t>AI-made test</a:t>
            </a:r>
            <a:r>
              <a:rPr lang="en-US" sz="950" b="1">
                <a:solidFill>
                  <a:srgbClr val="1700E8"/>
                </a:solidFill>
                <a:latin typeface="Microsoft JhengHei"/>
                <a:ea typeface="Space Mono"/>
                <a:cs typeface="Space Mono" pitchFamily="34" charset="-120"/>
              </a:rPr>
              <a:t> </a:t>
            </a:r>
            <a:r>
              <a:rPr lang="en-US" sz="1000" b="1">
                <a:solidFill>
                  <a:srgbClr val="1700E8"/>
                </a:solidFill>
                <a:latin typeface="Microsoft JhengHei"/>
                <a:ea typeface="Microsoft JhengHei"/>
                <a:cs typeface="Space Mono" pitchFamily="34" charset="-120"/>
              </a:rPr>
              <a:t>· TR1</a:t>
            </a:r>
            <a:endParaRPr lang="en-US" sz="950">
              <a:latin typeface="Space Mono"/>
              <a:ea typeface="Space Mono"/>
              <a:cs typeface="Space Mono"/>
            </a:endParaRPr>
          </a:p>
        </p:txBody>
      </p:sp>
      <p:sp>
        <p:nvSpPr>
          <p:cNvPr id="11" name="Text 8"/>
          <p:cNvSpPr txBox="1"/>
          <p:nvPr/>
        </p:nvSpPr>
        <p:spPr>
          <a:xfrm>
            <a:off x="502920" y="2542032"/>
            <a:ext cx="457200" cy="502920"/>
          </a:xfrm>
          <a:prstGeom prst="rect">
            <a:avLst/>
          </a:prstGeom>
          <a:noFill/>
          <a:ln/>
        </p:spPr>
        <p:txBody>
          <a:bodyPr wrap="square" lIns="0" tIns="0" rIns="0" bIns="0" rtlCol="0" anchor="ctr"/>
          <a:lstStyle/>
          <a:p>
            <a:pPr marL="0" indent="0">
              <a:buNone/>
            </a:pPr>
            <a:r>
              <a:rPr lang="en-US" sz="1800" b="1">
                <a:solidFill>
                  <a:srgbClr val="E71224"/>
                </a:solidFill>
                <a:latin typeface="Space Mono" pitchFamily="34" charset="0"/>
                <a:ea typeface="Space Mono" pitchFamily="34" charset="-122"/>
                <a:cs typeface="Space Mono" pitchFamily="34" charset="-120"/>
              </a:rPr>
              <a:t>02</a:t>
            </a:r>
            <a:endParaRPr lang="en-US" sz="1800">
              <a:latin typeface="Space Mono"/>
              <a:ea typeface="Space Mono"/>
              <a:cs typeface="Space Mono"/>
            </a:endParaRPr>
          </a:p>
        </p:txBody>
      </p:sp>
      <p:sp>
        <p:nvSpPr>
          <p:cNvPr id="12" name="Text 9"/>
          <p:cNvSpPr txBox="1"/>
          <p:nvPr/>
        </p:nvSpPr>
        <p:spPr>
          <a:xfrm>
            <a:off x="1051560" y="2560320"/>
            <a:ext cx="4480560" cy="502920"/>
          </a:xfrm>
          <a:prstGeom prst="rect">
            <a:avLst/>
          </a:prstGeom>
          <a:noFill/>
          <a:ln/>
        </p:spPr>
        <p:txBody>
          <a:bodyPr wrap="square" lIns="0" tIns="0" rIns="0" bIns="0" rtlCol="0" anchor="ctr"/>
          <a:lstStyle/>
          <a:p>
            <a:pPr algn="just"/>
            <a:r>
              <a:rPr lang="en-US" sz="1000" b="1">
                <a:solidFill>
                  <a:srgbClr val="111111"/>
                </a:solidFill>
                <a:latin typeface="Plus Jakarta Sans"/>
                <a:ea typeface="Plus Jakarta Sans"/>
                <a:cs typeface="Plus Jakarta Sans" pitchFamily="34" charset="-120"/>
              </a:rPr>
              <a:t>Da quale messaggio scatta l'allarme? È semplicemente uno scherzo?</a:t>
            </a:r>
            <a:endParaRPr lang="en-US" sz="1000" u="sng">
              <a:latin typeface="Plus Jakarta Sans"/>
              <a:ea typeface="Plus Jakarta Sans"/>
              <a:cs typeface="Plus Jakarta Sans"/>
            </a:endParaRPr>
          </a:p>
          <a:p>
            <a:pPr marL="0" indent="0" algn="just">
              <a:buNone/>
            </a:pPr>
            <a:r>
              <a:rPr lang="en-US" sz="850" err="1">
                <a:solidFill>
                  <a:srgbClr val="6B6B78"/>
                </a:solidFill>
                <a:latin typeface="Plus Jakarta Sans" pitchFamily="34" charset="0"/>
                <a:ea typeface="Plus Jakarta Sans"/>
                <a:cs typeface="Plus Jakarta Sans" pitchFamily="34" charset="-120"/>
              </a:rPr>
              <a:t>nel</a:t>
            </a:r>
            <a:r>
              <a:rPr lang="en-US" sz="850">
                <a:solidFill>
                  <a:srgbClr val="6B6B78"/>
                </a:solidFill>
                <a:latin typeface="Plus Jakarta Sans" pitchFamily="34" charset="0"/>
                <a:ea typeface="Plus Jakarta Sans"/>
                <a:cs typeface="Plus Jakarta Sans" pitchFamily="34" charset="-120"/>
              </a:rPr>
              <a:t> </a:t>
            </a:r>
            <a:r>
              <a:rPr lang="en-US" sz="850" err="1">
                <a:solidFill>
                  <a:srgbClr val="6B6B78"/>
                </a:solidFill>
                <a:latin typeface="Plus Jakarta Sans" pitchFamily="34" charset="0"/>
                <a:ea typeface="Plus Jakarta Sans"/>
                <a:cs typeface="Plus Jakarta Sans" pitchFamily="34" charset="-120"/>
              </a:rPr>
              <a:t>compito</a:t>
            </a:r>
            <a:r>
              <a:rPr lang="en-US" sz="850">
                <a:solidFill>
                  <a:srgbClr val="6B6B78"/>
                </a:solidFill>
                <a:latin typeface="Plus Jakarta Sans" pitchFamily="34" charset="0"/>
                <a:ea typeface="Plus Jakarta Sans"/>
                <a:cs typeface="Plus Jakarta Sans" pitchFamily="34" charset="-120"/>
              </a:rPr>
              <a:t> 1 le </a:t>
            </a:r>
            <a:r>
              <a:rPr lang="en-US" sz="850" err="1">
                <a:solidFill>
                  <a:srgbClr val="6B6B78"/>
                </a:solidFill>
                <a:latin typeface="Plus Jakarta Sans" pitchFamily="34" charset="0"/>
                <a:ea typeface="Plus Jakarta Sans"/>
                <a:cs typeface="Plus Jakarta Sans" pitchFamily="34" charset="-120"/>
              </a:rPr>
              <a:t>ragazze</a:t>
            </a:r>
            <a:r>
              <a:rPr lang="en-US" sz="850">
                <a:solidFill>
                  <a:srgbClr val="6B6B78"/>
                </a:solidFill>
                <a:latin typeface="Plus Jakarta Sans" pitchFamily="34" charset="0"/>
                <a:ea typeface="Plus Jakarta Sans"/>
                <a:cs typeface="Plus Jakarta Sans" pitchFamily="34" charset="-120"/>
              </a:rPr>
              <a:t> non </a:t>
            </a:r>
            <a:r>
              <a:rPr lang="en-US" sz="850" err="1">
                <a:solidFill>
                  <a:srgbClr val="6B6B78"/>
                </a:solidFill>
                <a:latin typeface="Plus Jakarta Sans" pitchFamily="34" charset="0"/>
                <a:ea typeface="Plus Jakarta Sans"/>
                <a:cs typeface="Plus Jakarta Sans" pitchFamily="34" charset="-120"/>
              </a:rPr>
              <a:t>concordavano</a:t>
            </a:r>
            <a:r>
              <a:rPr lang="en-US" sz="850">
                <a:solidFill>
                  <a:srgbClr val="6B6B78"/>
                </a:solidFill>
                <a:latin typeface="Plus Jakarta Sans" pitchFamily="34" charset="0"/>
                <a:ea typeface="Plus Jakarta Sans"/>
                <a:cs typeface="Plus Jakarta Sans" pitchFamily="34" charset="-120"/>
              </a:rPr>
              <a:t> </a:t>
            </a:r>
            <a:r>
              <a:rPr lang="en-US" sz="850" err="1">
                <a:solidFill>
                  <a:srgbClr val="6B6B78"/>
                </a:solidFill>
                <a:latin typeface="Plus Jakarta Sans" pitchFamily="34" charset="0"/>
                <a:ea typeface="Plus Jakarta Sans"/>
                <a:cs typeface="Plus Jakarta Sans" pitchFamily="34" charset="-120"/>
              </a:rPr>
              <a:t>sul</a:t>
            </a:r>
            <a:r>
              <a:rPr lang="en-US" sz="850">
                <a:solidFill>
                  <a:srgbClr val="6B6B78"/>
                </a:solidFill>
                <a:latin typeface="Plus Jakarta Sans" pitchFamily="34" charset="0"/>
                <a:ea typeface="Plus Jakarta Sans"/>
                <a:cs typeface="Plus Jakarta Sans" pitchFamily="34" charset="-120"/>
              </a:rPr>
              <a:t> </a:t>
            </a:r>
            <a:r>
              <a:rPr lang="en-US" sz="850" err="1">
                <a:solidFill>
                  <a:srgbClr val="6B6B78"/>
                </a:solidFill>
                <a:latin typeface="Plus Jakarta Sans" pitchFamily="34" charset="0"/>
                <a:ea typeface="Plus Jakarta Sans"/>
                <a:cs typeface="Plus Jakarta Sans" pitchFamily="34" charset="-120"/>
              </a:rPr>
              <a:t>momento</a:t>
            </a:r>
            <a:endParaRPr lang="en-US" sz="1000" err="1">
              <a:latin typeface="Plus Jakarta Sans"/>
              <a:ea typeface="Plus Jakarta Sans"/>
              <a:cs typeface="Plus Jakarta Sans"/>
            </a:endParaRPr>
          </a:p>
        </p:txBody>
      </p:sp>
      <p:sp>
        <p:nvSpPr>
          <p:cNvPr id="13" name="Shape 10"/>
          <p:cNvSpPr/>
          <p:nvPr/>
        </p:nvSpPr>
        <p:spPr>
          <a:xfrm>
            <a:off x="5669280" y="2798064"/>
            <a:ext cx="502920" cy="0"/>
          </a:xfrm>
          <a:prstGeom prst="line">
            <a:avLst/>
          </a:prstGeom>
          <a:noFill/>
          <a:ln w="15875">
            <a:solidFill>
              <a:srgbClr val="E71224"/>
            </a:solidFill>
            <a:prstDash val="solid"/>
            <a:tailEnd type="triangle"/>
          </a:ln>
        </p:spPr>
        <p:txBody>
          <a:bodyPr/>
          <a:lstStyle/>
          <a:p>
            <a:endParaRPr lang="it-IT"/>
          </a:p>
        </p:txBody>
      </p:sp>
      <p:sp>
        <p:nvSpPr>
          <p:cNvPr id="14" name="Shape 11"/>
          <p:cNvSpPr/>
          <p:nvPr/>
        </p:nvSpPr>
        <p:spPr>
          <a:xfrm>
            <a:off x="6309360" y="2670048"/>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5" name="Image 1" descr="/home/claude/ppt/build/icons/chat_w.png"/>
          <p:cNvPicPr>
            <a:picLocks noChangeAspect="1"/>
          </p:cNvPicPr>
          <p:nvPr/>
        </p:nvPicPr>
        <p:blipFill>
          <a:blip r:embed="rId3"/>
          <a:stretch>
            <a:fillRect/>
          </a:stretch>
        </p:blipFill>
        <p:spPr>
          <a:xfrm>
            <a:off x="6378489" y="2739177"/>
            <a:ext cx="117775" cy="117775"/>
          </a:xfrm>
          <a:prstGeom prst="rect">
            <a:avLst/>
          </a:prstGeom>
        </p:spPr>
      </p:pic>
      <p:sp>
        <p:nvSpPr>
          <p:cNvPr id="16" name="Text 12"/>
          <p:cNvSpPr txBox="1"/>
          <p:nvPr/>
        </p:nvSpPr>
        <p:spPr>
          <a:xfrm>
            <a:off x="6647688" y="2759113"/>
            <a:ext cx="2011680" cy="256032"/>
          </a:xfrm>
          <a:prstGeom prst="rect">
            <a:avLst/>
          </a:prstGeom>
          <a:noFill/>
          <a:ln/>
        </p:spPr>
        <p:txBody>
          <a:bodyPr wrap="square" lIns="0" tIns="0" rIns="0" bIns="0" rtlCol="0" anchor="ctr"/>
          <a:lstStyle/>
          <a:p>
            <a:r>
              <a:rPr lang="en-US" sz="950" b="1">
                <a:solidFill>
                  <a:srgbClr val="1700E8"/>
                </a:solidFill>
                <a:latin typeface="Space Mono"/>
                <a:ea typeface="Space Mono"/>
                <a:cs typeface="Space Mono" pitchFamily="34" charset="-120"/>
              </a:rPr>
              <a:t>chat analysis </a:t>
            </a:r>
            <a:r>
              <a:rPr lang="en-US" sz="1000" b="1">
                <a:solidFill>
                  <a:srgbClr val="1700E8"/>
                </a:solidFill>
                <a:latin typeface="Microsoft JhengHei"/>
                <a:ea typeface="Microsoft JhengHei"/>
                <a:cs typeface="Space Mono" pitchFamily="34" charset="-120"/>
              </a:rPr>
              <a:t>· TR2</a:t>
            </a:r>
            <a:endParaRPr lang="en-US" sz="950">
              <a:latin typeface="Space Mono"/>
              <a:ea typeface="Space Mono"/>
              <a:cs typeface="Space Mono"/>
            </a:endParaRPr>
          </a:p>
        </p:txBody>
      </p:sp>
      <p:sp>
        <p:nvSpPr>
          <p:cNvPr id="17" name="Text 13"/>
          <p:cNvSpPr txBox="1"/>
          <p:nvPr/>
        </p:nvSpPr>
        <p:spPr>
          <a:xfrm>
            <a:off x="502920" y="3209544"/>
            <a:ext cx="457200" cy="502920"/>
          </a:xfrm>
          <a:prstGeom prst="rect">
            <a:avLst/>
          </a:prstGeom>
          <a:noFill/>
          <a:ln/>
        </p:spPr>
        <p:txBody>
          <a:bodyPr wrap="square" lIns="0" tIns="0" rIns="0" bIns="0" rtlCol="0" anchor="ctr"/>
          <a:lstStyle/>
          <a:p>
            <a:pPr marL="0" indent="0">
              <a:buNone/>
            </a:pPr>
            <a:r>
              <a:rPr lang="en-US" sz="1800" b="1">
                <a:solidFill>
                  <a:srgbClr val="1700E8"/>
                </a:solidFill>
                <a:latin typeface="Space Mono" pitchFamily="34" charset="0"/>
                <a:ea typeface="Space Mono" pitchFamily="34" charset="-122"/>
                <a:cs typeface="Space Mono" pitchFamily="34" charset="-120"/>
              </a:rPr>
              <a:t>03</a:t>
            </a:r>
            <a:endParaRPr lang="en-US" sz="1800">
              <a:latin typeface="Space Mono"/>
              <a:ea typeface="Space Mono"/>
              <a:cs typeface="Space Mono"/>
            </a:endParaRPr>
          </a:p>
        </p:txBody>
      </p:sp>
      <p:sp>
        <p:nvSpPr>
          <p:cNvPr id="18" name="Text 14"/>
          <p:cNvSpPr txBox="1"/>
          <p:nvPr/>
        </p:nvSpPr>
        <p:spPr>
          <a:xfrm>
            <a:off x="1051560" y="3227832"/>
            <a:ext cx="4480560" cy="502920"/>
          </a:xfrm>
          <a:prstGeom prst="rect">
            <a:avLst/>
          </a:prstGeom>
          <a:noFill/>
          <a:ln/>
        </p:spPr>
        <p:txBody>
          <a:bodyPr wrap="square" lIns="0" tIns="0" rIns="0" bIns="0" rtlCol="0" anchor="ctr"/>
          <a:lstStyle/>
          <a:p>
            <a:pPr marL="0" indent="0" algn="just">
              <a:buNone/>
            </a:pPr>
            <a:r>
              <a:rPr lang="en-US" sz="1000" b="1">
                <a:solidFill>
                  <a:srgbClr val="111111"/>
                </a:solidFill>
                <a:latin typeface="Plus Jakarta Sans" pitchFamily="34" charset="0"/>
                <a:ea typeface="Plus Jakarta Sans" pitchFamily="34" charset="-122"/>
                <a:cs typeface="Plus Jakarta Sans" pitchFamily="34" charset="-120"/>
              </a:rPr>
              <a:t>Leggerebbero le esperienze altrui senza raccontare le proprie?</a:t>
            </a:r>
            <a:endParaRPr lang="en-US" sz="1000">
              <a:latin typeface="Plus Jakarta Sans"/>
              <a:ea typeface="Plus Jakarta Sans"/>
              <a:cs typeface="Plus Jakarta Sans"/>
            </a:endParaRPr>
          </a:p>
          <a:p>
            <a:pPr marL="0" indent="0" algn="just">
              <a:buNone/>
            </a:pPr>
            <a:r>
              <a:rPr lang="en-US" sz="850">
                <a:solidFill>
                  <a:srgbClr val="6B6B78"/>
                </a:solidFill>
                <a:latin typeface="Plus Jakarta Sans" pitchFamily="34" charset="0"/>
                <a:ea typeface="Plus Jakarta Sans" pitchFamily="34" charset="-122"/>
                <a:cs typeface="Plus Jakarta Sans" pitchFamily="34" charset="-120"/>
              </a:rPr>
              <a:t>il forum anonimo era un'idea nostra, da validare</a:t>
            </a:r>
            <a:endParaRPr lang="en-US" sz="1000">
              <a:latin typeface="Plus Jakarta Sans"/>
              <a:ea typeface="Plus Jakarta Sans"/>
              <a:cs typeface="Plus Jakarta Sans"/>
            </a:endParaRPr>
          </a:p>
        </p:txBody>
      </p:sp>
      <p:sp>
        <p:nvSpPr>
          <p:cNvPr id="19" name="Shape 15"/>
          <p:cNvSpPr/>
          <p:nvPr/>
        </p:nvSpPr>
        <p:spPr>
          <a:xfrm>
            <a:off x="5669280" y="3465576"/>
            <a:ext cx="502920" cy="0"/>
          </a:xfrm>
          <a:prstGeom prst="line">
            <a:avLst/>
          </a:prstGeom>
          <a:noFill/>
          <a:ln w="15875">
            <a:solidFill>
              <a:srgbClr val="E71224"/>
            </a:solidFill>
            <a:prstDash val="solid"/>
            <a:tailEnd type="triangle"/>
          </a:ln>
        </p:spPr>
        <p:txBody>
          <a:bodyPr/>
          <a:lstStyle/>
          <a:p>
            <a:endParaRPr lang="it-IT"/>
          </a:p>
        </p:txBody>
      </p:sp>
      <p:sp>
        <p:nvSpPr>
          <p:cNvPr id="20" name="Shape 16"/>
          <p:cNvSpPr/>
          <p:nvPr/>
        </p:nvSpPr>
        <p:spPr>
          <a:xfrm>
            <a:off x="6309360" y="3337560"/>
            <a:ext cx="256032" cy="256032"/>
          </a:xfrm>
          <a:prstGeom prst="ellipse">
            <a:avLst/>
          </a:prstGeom>
          <a:solidFill>
            <a:srgbClr val="1700E8"/>
          </a:solidFill>
          <a:ln w="12700">
            <a:solidFill>
              <a:srgbClr val="1700E8"/>
            </a:solidFill>
            <a:prstDash val="solid"/>
          </a:ln>
        </p:spPr>
        <p:txBody>
          <a:bodyPr/>
          <a:lstStyle/>
          <a:p>
            <a:endParaRPr lang="it-IT"/>
          </a:p>
        </p:txBody>
      </p:sp>
      <p:pic>
        <p:nvPicPr>
          <p:cNvPr id="21" name="Image 2" descr="/home/claude/ppt/build/icons/users_w.png"/>
          <p:cNvPicPr>
            <a:picLocks noChangeAspect="1"/>
          </p:cNvPicPr>
          <p:nvPr/>
        </p:nvPicPr>
        <p:blipFill>
          <a:blip r:embed="rId4"/>
          <a:stretch>
            <a:fillRect/>
          </a:stretch>
        </p:blipFill>
        <p:spPr>
          <a:xfrm>
            <a:off x="6378489" y="3406689"/>
            <a:ext cx="117775" cy="117775"/>
          </a:xfrm>
          <a:prstGeom prst="rect">
            <a:avLst/>
          </a:prstGeom>
        </p:spPr>
      </p:pic>
      <p:sp>
        <p:nvSpPr>
          <p:cNvPr id="22" name="Text 17"/>
          <p:cNvSpPr txBox="1"/>
          <p:nvPr/>
        </p:nvSpPr>
        <p:spPr>
          <a:xfrm>
            <a:off x="6647688" y="3337560"/>
            <a:ext cx="2011680" cy="256032"/>
          </a:xfrm>
          <a:prstGeom prst="rect">
            <a:avLst/>
          </a:prstGeom>
          <a:noFill/>
          <a:ln/>
        </p:spPr>
        <p:txBody>
          <a:bodyPr wrap="square" lIns="0" tIns="0" rIns="0" bIns="0" rtlCol="0" anchor="ctr"/>
          <a:lstStyle/>
          <a:p>
            <a:pPr marL="0" indent="0">
              <a:buNone/>
            </a:pPr>
            <a:r>
              <a:rPr lang="en-US" sz="950" b="1">
                <a:solidFill>
                  <a:srgbClr val="1700E8"/>
                </a:solidFill>
                <a:latin typeface="Space Mono" pitchFamily="34" charset="0"/>
                <a:ea typeface="Space Mono" pitchFamily="34" charset="-122"/>
                <a:cs typeface="Space Mono" pitchFamily="34" charset="-120"/>
              </a:rPr>
              <a:t>focus group · TR3</a:t>
            </a:r>
            <a:endParaRPr lang="en-US" sz="950">
              <a:latin typeface="Space Mono"/>
              <a:ea typeface="Space Mono"/>
              <a:cs typeface="Space Mono"/>
            </a:endParaRPr>
          </a:p>
        </p:txBody>
      </p:sp>
      <p:sp>
        <p:nvSpPr>
          <p:cNvPr id="23" name="Text 18"/>
          <p:cNvSpPr txBox="1"/>
          <p:nvPr/>
        </p:nvSpPr>
        <p:spPr>
          <a:xfrm>
            <a:off x="502920" y="3877056"/>
            <a:ext cx="457200" cy="502920"/>
          </a:xfrm>
          <a:prstGeom prst="rect">
            <a:avLst/>
          </a:prstGeom>
          <a:noFill/>
          <a:ln/>
        </p:spPr>
        <p:txBody>
          <a:bodyPr wrap="square" lIns="0" tIns="0" rIns="0" bIns="0" rtlCol="0" anchor="ctr"/>
          <a:lstStyle/>
          <a:p>
            <a:pPr marL="0" indent="0">
              <a:buNone/>
            </a:pPr>
            <a:r>
              <a:rPr lang="en-US" sz="1800" b="1">
                <a:solidFill>
                  <a:srgbClr val="E71224"/>
                </a:solidFill>
                <a:latin typeface="Space Mono" pitchFamily="34" charset="0"/>
                <a:ea typeface="Space Mono" pitchFamily="34" charset="-122"/>
                <a:cs typeface="Space Mono" pitchFamily="34" charset="-120"/>
              </a:rPr>
              <a:t>04</a:t>
            </a:r>
            <a:endParaRPr lang="en-US" sz="1800">
              <a:latin typeface="Space Mono"/>
              <a:ea typeface="Space Mono"/>
              <a:cs typeface="Space Mono"/>
            </a:endParaRPr>
          </a:p>
        </p:txBody>
      </p:sp>
      <p:sp>
        <p:nvSpPr>
          <p:cNvPr id="24" name="Text 19"/>
          <p:cNvSpPr txBox="1"/>
          <p:nvPr/>
        </p:nvSpPr>
        <p:spPr>
          <a:xfrm>
            <a:off x="1051560" y="3895344"/>
            <a:ext cx="4480560" cy="502920"/>
          </a:xfrm>
          <a:prstGeom prst="rect">
            <a:avLst/>
          </a:prstGeom>
          <a:noFill/>
          <a:ln/>
        </p:spPr>
        <p:txBody>
          <a:bodyPr wrap="square" lIns="0" tIns="0" rIns="0" bIns="0" rtlCol="0" anchor="ctr"/>
          <a:lstStyle/>
          <a:p>
            <a:pPr algn="just"/>
            <a:r>
              <a:rPr lang="en-US" sz="1000" b="1">
                <a:solidFill>
                  <a:srgbClr val="111111"/>
                </a:solidFill>
                <a:latin typeface="Plus Jakarta Sans"/>
                <a:ea typeface="Plus Jakarta Sans"/>
                <a:cs typeface="Plus Jakarta Sans"/>
              </a:rPr>
              <a:t>Quando </a:t>
            </a:r>
            <a:r>
              <a:rPr lang="en-US" sz="1000" b="1" err="1">
                <a:solidFill>
                  <a:srgbClr val="111111"/>
                </a:solidFill>
                <a:latin typeface="Plus Jakarta Sans"/>
                <a:ea typeface="Plus Jakarta Sans"/>
                <a:cs typeface="Plus Jakarta Sans"/>
              </a:rPr>
              <a:t>notano</a:t>
            </a:r>
            <a:r>
              <a:rPr lang="en-US" sz="1000" b="1">
                <a:solidFill>
                  <a:srgbClr val="111111"/>
                </a:solidFill>
                <a:latin typeface="Plus Jakarta Sans"/>
                <a:ea typeface="Plus Jakarta Sans"/>
                <a:cs typeface="Plus Jakarta Sans"/>
              </a:rPr>
              <a:t> il </a:t>
            </a:r>
            <a:r>
              <a:rPr lang="en-US" sz="1000" b="1" err="1">
                <a:solidFill>
                  <a:srgbClr val="111111"/>
                </a:solidFill>
                <a:latin typeface="Plus Jakarta Sans"/>
                <a:ea typeface="Plus Jakarta Sans"/>
                <a:cs typeface="Plus Jakarta Sans"/>
              </a:rPr>
              <a:t>pericolo</a:t>
            </a:r>
            <a:r>
              <a:rPr lang="en-US" sz="1000" b="1">
                <a:solidFill>
                  <a:srgbClr val="111111"/>
                </a:solidFill>
                <a:latin typeface="Plus Jakarta Sans"/>
                <a:ea typeface="Plus Jakarta Sans"/>
                <a:cs typeface="Plus Jakarta Sans"/>
              </a:rPr>
              <a:t>, </a:t>
            </a:r>
            <a:r>
              <a:rPr lang="en-US" sz="1000" b="1" err="1">
                <a:solidFill>
                  <a:srgbClr val="111111"/>
                </a:solidFill>
                <a:latin typeface="Plus Jakarta Sans"/>
                <a:ea typeface="Plus Jakarta Sans"/>
                <a:cs typeface="Plus Jakarta Sans"/>
              </a:rPr>
              <a:t>chiedono</a:t>
            </a:r>
            <a:r>
              <a:rPr lang="en-US" sz="1000" b="1">
                <a:solidFill>
                  <a:srgbClr val="111111"/>
                </a:solidFill>
                <a:latin typeface="Plus Jakarta Sans"/>
                <a:ea typeface="Plus Jakarta Sans"/>
                <a:cs typeface="Plus Jakarta Sans"/>
              </a:rPr>
              <a:t> </a:t>
            </a:r>
            <a:r>
              <a:rPr lang="en-US" sz="1000" b="1" err="1">
                <a:solidFill>
                  <a:srgbClr val="111111"/>
                </a:solidFill>
                <a:latin typeface="Plus Jakarta Sans"/>
                <a:ea typeface="Plus Jakarta Sans"/>
                <a:cs typeface="Plus Jakarta Sans"/>
              </a:rPr>
              <a:t>aiuto</a:t>
            </a:r>
            <a:r>
              <a:rPr lang="en-US" sz="1000" b="1">
                <a:solidFill>
                  <a:srgbClr val="111111"/>
                </a:solidFill>
                <a:latin typeface="Plus Jakarta Sans"/>
                <a:ea typeface="Plus Jakarta Sans"/>
                <a:cs typeface="Plus Jakarta Sans"/>
              </a:rPr>
              <a:t>? Si </a:t>
            </a:r>
            <a:r>
              <a:rPr lang="en-US" sz="1000" b="1" err="1">
                <a:solidFill>
                  <a:srgbClr val="111111"/>
                </a:solidFill>
                <a:latin typeface="Plus Jakarta Sans"/>
                <a:ea typeface="Plus Jakarta Sans"/>
                <a:cs typeface="Plus Jakarta Sans"/>
              </a:rPr>
              <a:t>rivolgono</a:t>
            </a:r>
            <a:r>
              <a:rPr lang="en-US" sz="1000" b="1">
                <a:solidFill>
                  <a:srgbClr val="111111"/>
                </a:solidFill>
                <a:latin typeface="Plus Jakarta Sans"/>
                <a:ea typeface="Plus Jakarta Sans"/>
                <a:cs typeface="Plus Jakarta Sans"/>
              </a:rPr>
              <a:t> ai </a:t>
            </a:r>
            <a:r>
              <a:rPr lang="en-US" sz="1000" b="1" err="1">
                <a:solidFill>
                  <a:srgbClr val="111111"/>
                </a:solidFill>
                <a:latin typeface="Plus Jakarta Sans"/>
                <a:ea typeface="Plus Jakarta Sans"/>
                <a:cs typeface="Plus Jakarta Sans"/>
              </a:rPr>
              <a:t>genitori</a:t>
            </a:r>
            <a:r>
              <a:rPr lang="en-US" sz="1000" b="1">
                <a:solidFill>
                  <a:srgbClr val="111111"/>
                </a:solidFill>
                <a:latin typeface="Plus Jakarta Sans"/>
                <a:ea typeface="Plus Jakarta Sans"/>
                <a:cs typeface="Plus Jakarta Sans"/>
              </a:rPr>
              <a:t>?</a:t>
            </a:r>
            <a:endParaRPr lang="it-IT">
              <a:latin typeface="Plus Jakarta Sans"/>
              <a:ea typeface="Plus Jakarta Sans"/>
              <a:cs typeface="Plus Jakarta Sans"/>
            </a:endParaRPr>
          </a:p>
          <a:p>
            <a:pPr marL="0" indent="0" algn="just">
              <a:buNone/>
            </a:pPr>
            <a:r>
              <a:rPr lang="en-US" sz="850">
                <a:solidFill>
                  <a:srgbClr val="6B6B78"/>
                </a:solidFill>
                <a:latin typeface="Plus Jakarta Sans"/>
                <a:ea typeface="Plus Jakarta Sans"/>
                <a:cs typeface="Plus Jakarta Sans" pitchFamily="34" charset="-120"/>
              </a:rPr>
              <a:t>serve un </a:t>
            </a:r>
            <a:r>
              <a:rPr lang="en-US" sz="850" err="1">
                <a:solidFill>
                  <a:srgbClr val="6B6B78"/>
                </a:solidFill>
                <a:latin typeface="Plus Jakarta Sans"/>
                <a:ea typeface="Plus Jakarta Sans"/>
                <a:cs typeface="Plus Jakarta Sans" pitchFamily="34" charset="-120"/>
              </a:rPr>
              <a:t>percorso</a:t>
            </a:r>
            <a:r>
              <a:rPr lang="en-US" sz="850">
                <a:solidFill>
                  <a:srgbClr val="6B6B78"/>
                </a:solidFill>
                <a:latin typeface="Plus Jakarta Sans"/>
                <a:ea typeface="Plus Jakarta Sans"/>
                <a:cs typeface="Plus Jakarta Sans" pitchFamily="34" charset="-120"/>
              </a:rPr>
              <a:t> </a:t>
            </a:r>
            <a:r>
              <a:rPr lang="en-US" sz="850" err="1">
                <a:solidFill>
                  <a:srgbClr val="6B6B78"/>
                </a:solidFill>
                <a:latin typeface="Plus Jakarta Sans"/>
                <a:ea typeface="Plus Jakarta Sans"/>
                <a:cs typeface="Plus Jakarta Sans" pitchFamily="34" charset="-120"/>
              </a:rPr>
              <a:t>graduale</a:t>
            </a:r>
            <a:r>
              <a:rPr lang="en-US" sz="850">
                <a:solidFill>
                  <a:srgbClr val="6B6B78"/>
                </a:solidFill>
                <a:latin typeface="Plus Jakarta Sans"/>
                <a:ea typeface="Plus Jakarta Sans"/>
                <a:cs typeface="Plus Jakarta Sans" pitchFamily="34" charset="-120"/>
              </a:rPr>
              <a:t>? un tutor?</a:t>
            </a:r>
            <a:endParaRPr lang="en-US" sz="1000">
              <a:latin typeface="Plus Jakarta Sans"/>
              <a:ea typeface="Plus Jakarta Sans"/>
              <a:cs typeface="Plus Jakarta Sans"/>
            </a:endParaRPr>
          </a:p>
        </p:txBody>
      </p:sp>
      <p:sp>
        <p:nvSpPr>
          <p:cNvPr id="25" name="Shape 20"/>
          <p:cNvSpPr/>
          <p:nvPr/>
        </p:nvSpPr>
        <p:spPr>
          <a:xfrm>
            <a:off x="5669280" y="4133088"/>
            <a:ext cx="502920" cy="0"/>
          </a:xfrm>
          <a:prstGeom prst="line">
            <a:avLst/>
          </a:prstGeom>
          <a:noFill/>
          <a:ln w="15875">
            <a:solidFill>
              <a:srgbClr val="E71224"/>
            </a:solidFill>
            <a:prstDash val="solid"/>
            <a:tailEnd type="triangle"/>
          </a:ln>
        </p:spPr>
        <p:txBody>
          <a:bodyPr/>
          <a:lstStyle/>
          <a:p>
            <a:endParaRPr lang="it-IT"/>
          </a:p>
        </p:txBody>
      </p:sp>
      <p:sp>
        <p:nvSpPr>
          <p:cNvPr id="26" name="Shape 21"/>
          <p:cNvSpPr/>
          <p:nvPr/>
        </p:nvSpPr>
        <p:spPr>
          <a:xfrm>
            <a:off x="6309360" y="4005072"/>
            <a:ext cx="256032" cy="256032"/>
          </a:xfrm>
          <a:prstGeom prst="ellipse">
            <a:avLst/>
          </a:prstGeom>
          <a:solidFill>
            <a:srgbClr val="1700E8"/>
          </a:solidFill>
          <a:ln w="12700">
            <a:solidFill>
              <a:srgbClr val="1700E8"/>
            </a:solidFill>
            <a:prstDash val="solid"/>
          </a:ln>
        </p:spPr>
        <p:txBody>
          <a:bodyPr/>
          <a:lstStyle/>
          <a:p>
            <a:endParaRPr lang="it-IT"/>
          </a:p>
        </p:txBody>
      </p:sp>
      <p:pic>
        <p:nvPicPr>
          <p:cNvPr id="27" name="Image 3" descr="/home/claude/ppt/build/icons/hand_w.png"/>
          <p:cNvPicPr>
            <a:picLocks noChangeAspect="1"/>
          </p:cNvPicPr>
          <p:nvPr/>
        </p:nvPicPr>
        <p:blipFill>
          <a:blip r:embed="rId5"/>
          <a:stretch>
            <a:fillRect/>
          </a:stretch>
        </p:blipFill>
        <p:spPr>
          <a:xfrm>
            <a:off x="6378489" y="4074201"/>
            <a:ext cx="117775" cy="117775"/>
          </a:xfrm>
          <a:prstGeom prst="rect">
            <a:avLst/>
          </a:prstGeom>
        </p:spPr>
      </p:pic>
      <p:sp>
        <p:nvSpPr>
          <p:cNvPr id="28" name="Text 22"/>
          <p:cNvSpPr txBox="1"/>
          <p:nvPr/>
        </p:nvSpPr>
        <p:spPr>
          <a:xfrm>
            <a:off x="6647688" y="4005072"/>
            <a:ext cx="2011680" cy="256032"/>
          </a:xfrm>
          <a:prstGeom prst="rect">
            <a:avLst/>
          </a:prstGeom>
          <a:noFill/>
          <a:ln/>
        </p:spPr>
        <p:txBody>
          <a:bodyPr wrap="square" lIns="0" tIns="0" rIns="0" bIns="0" rtlCol="0" anchor="ctr"/>
          <a:lstStyle/>
          <a:p>
            <a:pPr marL="0" indent="0">
              <a:buNone/>
            </a:pPr>
            <a:r>
              <a:rPr lang="en-US" sz="950" b="1">
                <a:solidFill>
                  <a:srgbClr val="1700E8"/>
                </a:solidFill>
                <a:latin typeface="Space Mono" pitchFamily="34" charset="0"/>
                <a:ea typeface="Space Mono" pitchFamily="34" charset="-122"/>
                <a:cs typeface="Space Mono" pitchFamily="34" charset="-120"/>
              </a:rPr>
              <a:t>focus group · TR4</a:t>
            </a:r>
            <a:endParaRPr lang="en-US" sz="950">
              <a:latin typeface="Space Mono"/>
              <a:ea typeface="Space Mono"/>
              <a:cs typeface="Space Mono"/>
            </a:endParaRPr>
          </a:p>
        </p:txBody>
      </p:sp>
      <p:sp>
        <p:nvSpPr>
          <p:cNvPr id="29"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focus group in una classe di liceo</a:t>
            </a:r>
            <a:endParaRPr lang="en-US" sz="800">
              <a:latin typeface="Space Mono"/>
              <a:ea typeface="Space Mono"/>
              <a:cs typeface="Space Mono"/>
            </a:endParaRPr>
          </a:p>
        </p:txBody>
      </p:sp>
      <p:sp>
        <p:nvSpPr>
          <p:cNvPr id="3" name="Text 1"/>
          <p:cNvSpPr txBox="1"/>
          <p:nvPr/>
        </p:nvSpPr>
        <p:spPr>
          <a:xfrm>
            <a:off x="502920" y="502920"/>
            <a:ext cx="420624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tre attività,</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una classe</a:t>
            </a:r>
            <a:endParaRPr lang="en-US" sz="2600">
              <a:latin typeface="Space Mono"/>
              <a:ea typeface="Space Mono"/>
              <a:cs typeface="Space Mono"/>
            </a:endParaRPr>
          </a:p>
        </p:txBody>
      </p:sp>
      <p:sp>
        <p:nvSpPr>
          <p:cNvPr id="4" name="Shape 2"/>
          <p:cNvSpPr/>
          <p:nvPr/>
        </p:nvSpPr>
        <p:spPr>
          <a:xfrm>
            <a:off x="502920" y="1417320"/>
            <a:ext cx="86868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5" name="Text 3"/>
          <p:cNvSpPr txBox="1"/>
          <p:nvPr/>
        </p:nvSpPr>
        <p:spPr>
          <a:xfrm>
            <a:off x="502920" y="1417320"/>
            <a:ext cx="86868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5 squadre</a:t>
            </a:r>
            <a:endParaRPr lang="en-US" sz="750">
              <a:latin typeface="Space Mono"/>
              <a:ea typeface="Space Mono"/>
              <a:cs typeface="Space Mono"/>
            </a:endParaRPr>
          </a:p>
        </p:txBody>
      </p:sp>
      <p:sp>
        <p:nvSpPr>
          <p:cNvPr id="6" name="Shape 4"/>
          <p:cNvSpPr/>
          <p:nvPr/>
        </p:nvSpPr>
        <p:spPr>
          <a:xfrm>
            <a:off x="1463040" y="1417320"/>
            <a:ext cx="96012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7" name="Text 5"/>
          <p:cNvSpPr txBox="1"/>
          <p:nvPr/>
        </p:nvSpPr>
        <p:spPr>
          <a:xfrm>
            <a:off x="1463040" y="1417320"/>
            <a:ext cx="96012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23 studenti</a:t>
            </a:r>
            <a:endParaRPr lang="en-US" sz="750">
              <a:latin typeface="Space Mono"/>
              <a:ea typeface="Space Mono"/>
              <a:cs typeface="Space Mono"/>
            </a:endParaRPr>
          </a:p>
        </p:txBody>
      </p:sp>
      <p:sp>
        <p:nvSpPr>
          <p:cNvPr id="8" name="Shape 6"/>
          <p:cNvSpPr/>
          <p:nvPr/>
        </p:nvSpPr>
        <p:spPr>
          <a:xfrm>
            <a:off x="2514600" y="1417320"/>
            <a:ext cx="1188720" cy="201168"/>
          </a:xfrm>
          <a:prstGeom prst="roundRect">
            <a:avLst>
              <a:gd name="adj" fmla="val 50000"/>
            </a:avLst>
          </a:prstGeom>
          <a:solidFill>
            <a:srgbClr val="FFFFFF"/>
          </a:solidFill>
          <a:ln w="9525">
            <a:solidFill>
              <a:srgbClr val="1700E8"/>
            </a:solidFill>
            <a:prstDash val="solid"/>
          </a:ln>
        </p:spPr>
        <p:txBody>
          <a:bodyPr/>
          <a:lstStyle/>
          <a:p>
            <a:endParaRPr lang="it-IT"/>
          </a:p>
        </p:txBody>
      </p:sp>
      <p:sp>
        <p:nvSpPr>
          <p:cNvPr id="9" name="Text 7"/>
          <p:cNvSpPr txBox="1"/>
          <p:nvPr/>
        </p:nvSpPr>
        <p:spPr>
          <a:xfrm>
            <a:off x="2514600" y="1417320"/>
            <a:ext cx="1188720" cy="201168"/>
          </a:xfrm>
          <a:prstGeom prst="rect">
            <a:avLst/>
          </a:prstGeom>
          <a:noFill/>
          <a:ln/>
        </p:spPr>
        <p:txBody>
          <a:bodyPr wrap="square" lIns="0" tIns="0" rIns="0" bIns="0" rtlCol="0" anchor="ctr"/>
          <a:lstStyle/>
          <a:p>
            <a:pPr marL="0" indent="0" algn="ctr">
              <a:buNone/>
            </a:pPr>
            <a:r>
              <a:rPr lang="en-US" sz="750" b="1">
                <a:solidFill>
                  <a:srgbClr val="1700E8"/>
                </a:solidFill>
                <a:latin typeface="Space Mono" pitchFamily="34" charset="0"/>
                <a:ea typeface="Space Mono" pitchFamily="34" charset="-122"/>
                <a:cs typeface="Space Mono" pitchFamily="34" charset="-120"/>
              </a:rPr>
              <a:t>schede anonime</a:t>
            </a:r>
            <a:endParaRPr lang="en-US" sz="750">
              <a:latin typeface="Space Mono"/>
              <a:ea typeface="Space Mono"/>
              <a:cs typeface="Space Mono"/>
            </a:endParaRPr>
          </a:p>
        </p:txBody>
      </p:sp>
      <p:sp>
        <p:nvSpPr>
          <p:cNvPr id="10" name="Shape 8"/>
          <p:cNvSpPr/>
          <p:nvPr/>
        </p:nvSpPr>
        <p:spPr>
          <a:xfrm>
            <a:off x="502920" y="1810512"/>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1" name="Image 0" descr="/home/claude/ppt/build/icons/image_w.png"/>
          <p:cNvPicPr>
            <a:picLocks noChangeAspect="1"/>
          </p:cNvPicPr>
          <p:nvPr/>
        </p:nvPicPr>
        <p:blipFill>
          <a:blip r:embed="rId2"/>
          <a:stretch>
            <a:fillRect/>
          </a:stretch>
        </p:blipFill>
        <p:spPr>
          <a:xfrm>
            <a:off x="572049" y="1879092"/>
            <a:ext cx="117775" cy="117775"/>
          </a:xfrm>
          <a:prstGeom prst="rect">
            <a:avLst/>
          </a:prstGeom>
        </p:spPr>
      </p:pic>
      <p:sp>
        <p:nvSpPr>
          <p:cNvPr id="12" name="Text 9"/>
          <p:cNvSpPr txBox="1"/>
          <p:nvPr/>
        </p:nvSpPr>
        <p:spPr>
          <a:xfrm>
            <a:off x="868680" y="1792224"/>
            <a:ext cx="356616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01 · AI-made test</a:t>
            </a:r>
            <a:endParaRPr lang="en-US" sz="1000">
              <a:latin typeface="Space Mono"/>
              <a:ea typeface="Space Mono"/>
              <a:cs typeface="Space Mono"/>
            </a:endParaRPr>
          </a:p>
        </p:txBody>
      </p:sp>
      <p:sp>
        <p:nvSpPr>
          <p:cNvPr id="13" name="Text 10"/>
          <p:cNvSpPr txBox="1"/>
          <p:nvPr/>
        </p:nvSpPr>
        <p:spPr>
          <a:xfrm>
            <a:off x="868680" y="2029968"/>
            <a:ext cx="3657600" cy="566928"/>
          </a:xfrm>
          <a:prstGeom prst="rect">
            <a:avLst/>
          </a:prstGeom>
          <a:noFill/>
          <a:ln/>
        </p:spPr>
        <p:txBody>
          <a:bodyPr wrap="square" lIns="0" tIns="0" rIns="0" bIns="0" rtlCol="0" anchor="t"/>
          <a:lstStyle/>
          <a:p>
            <a:pPr marL="0" indent="0" algn="just">
              <a:buNone/>
            </a:pPr>
            <a:r>
              <a:rPr lang="en-US" sz="850" err="1">
                <a:solidFill>
                  <a:srgbClr val="111111"/>
                </a:solidFill>
                <a:latin typeface="Plus Jakarta Sans" pitchFamily="34" charset="0"/>
                <a:ea typeface="Plus Jakarta Sans" pitchFamily="34" charset="-122"/>
                <a:cs typeface="Plus Jakarta Sans" pitchFamily="34" charset="-120"/>
              </a:rPr>
              <a:t>Autovalutazione</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individuale</a:t>
            </a:r>
            <a:r>
              <a:rPr lang="en-US" sz="850">
                <a:solidFill>
                  <a:srgbClr val="111111"/>
                </a:solidFill>
                <a:latin typeface="Plus Jakarta Sans" pitchFamily="34" charset="0"/>
                <a:ea typeface="Plus Jakarta Sans" pitchFamily="34" charset="-122"/>
                <a:cs typeface="Plus Jakarta Sans" pitchFamily="34" charset="-120"/>
              </a:rPr>
              <a:t>, poi 16 </a:t>
            </a:r>
            <a:r>
              <a:rPr lang="en-US" sz="850" err="1">
                <a:solidFill>
                  <a:srgbClr val="111111"/>
                </a:solidFill>
                <a:latin typeface="Plus Jakarta Sans" pitchFamily="34" charset="0"/>
                <a:ea typeface="Plus Jakarta Sans" pitchFamily="34" charset="-122"/>
                <a:cs typeface="Plus Jakarta Sans" pitchFamily="34" charset="-120"/>
              </a:rPr>
              <a:t>foto</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su</a:t>
            </a:r>
            <a:r>
              <a:rPr lang="en-US" sz="850">
                <a:solidFill>
                  <a:srgbClr val="111111"/>
                </a:solidFill>
                <a:latin typeface="Plus Jakarta Sans" pitchFamily="34" charset="0"/>
                <a:ea typeface="Plus Jakarta Sans" pitchFamily="34" charset="-122"/>
                <a:cs typeface="Plus Jakarta Sans" pitchFamily="34" charset="-120"/>
              </a:rPr>
              <a:t> 5 </a:t>
            </a:r>
            <a:r>
              <a:rPr lang="en-US" sz="850" err="1">
                <a:solidFill>
                  <a:srgbClr val="111111"/>
                </a:solidFill>
                <a:latin typeface="Plus Jakarta Sans" pitchFamily="34" charset="0"/>
                <a:ea typeface="Plus Jakarta Sans" pitchFamily="34" charset="-122"/>
                <a:cs typeface="Plus Jakarta Sans" pitchFamily="34" charset="-120"/>
              </a:rPr>
              <a:t>livelli</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vere</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modificate</a:t>
            </a:r>
            <a:r>
              <a:rPr lang="en-US" sz="850">
                <a:solidFill>
                  <a:srgbClr val="111111"/>
                </a:solidFill>
                <a:latin typeface="Plus Jakarta Sans" pitchFamily="34" charset="0"/>
                <a:ea typeface="Plus Jakarta Sans" pitchFamily="34" charset="-122"/>
                <a:cs typeface="Plus Jakarta Sans" pitchFamily="34" charset="-120"/>
              </a:rPr>
              <a:t> o generate? E 3 </a:t>
            </a:r>
            <a:r>
              <a:rPr lang="en-US" sz="850" err="1">
                <a:solidFill>
                  <a:srgbClr val="111111"/>
                </a:solidFill>
                <a:latin typeface="Plus Jakarta Sans" pitchFamily="34" charset="0"/>
                <a:ea typeface="Plus Jakarta Sans" pitchFamily="34" charset="-122"/>
                <a:cs typeface="Plus Jakarta Sans" pitchFamily="34" charset="-120"/>
              </a:rPr>
              <a:t>coppie</a:t>
            </a:r>
            <a:r>
              <a:rPr lang="en-US" sz="850">
                <a:solidFill>
                  <a:srgbClr val="111111"/>
                </a:solidFill>
                <a:latin typeface="Plus Jakarta Sans" pitchFamily="34" charset="0"/>
                <a:ea typeface="Plus Jakarta Sans" pitchFamily="34" charset="-122"/>
                <a:cs typeface="Plus Jakarta Sans" pitchFamily="34" charset="-120"/>
              </a:rPr>
              <a:t>: quale è </a:t>
            </a:r>
            <a:r>
              <a:rPr lang="en-US" sz="850" err="1">
                <a:solidFill>
                  <a:srgbClr val="111111"/>
                </a:solidFill>
                <a:latin typeface="Plus Jakarta Sans" pitchFamily="34" charset="0"/>
                <a:ea typeface="Plus Jakarta Sans" pitchFamily="34" charset="-122"/>
                <a:cs typeface="Plus Jakarta Sans" pitchFamily="34" charset="-120"/>
              </a:rPr>
              <a:t>stata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generata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dall'altra</a:t>
            </a:r>
            <a:r>
              <a:rPr lang="en-US" sz="850">
                <a:solidFill>
                  <a:srgbClr val="111111"/>
                </a:solidFill>
                <a:latin typeface="Plus Jakarta Sans" pitchFamily="34" charset="0"/>
                <a:ea typeface="Plus Jakarta Sans" pitchFamily="34" charset="-122"/>
                <a:cs typeface="Plus Jakarta Sans" pitchFamily="34" charset="-120"/>
              </a:rPr>
              <a:t>? </a:t>
            </a:r>
            <a:endParaRPr lang="en-US" sz="850">
              <a:latin typeface="Plus Jakarta Sans"/>
              <a:ea typeface="Plus Jakarta Sans"/>
              <a:cs typeface="Plus Jakarta Sans"/>
            </a:endParaRPr>
          </a:p>
        </p:txBody>
      </p:sp>
      <p:sp>
        <p:nvSpPr>
          <p:cNvPr id="14" name="Shape 11"/>
          <p:cNvSpPr/>
          <p:nvPr/>
        </p:nvSpPr>
        <p:spPr>
          <a:xfrm>
            <a:off x="502920" y="2587752"/>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5" name="Image 1" descr="/home/claude/ppt/build/icons/chat_w.png"/>
          <p:cNvPicPr>
            <a:picLocks noChangeAspect="1"/>
          </p:cNvPicPr>
          <p:nvPr/>
        </p:nvPicPr>
        <p:blipFill>
          <a:blip r:embed="rId3"/>
          <a:stretch>
            <a:fillRect/>
          </a:stretch>
        </p:blipFill>
        <p:spPr>
          <a:xfrm>
            <a:off x="572049" y="2656332"/>
            <a:ext cx="117775" cy="117775"/>
          </a:xfrm>
          <a:prstGeom prst="rect">
            <a:avLst/>
          </a:prstGeom>
        </p:spPr>
      </p:pic>
      <p:sp>
        <p:nvSpPr>
          <p:cNvPr id="16" name="Text 12"/>
          <p:cNvSpPr txBox="1"/>
          <p:nvPr/>
        </p:nvSpPr>
        <p:spPr>
          <a:xfrm>
            <a:off x="868680" y="2569464"/>
            <a:ext cx="356616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02 · chat analysis</a:t>
            </a:r>
            <a:endParaRPr lang="en-US" sz="1000">
              <a:latin typeface="Space Mono"/>
              <a:ea typeface="Space Mono"/>
              <a:cs typeface="Space Mono"/>
            </a:endParaRPr>
          </a:p>
        </p:txBody>
      </p:sp>
      <p:sp>
        <p:nvSpPr>
          <p:cNvPr id="17" name="Text 13"/>
          <p:cNvSpPr txBox="1"/>
          <p:nvPr/>
        </p:nvSpPr>
        <p:spPr>
          <a:xfrm>
            <a:off x="868680" y="2807208"/>
            <a:ext cx="3657600" cy="566928"/>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Chat di </a:t>
            </a:r>
            <a:r>
              <a:rPr lang="en-US" sz="850" err="1">
                <a:solidFill>
                  <a:srgbClr val="111111"/>
                </a:solidFill>
                <a:latin typeface="Plus Jakarta Sans" pitchFamily="34" charset="0"/>
                <a:ea typeface="Plus Jakarta Sans" pitchFamily="34" charset="-122"/>
                <a:cs typeface="Plus Jakarta Sans" pitchFamily="34" charset="-120"/>
              </a:rPr>
              <a:t>adescamento</a:t>
            </a:r>
            <a:r>
              <a:rPr lang="en-US" sz="850">
                <a:solidFill>
                  <a:srgbClr val="111111"/>
                </a:solidFill>
                <a:latin typeface="Plus Jakarta Sans" pitchFamily="34" charset="0"/>
                <a:ea typeface="Plus Jakarta Sans" pitchFamily="34" charset="-122"/>
                <a:cs typeface="Plus Jakarta Sans" pitchFamily="34" charset="-120"/>
              </a:rPr>
              <a:t> simulate da </a:t>
            </a:r>
            <a:r>
              <a:rPr lang="en-US" sz="850" err="1">
                <a:solidFill>
                  <a:srgbClr val="111111"/>
                </a:solidFill>
                <a:latin typeface="Plus Jakarta Sans" pitchFamily="34" charset="0"/>
                <a:ea typeface="Plus Jakarta Sans" pitchFamily="34" charset="-122"/>
                <a:cs typeface="Plus Jakarta Sans" pitchFamily="34" charset="-120"/>
              </a:rPr>
              <a:t>leggere</a:t>
            </a:r>
            <a:r>
              <a:rPr lang="en-US" sz="850">
                <a:solidFill>
                  <a:srgbClr val="111111"/>
                </a:solidFill>
                <a:latin typeface="Plus Jakarta Sans" pitchFamily="34" charset="0"/>
                <a:ea typeface="Plus Jakarta Sans" pitchFamily="34" charset="-122"/>
                <a:cs typeface="Plus Jakarta Sans" pitchFamily="34" charset="-120"/>
              </a:rPr>
              <a:t> come se </a:t>
            </a:r>
            <a:r>
              <a:rPr lang="en-US" sz="850" err="1">
                <a:solidFill>
                  <a:srgbClr val="111111"/>
                </a:solidFill>
                <a:latin typeface="Plus Jakarta Sans" pitchFamily="34" charset="0"/>
                <a:ea typeface="Plus Jakarta Sans" pitchFamily="34" charset="-122"/>
                <a:cs typeface="Plus Jakarta Sans" pitchFamily="34" charset="-120"/>
              </a:rPr>
              <a:t>fossero</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arrivate</a:t>
            </a:r>
            <a:r>
              <a:rPr lang="en-US" sz="850">
                <a:solidFill>
                  <a:srgbClr val="111111"/>
                </a:solidFill>
                <a:latin typeface="Plus Jakarta Sans" pitchFamily="34" charset="0"/>
                <a:ea typeface="Plus Jakarta Sans" pitchFamily="34" charset="-122"/>
                <a:cs typeface="Plus Jakarta Sans" pitchFamily="34" charset="-120"/>
              </a:rPr>
              <a:t> a loro: è </a:t>
            </a:r>
            <a:r>
              <a:rPr lang="en-US" sz="850" err="1">
                <a:solidFill>
                  <a:srgbClr val="111111"/>
                </a:solidFill>
                <a:latin typeface="Plus Jakarta Sans" pitchFamily="34" charset="0"/>
                <a:ea typeface="Plus Jakarta Sans" pitchFamily="34" charset="-122"/>
                <a:cs typeface="Plus Jakarta Sans" pitchFamily="34" charset="-120"/>
              </a:rPr>
              <a:t>sospetta</a:t>
            </a:r>
            <a:r>
              <a:rPr lang="en-US" sz="850">
                <a:solidFill>
                  <a:srgbClr val="111111"/>
                </a:solidFill>
                <a:latin typeface="Plus Jakarta Sans" pitchFamily="34" charset="0"/>
                <a:ea typeface="Plus Jakarta Sans" pitchFamily="34" charset="-122"/>
                <a:cs typeface="Plus Jakarta Sans" pitchFamily="34" charset="-120"/>
              </a:rPr>
              <a:t>? da quale </a:t>
            </a:r>
            <a:r>
              <a:rPr lang="en-US" sz="850" err="1">
                <a:solidFill>
                  <a:srgbClr val="111111"/>
                </a:solidFill>
                <a:latin typeface="Plus Jakarta Sans" pitchFamily="34" charset="0"/>
                <a:ea typeface="Plus Jakarta Sans" pitchFamily="34" charset="-122"/>
                <a:cs typeface="Plus Jakarta Sans" pitchFamily="34" charset="-120"/>
              </a:rPr>
              <a:t>messaggio</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cosa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fareste</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Più</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una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foto</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modificata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girata</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nel</a:t>
            </a:r>
            <a:r>
              <a:rPr lang="en-US" sz="850">
                <a:solidFill>
                  <a:srgbClr val="111111"/>
                </a:solidFill>
                <a:latin typeface="Plus Jakarta Sans" pitchFamily="34" charset="0"/>
                <a:ea typeface="Plus Jakarta Sans" pitchFamily="34" charset="-122"/>
                <a:cs typeface="Plus Jakarta Sans" pitchFamily="34" charset="-120"/>
              </a:rPr>
              <a:t> </a:t>
            </a:r>
            <a:r>
              <a:rPr lang="en-US" sz="850" err="1">
                <a:solidFill>
                  <a:srgbClr val="111111"/>
                </a:solidFill>
                <a:latin typeface="Plus Jakarta Sans" pitchFamily="34" charset="0"/>
                <a:ea typeface="Plus Jakarta Sans" pitchFamily="34" charset="-122"/>
                <a:cs typeface="Plus Jakarta Sans" pitchFamily="34" charset="-120"/>
              </a:rPr>
              <a:t>gruppo</a:t>
            </a:r>
            <a:endParaRPr lang="en-US" sz="850">
              <a:latin typeface="Plus Jakarta Sans"/>
              <a:ea typeface="Plus Jakarta Sans"/>
              <a:cs typeface="Plus Jakarta Sans"/>
            </a:endParaRPr>
          </a:p>
        </p:txBody>
      </p:sp>
      <p:sp>
        <p:nvSpPr>
          <p:cNvPr id="18" name="Shape 14"/>
          <p:cNvSpPr/>
          <p:nvPr/>
        </p:nvSpPr>
        <p:spPr>
          <a:xfrm>
            <a:off x="502920" y="3364992"/>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9" name="Image 2" descr="/home/claude/ppt/build/icons/users_w.png"/>
          <p:cNvPicPr>
            <a:picLocks noChangeAspect="1"/>
          </p:cNvPicPr>
          <p:nvPr/>
        </p:nvPicPr>
        <p:blipFill>
          <a:blip r:embed="rId4"/>
          <a:stretch>
            <a:fillRect/>
          </a:stretch>
        </p:blipFill>
        <p:spPr>
          <a:xfrm>
            <a:off x="572049" y="3433572"/>
            <a:ext cx="117775" cy="117775"/>
          </a:xfrm>
          <a:prstGeom prst="rect">
            <a:avLst/>
          </a:prstGeom>
        </p:spPr>
      </p:pic>
      <p:sp>
        <p:nvSpPr>
          <p:cNvPr id="20" name="Text 15"/>
          <p:cNvSpPr txBox="1"/>
          <p:nvPr/>
        </p:nvSpPr>
        <p:spPr>
          <a:xfrm>
            <a:off x="868680" y="3346704"/>
            <a:ext cx="356616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03 · focus group co-design</a:t>
            </a:r>
            <a:endParaRPr lang="en-US" sz="1000">
              <a:latin typeface="Space Mono"/>
              <a:ea typeface="Space Mono"/>
              <a:cs typeface="Space Mono"/>
            </a:endParaRPr>
          </a:p>
        </p:txBody>
      </p:sp>
      <p:sp>
        <p:nvSpPr>
          <p:cNvPr id="21" name="Text 16"/>
          <p:cNvSpPr txBox="1"/>
          <p:nvPr/>
        </p:nvSpPr>
        <p:spPr>
          <a:xfrm>
            <a:off x="868680" y="3584448"/>
            <a:ext cx="3657600" cy="566928"/>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Tavola rotonda con 4 domande e altrettante sotto-domande di co-design: fiducia, capacità, forum, adulti e tutor (TR1–TR4).</a:t>
            </a:r>
            <a:endParaRPr lang="en-US" sz="850">
              <a:latin typeface="Plus Jakarta Sans"/>
              <a:ea typeface="Plus Jakarta Sans"/>
              <a:cs typeface="Plus Jakarta Sans"/>
            </a:endParaRPr>
          </a:p>
        </p:txBody>
      </p:sp>
      <p:sp>
        <p:nvSpPr>
          <p:cNvPr id="22" name="Shape 17"/>
          <p:cNvSpPr/>
          <p:nvPr/>
        </p:nvSpPr>
        <p:spPr>
          <a:xfrm rot="-90000">
            <a:off x="4974336" y="630936"/>
            <a:ext cx="3657600" cy="2880360"/>
          </a:xfrm>
          <a:prstGeom prst="rect">
            <a:avLst/>
          </a:prstGeom>
          <a:solidFill>
            <a:srgbClr val="E71224"/>
          </a:solidFill>
          <a:ln w="12700">
            <a:solidFill>
              <a:srgbClr val="E71224"/>
            </a:solidFill>
            <a:prstDash val="solid"/>
          </a:ln>
        </p:spPr>
        <p:txBody>
          <a:bodyPr/>
          <a:lstStyle/>
          <a:p>
            <a:endParaRPr lang="it-IT"/>
          </a:p>
        </p:txBody>
      </p:sp>
      <p:sp>
        <p:nvSpPr>
          <p:cNvPr id="23" name="Shape 18"/>
          <p:cNvSpPr/>
          <p:nvPr/>
        </p:nvSpPr>
        <p:spPr>
          <a:xfrm rot="-90000">
            <a:off x="4892040" y="548640"/>
            <a:ext cx="3657600" cy="2880360"/>
          </a:xfrm>
          <a:prstGeom prst="rect">
            <a:avLst/>
          </a:prstGeom>
          <a:solidFill>
            <a:srgbClr val="FFFFFF"/>
          </a:solidFill>
          <a:ln w="15875">
            <a:solidFill>
              <a:srgbClr val="111111"/>
            </a:solidFill>
            <a:prstDash val="solid"/>
          </a:ln>
        </p:spPr>
        <p:txBody>
          <a:bodyPr/>
          <a:lstStyle/>
          <a:p>
            <a:endParaRPr lang="it-IT"/>
          </a:p>
        </p:txBody>
      </p:sp>
      <p:pic>
        <p:nvPicPr>
          <p:cNvPr id="24" name="Image 3" descr="foto_classe1.png"/>
          <p:cNvPicPr>
            <a:picLocks noChangeAspect="1"/>
          </p:cNvPicPr>
          <p:nvPr/>
        </p:nvPicPr>
        <p:blipFill>
          <a:blip r:embed="rId5"/>
          <a:srcRect/>
          <a:stretch/>
        </p:blipFill>
        <p:spPr>
          <a:xfrm rot="-90000">
            <a:off x="4974336" y="630936"/>
            <a:ext cx="3493008" cy="2423160"/>
          </a:xfrm>
          <a:prstGeom prst="rect">
            <a:avLst/>
          </a:prstGeom>
        </p:spPr>
      </p:pic>
      <p:sp>
        <p:nvSpPr>
          <p:cNvPr id="25" name="Text 19"/>
          <p:cNvSpPr txBox="1"/>
          <p:nvPr/>
        </p:nvSpPr>
        <p:spPr>
          <a:xfrm rot="-90000">
            <a:off x="4974336" y="3118104"/>
            <a:ext cx="3493008" cy="292608"/>
          </a:xfrm>
          <a:prstGeom prst="rect">
            <a:avLst/>
          </a:prstGeom>
          <a:noFill/>
          <a:ln/>
        </p:spPr>
        <p:txBody>
          <a:bodyPr wrap="square" lIns="0" tIns="0" rIns="0" bIns="0" rtlCol="0" anchor="ctr"/>
          <a:lstStyle/>
          <a:p>
            <a:pPr marL="0" indent="0" algn="ctr">
              <a:buNone/>
            </a:pPr>
            <a:r>
              <a:rPr lang="en-US" sz="850" b="1">
                <a:solidFill>
                  <a:srgbClr val="1700E8"/>
                </a:solidFill>
                <a:latin typeface="Space Mono" pitchFamily="34" charset="0"/>
                <a:ea typeface="Space Mono" pitchFamily="34" charset="-122"/>
                <a:cs typeface="Space Mono" pitchFamily="34" charset="-120"/>
              </a:rPr>
              <a:t>la classe durante l'attività</a:t>
            </a:r>
            <a:endParaRPr lang="en-US" sz="850">
              <a:latin typeface="Space Mono"/>
              <a:ea typeface="Space Mono"/>
              <a:cs typeface="Space Mono"/>
            </a:endParaRPr>
          </a:p>
        </p:txBody>
      </p:sp>
      <p:sp>
        <p:nvSpPr>
          <p:cNvPr id="26" name="Shape 20"/>
          <p:cNvSpPr/>
          <p:nvPr/>
        </p:nvSpPr>
        <p:spPr>
          <a:xfrm rot="-270000">
            <a:off x="6336792" y="466344"/>
            <a:ext cx="777240" cy="164592"/>
          </a:xfrm>
          <a:prstGeom prst="rect">
            <a:avLst/>
          </a:prstGeom>
          <a:solidFill>
            <a:srgbClr val="1700E8">
              <a:alpha val="75000"/>
            </a:srgbClr>
          </a:solidFill>
          <a:ln w="12700">
            <a:solidFill>
              <a:srgbClr val="1700E8"/>
            </a:solidFill>
            <a:prstDash val="solid"/>
          </a:ln>
        </p:spPr>
        <p:txBody>
          <a:bodyPr/>
          <a:lstStyle/>
          <a:p>
            <a:endParaRPr lang="it-IT"/>
          </a:p>
        </p:txBody>
      </p:sp>
      <p:sp>
        <p:nvSpPr>
          <p:cNvPr id="27" name="Shape 21"/>
          <p:cNvSpPr/>
          <p:nvPr/>
        </p:nvSpPr>
        <p:spPr>
          <a:xfrm>
            <a:off x="4965192" y="3840480"/>
            <a:ext cx="3657600" cy="658368"/>
          </a:xfrm>
          <a:prstGeom prst="rect">
            <a:avLst/>
          </a:prstGeom>
          <a:solidFill>
            <a:srgbClr val="DEDAFF"/>
          </a:solidFill>
          <a:ln w="15875">
            <a:solidFill>
              <a:srgbClr val="111111"/>
            </a:solidFill>
            <a:prstDash val="solid"/>
          </a:ln>
        </p:spPr>
        <p:txBody>
          <a:bodyPr/>
          <a:lstStyle/>
          <a:p>
            <a:endParaRPr lang="it-IT"/>
          </a:p>
        </p:txBody>
      </p:sp>
      <p:sp>
        <p:nvSpPr>
          <p:cNvPr id="28" name="Shape 22"/>
          <p:cNvSpPr/>
          <p:nvPr/>
        </p:nvSpPr>
        <p:spPr>
          <a:xfrm>
            <a:off x="4892040" y="3767328"/>
            <a:ext cx="3657600" cy="658368"/>
          </a:xfrm>
          <a:prstGeom prst="rect">
            <a:avLst/>
          </a:prstGeom>
          <a:solidFill>
            <a:srgbClr val="FFFFFF"/>
          </a:solidFill>
          <a:ln w="15875">
            <a:solidFill>
              <a:srgbClr val="111111"/>
            </a:solidFill>
            <a:prstDash val="solid"/>
          </a:ln>
        </p:spPr>
        <p:txBody>
          <a:bodyPr/>
          <a:lstStyle/>
          <a:p>
            <a:endParaRPr lang="it-IT"/>
          </a:p>
        </p:txBody>
      </p:sp>
      <p:sp>
        <p:nvSpPr>
          <p:cNvPr id="29" name="Text 23"/>
          <p:cNvSpPr txBox="1"/>
          <p:nvPr/>
        </p:nvSpPr>
        <p:spPr>
          <a:xfrm>
            <a:off x="5029200" y="3840480"/>
            <a:ext cx="3429000" cy="548640"/>
          </a:xfrm>
          <a:prstGeom prst="rect">
            <a:avLst/>
          </a:prstGeom>
          <a:noFill/>
          <a:ln/>
        </p:spPr>
        <p:txBody>
          <a:bodyPr wrap="square" lIns="0" tIns="0" rIns="0" bIns="0" rtlCol="0" anchor="t"/>
          <a:lstStyle/>
          <a:p>
            <a:pPr marL="0" indent="0">
              <a:buNone/>
            </a:pPr>
            <a:r>
              <a:rPr lang="en-US" sz="800" b="1" err="1">
                <a:solidFill>
                  <a:srgbClr val="E71224"/>
                </a:solidFill>
                <a:latin typeface="Space Mono" pitchFamily="34" charset="0"/>
                <a:ea typeface="Space Mono" pitchFamily="34" charset="-122"/>
                <a:cs typeface="Space Mono" pitchFamily="34" charset="-120"/>
              </a:rPr>
              <a:t>fonti</a:t>
            </a:r>
            <a:r>
              <a:rPr lang="en-US" sz="800" b="1">
                <a:solidFill>
                  <a:srgbClr val="E71224"/>
                </a:solidFill>
                <a:latin typeface="Space Mono" pitchFamily="34" charset="0"/>
                <a:ea typeface="Space Mono" pitchFamily="34" charset="-122"/>
                <a:cs typeface="Space Mono" pitchFamily="34" charset="-120"/>
              </a:rPr>
              <a:t> </a:t>
            </a:r>
            <a:r>
              <a:rPr lang="en-US" sz="800" b="1" err="1">
                <a:solidFill>
                  <a:srgbClr val="E71224"/>
                </a:solidFill>
                <a:latin typeface="Space Mono" pitchFamily="34" charset="0"/>
                <a:ea typeface="Space Mono" pitchFamily="34" charset="-122"/>
                <a:cs typeface="Space Mono" pitchFamily="34" charset="-120"/>
              </a:rPr>
              <a:t>dell'analisi</a:t>
            </a:r>
            <a:endParaRPr lang="en-US" sz="950">
              <a:latin typeface="Space Mono"/>
              <a:ea typeface="Space Mono"/>
              <a:cs typeface="Space Mono"/>
            </a:endParaRPr>
          </a:p>
          <a:p>
            <a:pPr marL="0" indent="0" algn="just">
              <a:buNone/>
            </a:pPr>
            <a:r>
              <a:rPr lang="en-US" sz="800" err="1">
                <a:solidFill>
                  <a:srgbClr val="111111"/>
                </a:solidFill>
                <a:latin typeface="Plus Jakarta Sans" pitchFamily="34" charset="0"/>
                <a:ea typeface="Plus Jakarta Sans" pitchFamily="34" charset="-122"/>
                <a:cs typeface="Plus Jakarta Sans" pitchFamily="34" charset="-120"/>
              </a:rPr>
              <a:t>schede</a:t>
            </a:r>
            <a:r>
              <a:rPr lang="en-US" sz="800">
                <a:solidFill>
                  <a:srgbClr val="111111"/>
                </a:solidFill>
                <a:latin typeface="Plus Jakarta Sans" pitchFamily="34" charset="0"/>
                <a:ea typeface="Plus Jakarta Sans" pitchFamily="34" charset="-122"/>
                <a:cs typeface="Plus Jakarta Sans" pitchFamily="34" charset="-120"/>
              </a:rPr>
              <a:t> di </a:t>
            </a:r>
            <a:r>
              <a:rPr lang="en-US" sz="800" err="1">
                <a:solidFill>
                  <a:srgbClr val="111111"/>
                </a:solidFill>
                <a:latin typeface="Plus Jakarta Sans" pitchFamily="34" charset="0"/>
                <a:ea typeface="Plus Jakarta Sans" pitchFamily="34" charset="-122"/>
                <a:cs typeface="Plus Jakarta Sans" pitchFamily="34" charset="-120"/>
              </a:rPr>
              <a:t>lavoro</a:t>
            </a:r>
            <a:r>
              <a:rPr lang="en-US" sz="800">
                <a:solidFill>
                  <a:srgbClr val="111111"/>
                </a:solidFill>
                <a:latin typeface="Plus Jakarta Sans" pitchFamily="34" charset="0"/>
                <a:ea typeface="Plus Jakarta Sans" pitchFamily="34" charset="-122"/>
                <a:cs typeface="Plus Jakarta Sans" pitchFamily="34" charset="-120"/>
              </a:rPr>
              <a:t> delle 5 </a:t>
            </a:r>
            <a:r>
              <a:rPr lang="en-US" sz="800" err="1">
                <a:solidFill>
                  <a:srgbClr val="111111"/>
                </a:solidFill>
                <a:latin typeface="Plus Jakarta Sans" pitchFamily="34" charset="0"/>
                <a:ea typeface="Plus Jakarta Sans" pitchFamily="34" charset="-122"/>
                <a:cs typeface="Plus Jakarta Sans" pitchFamily="34" charset="-120"/>
              </a:rPr>
              <a:t>squadre</a:t>
            </a:r>
            <a:r>
              <a:rPr lang="en-US" sz="800">
                <a:solidFill>
                  <a:srgbClr val="111111"/>
                </a:solidFill>
                <a:latin typeface="Plus Jakarta Sans" pitchFamily="34" charset="0"/>
                <a:ea typeface="Plus Jakarta Sans" pitchFamily="34" charset="-122"/>
                <a:cs typeface="Plus Jakarta Sans" pitchFamily="34" charset="-120"/>
              </a:rPr>
              <a:t> </a:t>
            </a:r>
            <a:r>
              <a:rPr lang="en-US" sz="800" err="1">
                <a:solidFill>
                  <a:srgbClr val="111111"/>
                </a:solidFill>
                <a:latin typeface="Plus Jakarta Sans" pitchFamily="34" charset="0"/>
                <a:ea typeface="Plus Jakarta Sans" pitchFamily="34" charset="-122"/>
                <a:cs typeface="Plus Jakarta Sans" pitchFamily="34" charset="-120"/>
              </a:rPr>
              <a:t>appunti</a:t>
            </a:r>
            <a:r>
              <a:rPr lang="en-US" sz="800">
                <a:solidFill>
                  <a:srgbClr val="111111"/>
                </a:solidFill>
                <a:latin typeface="Plus Jakarta Sans" pitchFamily="34" charset="0"/>
                <a:ea typeface="Plus Jakarta Sans" pitchFamily="34" charset="-122"/>
                <a:cs typeface="Plus Jakarta Sans" pitchFamily="34" charset="-120"/>
              </a:rPr>
              <a:t> di </a:t>
            </a:r>
            <a:r>
              <a:rPr lang="en-US" sz="800" err="1">
                <a:solidFill>
                  <a:srgbClr val="111111"/>
                </a:solidFill>
                <a:latin typeface="Plus Jakarta Sans" pitchFamily="34" charset="0"/>
                <a:ea typeface="Plus Jakarta Sans" pitchFamily="34" charset="-122"/>
                <a:cs typeface="Plus Jakarta Sans" pitchFamily="34" charset="-120"/>
              </a:rPr>
              <a:t>osservazione</a:t>
            </a:r>
            <a:r>
              <a:rPr lang="en-US" sz="800">
                <a:solidFill>
                  <a:srgbClr val="111111"/>
                </a:solidFill>
                <a:latin typeface="Plus Jakarta Sans" pitchFamily="34" charset="0"/>
                <a:ea typeface="Plus Jakarta Sans" pitchFamily="34" charset="-122"/>
                <a:cs typeface="Plus Jakarta Sans" pitchFamily="34" charset="-120"/>
              </a:rPr>
              <a:t> del team </a:t>
            </a:r>
            <a:r>
              <a:rPr lang="en-US" sz="800" err="1">
                <a:solidFill>
                  <a:srgbClr val="111111"/>
                </a:solidFill>
                <a:latin typeface="Plus Jakarta Sans" pitchFamily="34" charset="0"/>
                <a:ea typeface="Plus Jakarta Sans" pitchFamily="34" charset="-122"/>
                <a:cs typeface="Plus Jakarta Sans" pitchFamily="34" charset="-120"/>
              </a:rPr>
              <a:t>mentre</a:t>
            </a:r>
            <a:r>
              <a:rPr lang="en-US" sz="800">
                <a:solidFill>
                  <a:srgbClr val="111111"/>
                </a:solidFill>
                <a:latin typeface="Plus Jakarta Sans" pitchFamily="34" charset="0"/>
                <a:ea typeface="Plus Jakarta Sans" pitchFamily="34" charset="-122"/>
                <a:cs typeface="Plus Jakarta Sans" pitchFamily="34" charset="-120"/>
              </a:rPr>
              <a:t> </a:t>
            </a:r>
            <a:r>
              <a:rPr lang="en-US" sz="800" err="1">
                <a:solidFill>
                  <a:srgbClr val="111111"/>
                </a:solidFill>
                <a:latin typeface="Plus Jakarta Sans" pitchFamily="34" charset="0"/>
                <a:ea typeface="Plus Jakarta Sans" pitchFamily="34" charset="-122"/>
                <a:cs typeface="Plus Jakarta Sans" pitchFamily="34" charset="-120"/>
              </a:rPr>
              <a:t>seguiva</a:t>
            </a:r>
            <a:r>
              <a:rPr lang="en-US" sz="800">
                <a:solidFill>
                  <a:srgbClr val="111111"/>
                </a:solidFill>
                <a:latin typeface="Plus Jakarta Sans" pitchFamily="34" charset="0"/>
                <a:ea typeface="Plus Jakarta Sans" pitchFamily="34" charset="-122"/>
                <a:cs typeface="Plus Jakarta Sans" pitchFamily="34" charset="-120"/>
              </a:rPr>
              <a:t> </a:t>
            </a:r>
            <a:r>
              <a:rPr lang="en-US" sz="800" err="1">
                <a:solidFill>
                  <a:srgbClr val="111111"/>
                </a:solidFill>
                <a:latin typeface="Plus Jakarta Sans" pitchFamily="34" charset="0"/>
                <a:ea typeface="Plus Jakarta Sans" pitchFamily="34" charset="-122"/>
                <a:cs typeface="Plus Jakarta Sans" pitchFamily="34" charset="-120"/>
              </a:rPr>
              <a:t>i</a:t>
            </a:r>
            <a:r>
              <a:rPr lang="en-US" sz="800">
                <a:solidFill>
                  <a:srgbClr val="111111"/>
                </a:solidFill>
                <a:latin typeface="Plus Jakarta Sans" pitchFamily="34" charset="0"/>
                <a:ea typeface="Plus Jakarta Sans" pitchFamily="34" charset="-122"/>
                <a:cs typeface="Plus Jakarta Sans" pitchFamily="34" charset="-120"/>
              </a:rPr>
              <a:t> </a:t>
            </a:r>
            <a:r>
              <a:rPr lang="en-US" sz="800" err="1">
                <a:solidFill>
                  <a:srgbClr val="111111"/>
                </a:solidFill>
                <a:latin typeface="Plus Jakarta Sans" pitchFamily="34" charset="0"/>
                <a:ea typeface="Plus Jakarta Sans" pitchFamily="34" charset="-122"/>
                <a:cs typeface="Plus Jakarta Sans" pitchFamily="34" charset="-120"/>
              </a:rPr>
              <a:t>gruppi</a:t>
            </a:r>
            <a:r>
              <a:rPr lang="en-US" sz="800">
                <a:solidFill>
                  <a:srgbClr val="111111"/>
                </a:solidFill>
                <a:latin typeface="Plus Jakarta Sans" pitchFamily="34" charset="0"/>
                <a:ea typeface="Plus Jakarta Sans" pitchFamily="34" charset="-122"/>
                <a:cs typeface="Plus Jakarta Sans" pitchFamily="34" charset="-120"/>
              </a:rPr>
              <a:t> </a:t>
            </a:r>
            <a:endParaRPr lang="en-US" sz="950">
              <a:latin typeface="Plus Jakarta Sans"/>
              <a:ea typeface="Plus Jakarta Sans"/>
              <a:cs typeface="Plus Jakarta Sans"/>
            </a:endParaRPr>
          </a:p>
        </p:txBody>
      </p:sp>
      <p:sp>
        <p:nvSpPr>
          <p:cNvPr id="30"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4</a:t>
            </a:fld>
            <a:endParaRPr lang="en-US"/>
          </a:p>
        </p:txBody>
      </p:sp>
      <p:sp>
        <p:nvSpPr>
          <p:cNvPr id="31" name="Link materiali"/>
          <p:cNvSpPr txBox="1"/>
          <p:nvPr/>
        </p:nvSpPr>
        <p:spPr>
          <a:xfrm>
            <a:off x="502920" y="4069559"/>
            <a:ext cx="4023360" cy="115416"/>
          </a:xfrm>
          <a:prstGeom prst="rect">
            <a:avLst/>
          </a:prstGeom>
          <a:noFill/>
        </p:spPr>
        <p:txBody>
          <a:bodyPr wrap="square" lIns="0" tIns="0" rIns="0" bIns="0" anchor="t">
            <a:spAutoFit/>
          </a:bodyPr>
          <a:lstStyle/>
          <a:p>
            <a:pPr marL="0" indent="0" algn="l">
              <a:spcAft>
                <a:spcPts val="300"/>
              </a:spcAft>
              <a:buNone/>
            </a:pPr>
            <a:r>
              <a:rPr lang="it-IT" sz="750" b="0" i="0" u="none">
                <a:solidFill>
                  <a:srgbClr val="6B6B78"/>
                </a:solidFill>
                <a:latin typeface="Space Mono"/>
                <a:ea typeface="Space Mono"/>
                <a:cs typeface="Space Mono"/>
              </a:rPr>
              <a:t>materiali dell'attività</a:t>
            </a:r>
          </a:p>
        </p:txBody>
      </p:sp>
      <p:sp>
        <p:nvSpPr>
          <p:cNvPr id="34" name="CasellaDiTesto 23">
            <a:extLst>
              <a:ext uri="{FF2B5EF4-FFF2-40B4-BE49-F238E27FC236}">
                <a16:creationId xmlns:a16="http://schemas.microsoft.com/office/drawing/2014/main" id="{99AF1FA9-0749-46CB-3D1D-C141D50EA0C9}"/>
              </a:ext>
            </a:extLst>
          </p:cNvPr>
          <p:cNvSpPr txBox="1"/>
          <p:nvPr/>
        </p:nvSpPr>
        <p:spPr>
          <a:xfrm>
            <a:off x="410853" y="4132641"/>
            <a:ext cx="1812997" cy="276999"/>
          </a:xfrm>
          <a:prstGeom prst="rect">
            <a:avLst/>
          </a:prstGeom>
          <a:noFill/>
        </p:spPr>
        <p:txBody>
          <a:bodyPr wrap="none" lIns="91440" tIns="45720" rIns="91440" bIns="45720" rtlCol="0" anchor="t">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just"/>
            <a:r>
              <a:rPr lang="it-IT" sz="1200" b="1">
                <a:solidFill>
                  <a:schemeClr val="tx2"/>
                </a:solidFill>
                <a:latin typeface="Plus Jakarta Sans"/>
                <a:ea typeface="Plus Jakarta Sans"/>
                <a:cs typeface="Plus Jakarta Sans"/>
                <a:hlinkClick r:id="rId6">
                  <a:extLst>
                    <a:ext uri="{A12FA001-AC4F-418D-AE19-62706E023703}">
                      <ahyp:hlinkClr xmlns:ahyp="http://schemas.microsoft.com/office/drawing/2018/hyperlinkcolor" val="tx"/>
                    </a:ext>
                  </a:extLst>
                </a:hlinkClick>
              </a:rPr>
              <a:t>Pdf -  esercizi in classe</a:t>
            </a:r>
            <a:endParaRPr lang="it-IT" sz="1200" b="1">
              <a:solidFill>
                <a:schemeClr val="tx2"/>
              </a:solidFill>
              <a:latin typeface="Plus Jakarta Sans"/>
              <a:ea typeface="Plus Jakarta Sans"/>
              <a:cs typeface="Plus Jakarta Sans"/>
            </a:endParaRPr>
          </a:p>
        </p:txBody>
      </p:sp>
      <p:sp>
        <p:nvSpPr>
          <p:cNvPr id="35" name="CasellaDiTesto 25">
            <a:extLst>
              <a:ext uri="{FF2B5EF4-FFF2-40B4-BE49-F238E27FC236}">
                <a16:creationId xmlns:a16="http://schemas.microsoft.com/office/drawing/2014/main" id="{59B91317-D7D6-4873-31B2-05AC24332646}"/>
              </a:ext>
            </a:extLst>
          </p:cNvPr>
          <p:cNvSpPr txBox="1"/>
          <p:nvPr/>
        </p:nvSpPr>
        <p:spPr>
          <a:xfrm>
            <a:off x="411480" y="4411588"/>
            <a:ext cx="2729978" cy="276999"/>
          </a:xfrm>
          <a:prstGeom prst="rect">
            <a:avLst/>
          </a:prstGeom>
          <a:noFill/>
        </p:spPr>
        <p:txBody>
          <a:bodyPr wrap="none" lIns="91440" tIns="45720" rIns="91440" bIns="45720" rtlCol="0" anchor="t">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just"/>
            <a:r>
              <a:rPr lang="it-IT" sz="1200" b="1">
                <a:solidFill>
                  <a:schemeClr val="tx2"/>
                </a:solidFill>
                <a:latin typeface="Plus Jakarta Sans"/>
                <a:ea typeface="Plus Jakarta Sans"/>
                <a:cs typeface="Plus Jakarta Sans"/>
                <a:hlinkClick r:id="rId7">
                  <a:extLst>
                    <a:ext uri="{A12FA001-AC4F-418D-AE19-62706E023703}">
                      <ahyp:hlinkClr xmlns:ahyp="http://schemas.microsoft.com/office/drawing/2018/hyperlinkcolor" val="tx"/>
                    </a:ext>
                  </a:extLst>
                </a:hlinkClick>
              </a:rPr>
              <a:t>Pdf – focus group scheda di lavoro</a:t>
            </a:r>
            <a:endParaRPr lang="it-IT" sz="1200" b="1">
              <a:solidFill>
                <a:schemeClr val="tx2"/>
              </a:solidFill>
              <a:latin typeface="Plus Jakarta Sans"/>
              <a:ea typeface="Plus Jakarta Sans"/>
              <a:cs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lgn="l">
              <a:buNone/>
            </a:pPr>
            <a:r>
              <a:rPr lang="it-IT" sz="800" b="1" i="0" u="none">
                <a:solidFill>
                  <a:srgbClr val="E71224"/>
                </a:solidFill>
                <a:latin typeface="Space Mono"/>
                <a:ea typeface="Space Mono"/>
                <a:cs typeface="Space Mono"/>
              </a:rPr>
              <a:t>metodo · co-design</a:t>
            </a:r>
          </a:p>
        </p:txBody>
      </p:sp>
      <p:sp>
        <p:nvSpPr>
          <p:cNvPr id="3" name="Text 1"/>
          <p:cNvSpPr txBox="1"/>
          <p:nvPr/>
        </p:nvSpPr>
        <p:spPr>
          <a:xfrm>
            <a:off x="502920" y="502920"/>
            <a:ext cx="429768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a cosa ci</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siamo ispirati</a:t>
            </a:r>
            <a:endParaRPr lang="en-US" sz="2600">
              <a:latin typeface="Space Mono"/>
              <a:ea typeface="Space Mono"/>
              <a:cs typeface="Space Mono"/>
            </a:endParaRPr>
          </a:p>
        </p:txBody>
      </p:sp>
      <p:sp>
        <p:nvSpPr>
          <p:cNvPr id="25"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5</a:t>
            </a:fld>
            <a:endParaRPr lang="en-US"/>
          </a:p>
        </p:txBody>
      </p:sp>
      <p:sp>
        <p:nvSpPr>
          <p:cNvPr id="26" name="Lead"/>
          <p:cNvSpPr txBox="1"/>
          <p:nvPr/>
        </p:nvSpPr>
        <p:spPr>
          <a:xfrm>
            <a:off x="502920" y="1444752"/>
            <a:ext cx="4160520" cy="822960"/>
          </a:xfrm>
          <a:prstGeom prst="rect">
            <a:avLst/>
          </a:prstGeom>
          <a:noFill/>
        </p:spPr>
        <p:txBody>
          <a:bodyPr wrap="square" lIns="0" tIns="0" rIns="0" bIns="0" anchor="t">
            <a:spAutoFit/>
          </a:bodyPr>
          <a:lstStyle/>
          <a:p>
            <a:pPr marL="0" indent="0" algn="just">
              <a:lnSpc>
                <a:spcPct val="110000"/>
              </a:lnSpc>
              <a:buNone/>
            </a:pPr>
            <a:r>
              <a:rPr lang="it-IT" sz="900" b="0" i="0" u="none">
                <a:solidFill>
                  <a:srgbClr val="111111"/>
                </a:solidFill>
                <a:latin typeface="Plus Jakarta Sans"/>
                <a:ea typeface="Plus Jakarta Sans"/>
                <a:cs typeface="Plus Jakarta Sans"/>
              </a:rPr>
              <a:t>Le tre attività nascono dal framework </a:t>
            </a:r>
            <a:r>
              <a:rPr lang="it-IT" sz="900" b="1" i="0" u="none">
                <a:solidFill>
                  <a:srgbClr val="1700E8"/>
                </a:solidFill>
                <a:latin typeface="Plus Jakarta Sans"/>
                <a:ea typeface="Plus Jakarta Sans"/>
                <a:cs typeface="Plus Jakarta Sans"/>
              </a:rPr>
              <a:t>tell–make–enact</a:t>
            </a:r>
            <a:r>
              <a:rPr lang="it-IT" sz="900" b="0" i="0" u="none">
                <a:solidFill>
                  <a:srgbClr val="111111"/>
                </a:solidFill>
                <a:latin typeface="Plus Jakarta Sans"/>
                <a:ea typeface="Plus Jakarta Sans"/>
                <a:cs typeface="Plus Jakarta Sans"/>
              </a:rPr>
              <a:t> descritto da Akach, Osanjo e Maina (2021). Il paper classifica gli strumenti di co-design per forma (raccontare, costruire, mettere in scena) e per scopo: sondare, preparare al tema, capire le esperienze, generare idee. Da ogni tecnica abbiamo preso ciò che vuole stimolare, adattandolo a una classe di 23 studenti.</a:t>
            </a:r>
          </a:p>
        </p:txBody>
      </p:sp>
      <p:cxnSp>
        <p:nvCxnSpPr>
          <p:cNvPr id="27" name="Freccia make-tell"/>
          <p:cNvCxnSpPr/>
          <p:nvPr/>
        </p:nvCxnSpPr>
        <p:spPr>
          <a:xfrm flipH="1">
            <a:off x="1774978" y="3042599"/>
            <a:ext cx="500835" cy="333889"/>
          </a:xfrm>
          <a:prstGeom prst="line">
            <a:avLst/>
          </a:prstGeom>
          <a:ln w="12700">
            <a:solidFill>
              <a:srgbClr val="11111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28" name="Freccia make-enact"/>
          <p:cNvCxnSpPr/>
          <p:nvPr/>
        </p:nvCxnSpPr>
        <p:spPr>
          <a:xfrm>
            <a:off x="2899690" y="3042599"/>
            <a:ext cx="500835" cy="333889"/>
          </a:xfrm>
          <a:prstGeom prst="line">
            <a:avLst/>
          </a:prstGeom>
          <a:ln w="12700">
            <a:solidFill>
              <a:srgbClr val="11111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29" name="Freccia tell-enact"/>
          <p:cNvCxnSpPr/>
          <p:nvPr/>
        </p:nvCxnSpPr>
        <p:spPr>
          <a:xfrm>
            <a:off x="1837944" y="3584448"/>
            <a:ext cx="1499615" cy="0"/>
          </a:xfrm>
          <a:prstGeom prst="line">
            <a:avLst/>
          </a:prstGeom>
          <a:ln w="12700">
            <a:solidFill>
              <a:srgbClr val="11111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30" name="Cerchio make ombra"/>
          <p:cNvSpPr/>
          <p:nvPr/>
        </p:nvSpPr>
        <p:spPr>
          <a:xfrm>
            <a:off x="2304288" y="2551176"/>
            <a:ext cx="658368" cy="658368"/>
          </a:xfrm>
          <a:prstGeom prst="ellipse">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Cerchio make"/>
          <p:cNvSpPr/>
          <p:nvPr/>
        </p:nvSpPr>
        <p:spPr>
          <a:xfrm>
            <a:off x="2258568" y="2505456"/>
            <a:ext cx="658368" cy="65836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Etichetta make"/>
          <p:cNvSpPr txBox="1"/>
          <p:nvPr/>
        </p:nvSpPr>
        <p:spPr>
          <a:xfrm>
            <a:off x="2258568" y="2679192"/>
            <a:ext cx="658368" cy="310896"/>
          </a:xfrm>
          <a:prstGeom prst="rect">
            <a:avLst/>
          </a:prstGeom>
          <a:noFill/>
        </p:spPr>
        <p:txBody>
          <a:bodyPr wrap="square" lIns="0" tIns="0" rIns="0" bIns="0" anchor="t">
            <a:spAutoFit/>
          </a:bodyPr>
          <a:lstStyle/>
          <a:p>
            <a:pPr marL="0" indent="0" algn="ctr">
              <a:buNone/>
            </a:pPr>
            <a:r>
              <a:rPr lang="it-IT" sz="1050" b="1" i="0" u="none">
                <a:solidFill>
                  <a:srgbClr val="1700E8"/>
                </a:solidFill>
                <a:latin typeface="Space Mono"/>
                <a:ea typeface="Space Mono"/>
                <a:cs typeface="Space Mono"/>
              </a:rPr>
              <a:t>make</a:t>
            </a:r>
          </a:p>
          <a:p>
            <a:pPr marL="0" indent="0" algn="ctr">
              <a:buNone/>
            </a:pPr>
            <a:r>
              <a:rPr lang="it-IT" sz="650" b="0" i="0" u="none">
                <a:solidFill>
                  <a:srgbClr val="6B6B78"/>
                </a:solidFill>
                <a:latin typeface="Plus Jakarta Sans"/>
                <a:ea typeface="Plus Jakarta Sans"/>
                <a:cs typeface="Plus Jakarta Sans"/>
              </a:rPr>
              <a:t>costruire</a:t>
            </a:r>
          </a:p>
        </p:txBody>
      </p:sp>
      <p:sp>
        <p:nvSpPr>
          <p:cNvPr id="33" name="Tag make"/>
          <p:cNvSpPr/>
          <p:nvPr/>
        </p:nvSpPr>
        <p:spPr>
          <a:xfrm>
            <a:off x="2423160" y="2258568"/>
            <a:ext cx="329184" cy="173736"/>
          </a:xfrm>
          <a:prstGeom prst="roundRect">
            <a:avLst>
              <a:gd name="adj" fmla="val 50000"/>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ag testo make"/>
          <p:cNvSpPr txBox="1"/>
          <p:nvPr/>
        </p:nvSpPr>
        <p:spPr>
          <a:xfrm>
            <a:off x="2423160" y="2258568"/>
            <a:ext cx="329184" cy="173736"/>
          </a:xfrm>
          <a:prstGeom prst="rect">
            <a:avLst/>
          </a:prstGeom>
          <a:noFill/>
        </p:spPr>
        <p:txBody>
          <a:bodyPr wrap="square" lIns="0" tIns="0" rIns="0" bIns="0" anchor="ctr">
            <a:spAutoFit/>
          </a:bodyPr>
          <a:lstStyle/>
          <a:p>
            <a:pPr marL="0" indent="0" algn="ctr">
              <a:buNone/>
            </a:pPr>
            <a:r>
              <a:rPr lang="it-IT" sz="700" b="1" i="0" u="none">
                <a:solidFill>
                  <a:srgbClr val="FFFFFF"/>
                </a:solidFill>
                <a:latin typeface="Space Mono"/>
                <a:ea typeface="Space Mono"/>
                <a:cs typeface="Space Mono"/>
              </a:rPr>
              <a:t>01</a:t>
            </a:r>
          </a:p>
        </p:txBody>
      </p:sp>
      <p:sp>
        <p:nvSpPr>
          <p:cNvPr id="35" name="Cerchio tell ombra"/>
          <p:cNvSpPr/>
          <p:nvPr/>
        </p:nvSpPr>
        <p:spPr>
          <a:xfrm>
            <a:off x="1179576" y="3300984"/>
            <a:ext cx="658368" cy="658368"/>
          </a:xfrm>
          <a:prstGeom prst="ellipse">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Cerchio tell"/>
          <p:cNvSpPr/>
          <p:nvPr/>
        </p:nvSpPr>
        <p:spPr>
          <a:xfrm>
            <a:off x="1133856" y="3255264"/>
            <a:ext cx="658368" cy="65836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Etichetta tell"/>
          <p:cNvSpPr txBox="1"/>
          <p:nvPr/>
        </p:nvSpPr>
        <p:spPr>
          <a:xfrm>
            <a:off x="1133856" y="3429000"/>
            <a:ext cx="658368" cy="310896"/>
          </a:xfrm>
          <a:prstGeom prst="rect">
            <a:avLst/>
          </a:prstGeom>
          <a:noFill/>
        </p:spPr>
        <p:txBody>
          <a:bodyPr wrap="square" lIns="0" tIns="0" rIns="0" bIns="0" anchor="t">
            <a:spAutoFit/>
          </a:bodyPr>
          <a:lstStyle/>
          <a:p>
            <a:pPr marL="0" indent="0" algn="ctr">
              <a:buNone/>
            </a:pPr>
            <a:r>
              <a:rPr lang="it-IT" sz="1050" b="1" i="0" u="none">
                <a:solidFill>
                  <a:srgbClr val="1700E8"/>
                </a:solidFill>
                <a:latin typeface="Space Mono"/>
                <a:ea typeface="Space Mono"/>
                <a:cs typeface="Space Mono"/>
              </a:rPr>
              <a:t>tell</a:t>
            </a:r>
          </a:p>
          <a:p>
            <a:pPr marL="0" indent="0" algn="ctr">
              <a:buNone/>
            </a:pPr>
            <a:r>
              <a:rPr lang="it-IT" sz="650" b="0" i="0" u="none">
                <a:solidFill>
                  <a:srgbClr val="6B6B78"/>
                </a:solidFill>
                <a:latin typeface="Plus Jakarta Sans"/>
                <a:ea typeface="Plus Jakarta Sans"/>
                <a:cs typeface="Plus Jakarta Sans"/>
              </a:rPr>
              <a:t>raccontare</a:t>
            </a:r>
          </a:p>
        </p:txBody>
      </p:sp>
      <p:sp>
        <p:nvSpPr>
          <p:cNvPr id="38" name="Tag tell"/>
          <p:cNvSpPr/>
          <p:nvPr/>
        </p:nvSpPr>
        <p:spPr>
          <a:xfrm>
            <a:off x="1179576" y="3977640"/>
            <a:ext cx="566928" cy="173736"/>
          </a:xfrm>
          <a:prstGeom prst="roundRect">
            <a:avLst>
              <a:gd name="adj" fmla="val 50000"/>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ag testo tell"/>
          <p:cNvSpPr txBox="1"/>
          <p:nvPr/>
        </p:nvSpPr>
        <p:spPr>
          <a:xfrm>
            <a:off x="1179576" y="3977640"/>
            <a:ext cx="566928" cy="173736"/>
          </a:xfrm>
          <a:prstGeom prst="rect">
            <a:avLst/>
          </a:prstGeom>
          <a:noFill/>
        </p:spPr>
        <p:txBody>
          <a:bodyPr wrap="square" lIns="0" tIns="0" rIns="0" bIns="0" anchor="ctr">
            <a:spAutoFit/>
          </a:bodyPr>
          <a:lstStyle/>
          <a:p>
            <a:pPr marL="0" indent="0" algn="ctr">
              <a:buNone/>
            </a:pPr>
            <a:r>
              <a:rPr lang="it-IT" sz="700" b="1" i="0" u="none">
                <a:solidFill>
                  <a:srgbClr val="FFFFFF"/>
                </a:solidFill>
                <a:latin typeface="Space Mono"/>
                <a:ea typeface="Space Mono"/>
                <a:cs typeface="Space Mono"/>
              </a:rPr>
              <a:t>01 · 03</a:t>
            </a:r>
          </a:p>
        </p:txBody>
      </p:sp>
      <p:sp>
        <p:nvSpPr>
          <p:cNvPr id="40" name="Cerchio enact ombra"/>
          <p:cNvSpPr/>
          <p:nvPr/>
        </p:nvSpPr>
        <p:spPr>
          <a:xfrm>
            <a:off x="3428999" y="3300984"/>
            <a:ext cx="658368" cy="658368"/>
          </a:xfrm>
          <a:prstGeom prst="ellipse">
            <a:avLst/>
          </a:prstGeom>
          <a:solidFill>
            <a:srgbClr val="FBD5D9"/>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Cerchio enact"/>
          <p:cNvSpPr/>
          <p:nvPr/>
        </p:nvSpPr>
        <p:spPr>
          <a:xfrm>
            <a:off x="3383279" y="3255264"/>
            <a:ext cx="658368" cy="65836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Etichetta enact"/>
          <p:cNvSpPr txBox="1"/>
          <p:nvPr/>
        </p:nvSpPr>
        <p:spPr>
          <a:xfrm>
            <a:off x="3383279" y="3429000"/>
            <a:ext cx="658368" cy="310896"/>
          </a:xfrm>
          <a:prstGeom prst="rect">
            <a:avLst/>
          </a:prstGeom>
          <a:noFill/>
        </p:spPr>
        <p:txBody>
          <a:bodyPr wrap="square" lIns="0" tIns="0" rIns="0" bIns="0" anchor="t">
            <a:spAutoFit/>
          </a:bodyPr>
          <a:lstStyle/>
          <a:p>
            <a:pPr marL="0" indent="0" algn="ctr">
              <a:buNone/>
            </a:pPr>
            <a:r>
              <a:rPr lang="it-IT" sz="1050" b="1" i="0" u="none">
                <a:solidFill>
                  <a:srgbClr val="E71224"/>
                </a:solidFill>
                <a:latin typeface="Space Mono"/>
                <a:ea typeface="Space Mono"/>
                <a:cs typeface="Space Mono"/>
              </a:rPr>
              <a:t>enact</a:t>
            </a:r>
          </a:p>
          <a:p>
            <a:pPr marL="0" indent="0" algn="ctr">
              <a:buNone/>
            </a:pPr>
            <a:r>
              <a:rPr lang="it-IT" sz="650" b="0" i="0" u="none">
                <a:solidFill>
                  <a:srgbClr val="6B6B78"/>
                </a:solidFill>
                <a:latin typeface="Plus Jakarta Sans"/>
                <a:ea typeface="Plus Jakarta Sans"/>
                <a:cs typeface="Plus Jakarta Sans"/>
              </a:rPr>
              <a:t>simulare</a:t>
            </a:r>
          </a:p>
        </p:txBody>
      </p:sp>
      <p:sp>
        <p:nvSpPr>
          <p:cNvPr id="43" name="Tag enact"/>
          <p:cNvSpPr/>
          <p:nvPr/>
        </p:nvSpPr>
        <p:spPr>
          <a:xfrm>
            <a:off x="3547871" y="3977640"/>
            <a:ext cx="329184" cy="173736"/>
          </a:xfrm>
          <a:prstGeom prst="roundRect">
            <a:avLst>
              <a:gd name="adj" fmla="val 50000"/>
            </a:avLst>
          </a:prstGeom>
          <a:solidFill>
            <a:srgbClr val="E7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ag testo enact"/>
          <p:cNvSpPr txBox="1"/>
          <p:nvPr/>
        </p:nvSpPr>
        <p:spPr>
          <a:xfrm>
            <a:off x="3547871" y="3977640"/>
            <a:ext cx="329184" cy="173736"/>
          </a:xfrm>
          <a:prstGeom prst="rect">
            <a:avLst/>
          </a:prstGeom>
          <a:noFill/>
        </p:spPr>
        <p:txBody>
          <a:bodyPr wrap="square" lIns="0" tIns="0" rIns="0" bIns="0" anchor="ctr">
            <a:spAutoFit/>
          </a:bodyPr>
          <a:lstStyle/>
          <a:p>
            <a:pPr marL="0" indent="0" algn="ctr">
              <a:buNone/>
            </a:pPr>
            <a:r>
              <a:rPr lang="it-IT" sz="700" b="1" i="0" u="none">
                <a:solidFill>
                  <a:srgbClr val="FFFFFF"/>
                </a:solidFill>
                <a:latin typeface="Space Mono"/>
                <a:ea typeface="Space Mono"/>
                <a:cs typeface="Space Mono"/>
              </a:rPr>
              <a:t>02</a:t>
            </a:r>
          </a:p>
        </p:txBody>
      </p:sp>
      <p:sp>
        <p:nvSpPr>
          <p:cNvPr id="45" name="Fonte paper"/>
          <p:cNvSpPr txBox="1"/>
          <p:nvPr/>
        </p:nvSpPr>
        <p:spPr>
          <a:xfrm>
            <a:off x="502920" y="4206240"/>
            <a:ext cx="4206240" cy="329184"/>
          </a:xfrm>
          <a:prstGeom prst="rect">
            <a:avLst/>
          </a:prstGeom>
          <a:noFill/>
        </p:spPr>
        <p:txBody>
          <a:bodyPr wrap="square" lIns="0" tIns="0" rIns="0" bIns="0" anchor="t">
            <a:spAutoFit/>
          </a:bodyPr>
          <a:lstStyle/>
          <a:p>
            <a:pPr marL="0" indent="0" algn="l">
              <a:spcAft>
                <a:spcPts val="100"/>
              </a:spcAft>
              <a:buNone/>
            </a:pPr>
            <a:r>
              <a:rPr lang="it-IT" sz="900" b="1" i="0" u="none">
                <a:solidFill>
                  <a:srgbClr val="E71224"/>
                </a:solidFill>
                <a:latin typeface="Space Mono"/>
                <a:ea typeface="Space Mono"/>
                <a:cs typeface="Space Mono"/>
              </a:rPr>
              <a:t>→ </a:t>
            </a:r>
            <a:r>
              <a:rPr lang="it-IT" sz="900" b="1" i="0" u="sng">
                <a:solidFill>
                  <a:srgbClr val="E71224"/>
                </a:solidFill>
                <a:latin typeface="Space Mono"/>
                <a:ea typeface="Space Mono"/>
                <a:cs typeface="Space Mono"/>
                <a:hlinkClick r:id="rId2">
                  <a:extLst>
                    <a:ext uri="{A12FA001-AC4F-418D-AE19-62706E023703}">
                      <ahyp:hlinkClr xmlns:ahyp="http://schemas.microsoft.com/office/drawing/2018/hyperlinkcolor" val="tx"/>
                    </a:ext>
                  </a:extLst>
                </a:hlinkClick>
              </a:rPr>
              <a:t>Paper – Co-Design: Tools, Methods and Techniques</a:t>
            </a:r>
          </a:p>
          <a:p>
            <a:pPr marL="0" indent="0" algn="just">
              <a:buNone/>
            </a:pPr>
            <a:r>
              <a:rPr lang="it-IT" sz="650" b="0" i="0" u="none">
                <a:solidFill>
                  <a:srgbClr val="6B6B78"/>
                </a:solidFill>
                <a:latin typeface="Plus Jakarta Sans"/>
                <a:ea typeface="Plus Jakarta Sans"/>
                <a:cs typeface="Plus Jakarta Sans"/>
              </a:rPr>
              <a:t>Akach, Osanjo, Maina · «Co-Design: Tools, Methods and Techniques for Designing with Users» · Africa Habitat Review 15(1), 2021</a:t>
            </a:r>
          </a:p>
        </p:txBody>
      </p:sp>
      <p:sp>
        <p:nvSpPr>
          <p:cNvPr id="46" name="Card 01 ombra"/>
          <p:cNvSpPr/>
          <p:nvPr/>
        </p:nvSpPr>
        <p:spPr>
          <a:xfrm>
            <a:off x="5102352" y="530352"/>
            <a:ext cx="3611880" cy="1216152"/>
          </a:xfrm>
          <a:prstGeom prst="rect">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Card 01"/>
          <p:cNvSpPr/>
          <p:nvPr/>
        </p:nvSpPr>
        <p:spPr>
          <a:xfrm>
            <a:off x="5029200" y="457200"/>
            <a:ext cx="3611880" cy="1216152"/>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Icona"/>
          <p:cNvSpPr/>
          <p:nvPr/>
        </p:nvSpPr>
        <p:spPr>
          <a:xfrm>
            <a:off x="5138928" y="557784"/>
            <a:ext cx="256032" cy="256032"/>
          </a:xfrm>
          <a:prstGeom prst="ellipse">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9" name="Picture 48" descr="image.png"/>
          <p:cNvPicPr>
            <a:picLocks noChangeAspect="1"/>
          </p:cNvPicPr>
          <p:nvPr/>
        </p:nvPicPr>
        <p:blipFill>
          <a:blip r:embed="rId3"/>
          <a:stretch>
            <a:fillRect/>
          </a:stretch>
        </p:blipFill>
        <p:spPr>
          <a:xfrm>
            <a:off x="5207508" y="626364"/>
            <a:ext cx="118872" cy="118872"/>
          </a:xfrm>
          <a:prstGeom prst="rect">
            <a:avLst/>
          </a:prstGeom>
        </p:spPr>
      </p:pic>
      <p:sp>
        <p:nvSpPr>
          <p:cNvPr id="50" name="TextBox 49"/>
          <p:cNvSpPr txBox="1"/>
          <p:nvPr/>
        </p:nvSpPr>
        <p:spPr>
          <a:xfrm>
            <a:off x="5477256" y="548640"/>
            <a:ext cx="3063240" cy="274320"/>
          </a:xfrm>
          <a:prstGeom prst="rect">
            <a:avLst/>
          </a:prstGeom>
          <a:noFill/>
        </p:spPr>
        <p:txBody>
          <a:bodyPr wrap="square" lIns="0" tIns="0" rIns="0" bIns="0" anchor="ctr">
            <a:spAutoFit/>
          </a:bodyPr>
          <a:lstStyle/>
          <a:p>
            <a:pPr marL="0" indent="0" algn="l">
              <a:buNone/>
            </a:pPr>
            <a:r>
              <a:rPr lang="it-IT" sz="950" b="1" i="0" u="none">
                <a:solidFill>
                  <a:srgbClr val="1700E8"/>
                </a:solidFill>
                <a:latin typeface="Space Mono"/>
                <a:ea typeface="Space Mono"/>
                <a:cs typeface="Space Mono"/>
              </a:rPr>
              <a:t>01 · AI-made test</a:t>
            </a:r>
            <a:r>
              <a:rPr lang="it-IT" sz="800" b="1" i="0" u="none">
                <a:solidFill>
                  <a:srgbClr val="111111"/>
                </a:solidFill>
                <a:latin typeface="Space Mono"/>
                <a:ea typeface="Space Mono"/>
                <a:cs typeface="Space Mono"/>
              </a:rPr>
              <a:t>  → games + probes</a:t>
            </a:r>
          </a:p>
        </p:txBody>
      </p:sp>
      <p:sp>
        <p:nvSpPr>
          <p:cNvPr id="51" name="TextBox 50"/>
          <p:cNvSpPr txBox="1"/>
          <p:nvPr/>
        </p:nvSpPr>
        <p:spPr>
          <a:xfrm>
            <a:off x="5157216" y="886968"/>
            <a:ext cx="3364992" cy="540084"/>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Classificare 16 foto su 5 livelli è un </a:t>
            </a:r>
            <a:r>
              <a:rPr lang="it-IT" sz="850" b="1" i="0" u="none">
                <a:solidFill>
                  <a:srgbClr val="111111"/>
                </a:solidFill>
                <a:latin typeface="Plus Jakarta Sans"/>
                <a:ea typeface="Plus Jakarta Sans"/>
                <a:cs typeface="Plus Jakarta Sans"/>
              </a:rPr>
              <a:t>gioco</a:t>
            </a:r>
            <a:r>
              <a:rPr lang="it-IT" sz="850" b="0" i="0" u="none">
                <a:solidFill>
                  <a:srgbClr val="111111"/>
                </a:solidFill>
                <a:latin typeface="Plus Jakarta Sans"/>
                <a:ea typeface="Plus Jakarta Sans"/>
                <a:cs typeface="Plus Jakarta Sans"/>
              </a:rPr>
              <a:t>, come il card </a:t>
            </a:r>
            <a:r>
              <a:rPr lang="it-IT" sz="850" b="0" i="0" u="none" err="1">
                <a:solidFill>
                  <a:srgbClr val="111111"/>
                </a:solidFill>
                <a:latin typeface="Plus Jakarta Sans"/>
                <a:ea typeface="Plus Jakarta Sans"/>
                <a:cs typeface="Plus Jakarta Sans"/>
              </a:rPr>
              <a:t>sorting</a:t>
            </a:r>
            <a:r>
              <a:rPr lang="it-IT" sz="850" b="0" i="0" u="none">
                <a:solidFill>
                  <a:srgbClr val="111111"/>
                </a:solidFill>
                <a:latin typeface="Plus Jakarta Sans"/>
                <a:ea typeface="Plus Jakarta Sans"/>
                <a:cs typeface="Plus Jakarta Sans"/>
              </a:rPr>
              <a:t> del paper: rende tangibile ciò che i ragazzi sanno. L'autovalutazione </a:t>
            </a:r>
            <a:r>
              <a:rPr lang="it-IT" sz="850">
                <a:solidFill>
                  <a:srgbClr val="111111"/>
                </a:solidFill>
                <a:latin typeface="Plus Jakarta Sans"/>
                <a:ea typeface="Plus Jakarta Sans"/>
                <a:cs typeface="Plus Jakarta Sans"/>
              </a:rPr>
              <a:t>e</a:t>
            </a:r>
            <a:r>
              <a:rPr lang="it-IT" sz="850" b="0" i="0" u="none">
                <a:solidFill>
                  <a:srgbClr val="111111"/>
                </a:solidFill>
                <a:latin typeface="Plus Jakarta Sans"/>
                <a:ea typeface="Plus Jakarta Sans"/>
                <a:cs typeface="Plus Jakarta Sans"/>
              </a:rPr>
              <a:t> le schede anonime funzionano da </a:t>
            </a:r>
            <a:r>
              <a:rPr lang="it-IT" sz="850" b="1" i="0" u="none">
                <a:solidFill>
                  <a:srgbClr val="111111"/>
                </a:solidFill>
                <a:latin typeface="Plus Jakarta Sans"/>
                <a:ea typeface="Plus Jakarta Sans"/>
                <a:cs typeface="Plus Jakarta Sans"/>
              </a:rPr>
              <a:t>probe</a:t>
            </a:r>
            <a:r>
              <a:rPr lang="it-IT" sz="850" b="0" i="0" u="none">
                <a:solidFill>
                  <a:srgbClr val="111111"/>
                </a:solidFill>
                <a:latin typeface="Plus Jakarta Sans"/>
                <a:ea typeface="Plus Jakarta Sans"/>
                <a:cs typeface="Plus Jakarta Sans"/>
              </a:rPr>
              <a:t>: fanno emergere la competenza reale e tornano a noi da analizzare.</a:t>
            </a:r>
          </a:p>
        </p:txBody>
      </p:sp>
      <p:sp>
        <p:nvSpPr>
          <p:cNvPr id="52" name="TextBox 51"/>
          <p:cNvSpPr txBox="1"/>
          <p:nvPr/>
        </p:nvSpPr>
        <p:spPr>
          <a:xfrm>
            <a:off x="5157216" y="1472184"/>
            <a:ext cx="3364992" cy="164592"/>
          </a:xfrm>
          <a:prstGeom prst="rect">
            <a:avLst/>
          </a:prstGeom>
          <a:noFill/>
        </p:spPr>
        <p:txBody>
          <a:bodyPr wrap="square" lIns="0" tIns="0" rIns="0" bIns="0" anchor="t">
            <a:spAutoFit/>
          </a:bodyPr>
          <a:lstStyle/>
          <a:p>
            <a:pPr marL="0" indent="0" algn="l">
              <a:buNone/>
            </a:pPr>
            <a:r>
              <a:rPr lang="it-IT" sz="750" b="0" i="0" u="none">
                <a:solidFill>
                  <a:srgbClr val="6B6B78"/>
                </a:solidFill>
                <a:latin typeface="Space Mono"/>
                <a:ea typeface="Space Mono"/>
                <a:cs typeface="Space Mono"/>
              </a:rPr>
              <a:t>scopo: </a:t>
            </a:r>
            <a:r>
              <a:rPr lang="it-IT" sz="750" b="1" i="0" u="none">
                <a:solidFill>
                  <a:srgbClr val="1700E8"/>
                </a:solidFill>
                <a:latin typeface="Space Mono"/>
                <a:ea typeface="Space Mono"/>
                <a:cs typeface="Space Mono"/>
              </a:rPr>
              <a:t>sondare · preparare al tema</a:t>
            </a:r>
          </a:p>
        </p:txBody>
      </p:sp>
      <p:sp>
        <p:nvSpPr>
          <p:cNvPr id="53" name="Card 02 ombra"/>
          <p:cNvSpPr/>
          <p:nvPr/>
        </p:nvSpPr>
        <p:spPr>
          <a:xfrm>
            <a:off x="5102352" y="1828800"/>
            <a:ext cx="3611880" cy="1216152"/>
          </a:xfrm>
          <a:prstGeom prst="rect">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Card 02"/>
          <p:cNvSpPr/>
          <p:nvPr/>
        </p:nvSpPr>
        <p:spPr>
          <a:xfrm>
            <a:off x="5029200" y="1755648"/>
            <a:ext cx="3611880" cy="1216152"/>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Icona"/>
          <p:cNvSpPr/>
          <p:nvPr/>
        </p:nvSpPr>
        <p:spPr>
          <a:xfrm>
            <a:off x="5138928" y="1856231"/>
            <a:ext cx="256032" cy="256032"/>
          </a:xfrm>
          <a:prstGeom prst="ellipse">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6" name="Picture 55" descr="image.png"/>
          <p:cNvPicPr>
            <a:picLocks noChangeAspect="1"/>
          </p:cNvPicPr>
          <p:nvPr/>
        </p:nvPicPr>
        <p:blipFill>
          <a:blip r:embed="rId4"/>
          <a:stretch>
            <a:fillRect/>
          </a:stretch>
        </p:blipFill>
        <p:spPr>
          <a:xfrm>
            <a:off x="5207508" y="1924812"/>
            <a:ext cx="118872" cy="118872"/>
          </a:xfrm>
          <a:prstGeom prst="rect">
            <a:avLst/>
          </a:prstGeom>
        </p:spPr>
      </p:pic>
      <p:sp>
        <p:nvSpPr>
          <p:cNvPr id="57" name="TextBox 56"/>
          <p:cNvSpPr txBox="1"/>
          <p:nvPr/>
        </p:nvSpPr>
        <p:spPr>
          <a:xfrm>
            <a:off x="5477256" y="1847088"/>
            <a:ext cx="3063240" cy="274320"/>
          </a:xfrm>
          <a:prstGeom prst="rect">
            <a:avLst/>
          </a:prstGeom>
          <a:noFill/>
        </p:spPr>
        <p:txBody>
          <a:bodyPr wrap="square" lIns="0" tIns="0" rIns="0" bIns="0" anchor="ctr">
            <a:spAutoFit/>
          </a:bodyPr>
          <a:lstStyle/>
          <a:p>
            <a:pPr marL="0" indent="0" algn="l">
              <a:buNone/>
            </a:pPr>
            <a:r>
              <a:rPr lang="it-IT" sz="950" b="1" i="0" u="none">
                <a:solidFill>
                  <a:srgbClr val="1700E8"/>
                </a:solidFill>
                <a:latin typeface="Space Mono"/>
                <a:ea typeface="Space Mono"/>
                <a:cs typeface="Space Mono"/>
              </a:rPr>
              <a:t>02 · chat analysis</a:t>
            </a:r>
            <a:r>
              <a:rPr lang="it-IT" sz="800" b="1" i="0" u="none">
                <a:solidFill>
                  <a:srgbClr val="111111"/>
                </a:solidFill>
                <a:latin typeface="Space Mono"/>
                <a:ea typeface="Space Mono"/>
                <a:cs typeface="Space Mono"/>
              </a:rPr>
              <a:t>  → scenarios + «magic if»</a:t>
            </a:r>
          </a:p>
        </p:txBody>
      </p:sp>
      <p:sp>
        <p:nvSpPr>
          <p:cNvPr id="58" name="TextBox 57"/>
          <p:cNvSpPr txBox="1"/>
          <p:nvPr/>
        </p:nvSpPr>
        <p:spPr>
          <a:xfrm>
            <a:off x="5157216" y="2185415"/>
            <a:ext cx="3364992" cy="566928"/>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Le chat simulate sono </a:t>
            </a:r>
            <a:r>
              <a:rPr lang="it-IT" sz="850" b="1" i="0" u="none">
                <a:solidFill>
                  <a:srgbClr val="111111"/>
                </a:solidFill>
                <a:latin typeface="Plus Jakarta Sans"/>
                <a:ea typeface="Plus Jakarta Sans"/>
                <a:cs typeface="Plus Jakarta Sans"/>
              </a:rPr>
              <a:t>scenari</a:t>
            </a:r>
            <a:r>
              <a:rPr lang="it-IT" sz="850" b="0" i="0" u="none">
                <a:solidFill>
                  <a:srgbClr val="111111"/>
                </a:solidFill>
                <a:latin typeface="Plus Jakarta Sans"/>
                <a:ea typeface="Plus Jakarta Sans"/>
                <a:cs typeface="Plus Jakarta Sans"/>
              </a:rPr>
              <a:t>: storie con un inizio, uno sviluppo e una fine. Leggerle «come se fossero arrivate a voi» è la </a:t>
            </a:r>
            <a:r>
              <a:rPr lang="it-IT" sz="850" b="1" i="0" u="none" err="1">
                <a:solidFill>
                  <a:srgbClr val="111111"/>
                </a:solidFill>
                <a:latin typeface="Plus Jakarta Sans"/>
                <a:ea typeface="Plus Jakarta Sans"/>
                <a:cs typeface="Plus Jakarta Sans"/>
              </a:rPr>
              <a:t>magic</a:t>
            </a:r>
            <a:r>
              <a:rPr lang="it-IT" sz="850" b="1" i="0" u="none">
                <a:solidFill>
                  <a:srgbClr val="111111"/>
                </a:solidFill>
                <a:latin typeface="Plus Jakarta Sans"/>
                <a:ea typeface="Plus Jakarta Sans"/>
                <a:cs typeface="Plus Jakarta Sans"/>
              </a:rPr>
              <a:t> if</a:t>
            </a:r>
            <a:r>
              <a:rPr lang="it-IT" sz="850" b="0" i="0" u="none">
                <a:solidFill>
                  <a:srgbClr val="111111"/>
                </a:solidFill>
                <a:latin typeface="Plus Jakarta Sans"/>
                <a:ea typeface="Plus Jakarta Sans"/>
                <a:cs typeface="Plus Jakarta Sans"/>
              </a:rPr>
              <a:t> di </a:t>
            </a:r>
            <a:r>
              <a:rPr lang="it-IT" sz="850" b="0" i="0" u="none" err="1">
                <a:solidFill>
                  <a:srgbClr val="111111"/>
                </a:solidFill>
                <a:latin typeface="Plus Jakarta Sans"/>
                <a:ea typeface="Plus Jakarta Sans"/>
                <a:cs typeface="Plus Jakarta Sans"/>
              </a:rPr>
              <a:t>Stanislavski</a:t>
            </a:r>
            <a:r>
              <a:rPr lang="it-IT" sz="850" b="0" i="0" u="none">
                <a:solidFill>
                  <a:srgbClr val="111111"/>
                </a:solidFill>
                <a:latin typeface="Plus Jakarta Sans"/>
                <a:ea typeface="Plus Jakarta Sans"/>
                <a:cs typeface="Plus Jakarta Sans"/>
              </a:rPr>
              <a:t>: e se toccasse a te? È un </a:t>
            </a:r>
            <a:r>
              <a:rPr lang="it-IT" sz="850" b="0" i="0" u="none" err="1">
                <a:solidFill>
                  <a:srgbClr val="111111"/>
                </a:solidFill>
                <a:latin typeface="Plus Jakarta Sans"/>
                <a:ea typeface="Plus Jakarta Sans"/>
                <a:cs typeface="Plus Jakarta Sans"/>
              </a:rPr>
              <a:t>enacting</a:t>
            </a:r>
            <a:r>
              <a:rPr lang="it-IT" sz="850" b="0" i="0" u="none">
                <a:solidFill>
                  <a:srgbClr val="111111"/>
                </a:solidFill>
                <a:latin typeface="Plus Jakarta Sans"/>
                <a:ea typeface="Plus Jakarta Sans"/>
                <a:cs typeface="Plus Jakarta Sans"/>
              </a:rPr>
              <a:t> leggero, perché si legge e si risponde invece di recitare.</a:t>
            </a:r>
          </a:p>
        </p:txBody>
      </p:sp>
      <p:sp>
        <p:nvSpPr>
          <p:cNvPr id="59" name="TextBox 58"/>
          <p:cNvSpPr txBox="1"/>
          <p:nvPr/>
        </p:nvSpPr>
        <p:spPr>
          <a:xfrm>
            <a:off x="5157216" y="2770632"/>
            <a:ext cx="3364992" cy="164592"/>
          </a:xfrm>
          <a:prstGeom prst="rect">
            <a:avLst/>
          </a:prstGeom>
          <a:noFill/>
        </p:spPr>
        <p:txBody>
          <a:bodyPr wrap="square" lIns="0" tIns="0" rIns="0" bIns="0" anchor="t">
            <a:spAutoFit/>
          </a:bodyPr>
          <a:lstStyle/>
          <a:p>
            <a:pPr marL="0" indent="0" algn="l">
              <a:buNone/>
            </a:pPr>
            <a:r>
              <a:rPr lang="it-IT" sz="750" b="0" i="0" u="none">
                <a:solidFill>
                  <a:srgbClr val="6B6B78"/>
                </a:solidFill>
                <a:latin typeface="Space Mono"/>
                <a:ea typeface="Space Mono"/>
                <a:cs typeface="Space Mono"/>
              </a:rPr>
              <a:t>scopo: </a:t>
            </a:r>
            <a:r>
              <a:rPr lang="it-IT" sz="750" b="1" i="0" u="none">
                <a:solidFill>
                  <a:srgbClr val="1700E8"/>
                </a:solidFill>
                <a:latin typeface="Space Mono"/>
                <a:ea typeface="Space Mono"/>
                <a:cs typeface="Space Mono"/>
              </a:rPr>
              <a:t>capire · far emergere le reazioni</a:t>
            </a:r>
          </a:p>
        </p:txBody>
      </p:sp>
      <p:sp>
        <p:nvSpPr>
          <p:cNvPr id="60" name="Card 03 ombra"/>
          <p:cNvSpPr/>
          <p:nvPr/>
        </p:nvSpPr>
        <p:spPr>
          <a:xfrm>
            <a:off x="5102352" y="3127248"/>
            <a:ext cx="3611880" cy="1216152"/>
          </a:xfrm>
          <a:prstGeom prst="rect">
            <a:avLst/>
          </a:prstGeom>
          <a:solidFill>
            <a:srgbClr val="FBD5D9"/>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Card 03"/>
          <p:cNvSpPr/>
          <p:nvPr/>
        </p:nvSpPr>
        <p:spPr>
          <a:xfrm>
            <a:off x="5029200" y="3054096"/>
            <a:ext cx="3611880" cy="1216152"/>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Icona"/>
          <p:cNvSpPr/>
          <p:nvPr/>
        </p:nvSpPr>
        <p:spPr>
          <a:xfrm>
            <a:off x="5138928" y="3154679"/>
            <a:ext cx="256032" cy="256032"/>
          </a:xfrm>
          <a:prstGeom prst="ellipse">
            <a:avLst/>
          </a:prstGeom>
          <a:solidFill>
            <a:srgbClr val="E7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3" name="Picture 62" descr="image.png"/>
          <p:cNvPicPr>
            <a:picLocks noChangeAspect="1"/>
          </p:cNvPicPr>
          <p:nvPr/>
        </p:nvPicPr>
        <p:blipFill>
          <a:blip r:embed="rId5"/>
          <a:stretch>
            <a:fillRect/>
          </a:stretch>
        </p:blipFill>
        <p:spPr>
          <a:xfrm>
            <a:off x="5207508" y="3223260"/>
            <a:ext cx="118872" cy="118872"/>
          </a:xfrm>
          <a:prstGeom prst="rect">
            <a:avLst/>
          </a:prstGeom>
        </p:spPr>
      </p:pic>
      <p:sp>
        <p:nvSpPr>
          <p:cNvPr id="64" name="TextBox 63"/>
          <p:cNvSpPr txBox="1"/>
          <p:nvPr/>
        </p:nvSpPr>
        <p:spPr>
          <a:xfrm>
            <a:off x="5477256" y="3145536"/>
            <a:ext cx="3063240" cy="274320"/>
          </a:xfrm>
          <a:prstGeom prst="rect">
            <a:avLst/>
          </a:prstGeom>
          <a:noFill/>
        </p:spPr>
        <p:txBody>
          <a:bodyPr wrap="square" lIns="0" tIns="0" rIns="0" bIns="0" anchor="ctr">
            <a:spAutoFit/>
          </a:bodyPr>
          <a:lstStyle/>
          <a:p>
            <a:pPr marL="0" indent="0" algn="l">
              <a:buNone/>
            </a:pPr>
            <a:r>
              <a:rPr lang="it-IT" sz="950" b="1" i="0" u="none">
                <a:solidFill>
                  <a:srgbClr val="E71224"/>
                </a:solidFill>
                <a:latin typeface="Space Mono"/>
                <a:ea typeface="Space Mono"/>
                <a:cs typeface="Space Mono"/>
              </a:rPr>
              <a:t>03 · focus group</a:t>
            </a:r>
            <a:r>
              <a:rPr lang="it-IT" sz="800" b="1" i="0" u="none">
                <a:solidFill>
                  <a:srgbClr val="111111"/>
                </a:solidFill>
                <a:latin typeface="Space Mono"/>
                <a:ea typeface="Space Mono"/>
                <a:cs typeface="Space Mono"/>
              </a:rPr>
              <a:t>  → future workshop</a:t>
            </a:r>
          </a:p>
        </p:txBody>
      </p:sp>
      <p:sp>
        <p:nvSpPr>
          <p:cNvPr id="65" name="TextBox 64"/>
          <p:cNvSpPr txBox="1"/>
          <p:nvPr/>
        </p:nvSpPr>
        <p:spPr>
          <a:xfrm>
            <a:off x="5157216" y="3483863"/>
            <a:ext cx="3364992" cy="566928"/>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La tavola rotonda è </a:t>
            </a:r>
            <a:r>
              <a:rPr lang="it-IT" sz="850" b="1" i="0" u="none">
                <a:solidFill>
                  <a:srgbClr val="111111"/>
                </a:solidFill>
                <a:latin typeface="Plus Jakarta Sans"/>
                <a:ea typeface="Plus Jakarta Sans"/>
                <a:cs typeface="Plus Jakarta Sans"/>
              </a:rPr>
              <a:t>telling</a:t>
            </a:r>
            <a:r>
              <a:rPr lang="it-IT" sz="850" b="0" i="0" u="none">
                <a:solidFill>
                  <a:srgbClr val="111111"/>
                </a:solidFill>
                <a:latin typeface="Plus Jakarta Sans"/>
                <a:ea typeface="Plus Jakarta Sans"/>
                <a:cs typeface="Plus Jakarta Sans"/>
              </a:rPr>
              <a:t> guidato: ogni domanda parte da un problema reale (fiducia, capacità, paura degli adulti) e la sotto-domanda chiede come dovrebbe funzionare il servizio, come nelle </a:t>
            </a:r>
            <a:r>
              <a:rPr lang="it-IT" sz="850" b="1" i="0" u="none">
                <a:solidFill>
                  <a:srgbClr val="111111"/>
                </a:solidFill>
                <a:latin typeface="Plus Jakarta Sans"/>
                <a:ea typeface="Plus Jakarta Sans"/>
                <a:cs typeface="Plus Jakarta Sans"/>
              </a:rPr>
              <a:t>future workshop</a:t>
            </a:r>
            <a:r>
              <a:rPr lang="it-IT" sz="850" b="0" i="0" u="none">
                <a:solidFill>
                  <a:srgbClr val="111111"/>
                </a:solidFill>
                <a:latin typeface="Plus Jakarta Sans"/>
                <a:ea typeface="Plus Jakarta Sans"/>
                <a:cs typeface="Plus Jakarta Sans"/>
              </a:rPr>
              <a:t>.</a:t>
            </a:r>
          </a:p>
        </p:txBody>
      </p:sp>
      <p:sp>
        <p:nvSpPr>
          <p:cNvPr id="66" name="TextBox 65"/>
          <p:cNvSpPr txBox="1"/>
          <p:nvPr/>
        </p:nvSpPr>
        <p:spPr>
          <a:xfrm>
            <a:off x="5157216" y="4069080"/>
            <a:ext cx="3364992" cy="164592"/>
          </a:xfrm>
          <a:prstGeom prst="rect">
            <a:avLst/>
          </a:prstGeom>
          <a:noFill/>
        </p:spPr>
        <p:txBody>
          <a:bodyPr wrap="square" lIns="0" tIns="0" rIns="0" bIns="0" anchor="t">
            <a:spAutoFit/>
          </a:bodyPr>
          <a:lstStyle/>
          <a:p>
            <a:pPr marL="0" indent="0" algn="l">
              <a:buNone/>
            </a:pPr>
            <a:r>
              <a:rPr lang="it-IT" sz="750" b="0" i="0" u="none">
                <a:solidFill>
                  <a:srgbClr val="6B6B78"/>
                </a:solidFill>
                <a:latin typeface="Space Mono"/>
                <a:ea typeface="Space Mono"/>
                <a:cs typeface="Space Mono"/>
              </a:rPr>
              <a:t>scopo: </a:t>
            </a:r>
            <a:r>
              <a:rPr lang="it-IT" sz="750" b="1" i="0" u="none">
                <a:solidFill>
                  <a:srgbClr val="E71224"/>
                </a:solidFill>
                <a:latin typeface="Space Mono"/>
                <a:ea typeface="Space Mono"/>
                <a:cs typeface="Space Mono"/>
              </a:rPr>
              <a:t>capire · generare idee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01 · AI-made test</a:t>
            </a:r>
            <a:endParaRPr lang="en-US" sz="800">
              <a:latin typeface="Space Mono"/>
              <a:ea typeface="Space Mono"/>
              <a:cs typeface="Space Mono"/>
            </a:endParaRPr>
          </a:p>
        </p:txBody>
      </p:sp>
      <p:sp>
        <p:nvSpPr>
          <p:cNvPr id="3" name="Text 1"/>
          <p:cNvSpPr txBox="1"/>
          <p:nvPr/>
        </p:nvSpPr>
        <p:spPr>
          <a:xfrm>
            <a:off x="502920" y="502920"/>
            <a:ext cx="4572000" cy="868680"/>
          </a:xfrm>
          <a:prstGeom prst="rect">
            <a:avLst/>
          </a:prstGeom>
          <a:noFill/>
          <a:ln/>
        </p:spPr>
        <p:txBody>
          <a:bodyPr wrap="square" lIns="0" tIns="0" rIns="0" bIns="0" rtlCol="0" anchor="t"/>
          <a:lstStyle/>
          <a:p>
            <a:pPr marL="0" indent="0">
              <a:lnSpc>
                <a:spcPct val="90000"/>
              </a:lnSpc>
              <a:buNone/>
            </a:pPr>
            <a:r>
              <a:rPr lang="en-US" sz="2600" b="1" err="1">
                <a:solidFill>
                  <a:srgbClr val="1700E8"/>
                </a:solidFill>
                <a:latin typeface="Space Mono" pitchFamily="34" charset="0"/>
                <a:ea typeface="Space Mono" pitchFamily="34" charset="-122"/>
                <a:cs typeface="Space Mono" pitchFamily="34" charset="-120"/>
              </a:rPr>
              <a:t>sentirsi</a:t>
            </a:r>
            <a:r>
              <a:rPr lang="en-US" sz="2600" b="1">
                <a:solidFill>
                  <a:srgbClr val="1700E8"/>
                </a:solidFill>
                <a:latin typeface="Space Mono" pitchFamily="34" charset="0"/>
                <a:ea typeface="Space Mono" pitchFamily="34" charset="-122"/>
                <a:cs typeface="Space Mono" pitchFamily="34" charset="-120"/>
              </a:rPr>
              <a:t> </a:t>
            </a:r>
            <a:r>
              <a:rPr lang="en-US" sz="2600" b="1" err="1">
                <a:solidFill>
                  <a:srgbClr val="1700E8"/>
                </a:solidFill>
                <a:latin typeface="Space Mono" pitchFamily="34" charset="0"/>
                <a:ea typeface="Space Mono" pitchFamily="34" charset="-122"/>
                <a:cs typeface="Space Mono" pitchFamily="34" charset="-120"/>
              </a:rPr>
              <a:t>capaci</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non basta, </a:t>
            </a:r>
            <a:r>
              <a:rPr lang="en-US" sz="2600" b="1" err="1">
                <a:solidFill>
                  <a:srgbClr val="1700E8"/>
                </a:solidFill>
                <a:latin typeface="Space Mono" pitchFamily="34" charset="0"/>
                <a:ea typeface="Space Mono" pitchFamily="34" charset="-122"/>
                <a:cs typeface="Space Mono" pitchFamily="34" charset="-120"/>
              </a:rPr>
              <a:t>ancora</a:t>
            </a:r>
            <a:endParaRPr lang="en-US" sz="2600">
              <a:latin typeface="Space Mono"/>
              <a:ea typeface="Space Mono"/>
              <a:cs typeface="Space Mono"/>
            </a:endParaRPr>
          </a:p>
        </p:txBody>
      </p:sp>
      <p:graphicFrame>
        <p:nvGraphicFramePr>
          <p:cNvPr id="4" name="Chart 0"/>
          <p:cNvGraphicFramePr/>
          <p:nvPr/>
        </p:nvGraphicFramePr>
        <p:xfrm>
          <a:off x="411480" y="146304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2"/>
          <p:cNvSpPr txBox="1"/>
          <p:nvPr/>
        </p:nvSpPr>
        <p:spPr>
          <a:xfrm>
            <a:off x="5394960" y="502920"/>
            <a:ext cx="1600200" cy="502920"/>
          </a:xfrm>
          <a:prstGeom prst="rect">
            <a:avLst/>
          </a:prstGeom>
          <a:noFill/>
          <a:ln/>
        </p:spPr>
        <p:txBody>
          <a:bodyPr wrap="square" lIns="0" tIns="0" rIns="0" bIns="0" rtlCol="0" anchor="ctr"/>
          <a:lstStyle/>
          <a:p>
            <a:pPr marL="0" indent="0">
              <a:buNone/>
            </a:pPr>
            <a:r>
              <a:rPr lang="en-US" sz="2200" b="1">
                <a:solidFill>
                  <a:srgbClr val="1700E8"/>
                </a:solidFill>
                <a:latin typeface="Space Mono" pitchFamily="34" charset="0"/>
                <a:ea typeface="Space Mono" pitchFamily="34" charset="-122"/>
                <a:cs typeface="Space Mono" pitchFamily="34" charset="-120"/>
              </a:rPr>
              <a:t>6,6/10</a:t>
            </a:r>
            <a:endParaRPr lang="en-US" sz="2200">
              <a:latin typeface="Space Mono"/>
              <a:ea typeface="Space Mono"/>
              <a:cs typeface="Space Mono"/>
            </a:endParaRPr>
          </a:p>
        </p:txBody>
      </p:sp>
      <p:sp>
        <p:nvSpPr>
          <p:cNvPr id="6" name="Text 3"/>
          <p:cNvSpPr txBox="1"/>
          <p:nvPr/>
        </p:nvSpPr>
        <p:spPr>
          <a:xfrm>
            <a:off x="7040880" y="502920"/>
            <a:ext cx="1600200" cy="640080"/>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quanto si sentivano capaci di riconoscere un falso, prima del quiz</a:t>
            </a:r>
            <a:endParaRPr lang="en-US" sz="850">
              <a:latin typeface="Plus Jakarta Sans"/>
              <a:ea typeface="Plus Jakarta Sans"/>
              <a:cs typeface="Plus Jakarta Sans"/>
            </a:endParaRPr>
          </a:p>
        </p:txBody>
      </p:sp>
      <p:sp>
        <p:nvSpPr>
          <p:cNvPr id="7" name="Text 4"/>
          <p:cNvSpPr txBox="1"/>
          <p:nvPr/>
        </p:nvSpPr>
        <p:spPr>
          <a:xfrm>
            <a:off x="5394960" y="1371600"/>
            <a:ext cx="1600200" cy="502920"/>
          </a:xfrm>
          <a:prstGeom prst="rect">
            <a:avLst/>
          </a:prstGeom>
          <a:noFill/>
          <a:ln/>
        </p:spPr>
        <p:txBody>
          <a:bodyPr wrap="square" lIns="0" tIns="0" rIns="0" bIns="0" rtlCol="0" anchor="ctr"/>
          <a:lstStyle/>
          <a:p>
            <a:pPr marL="0" indent="0">
              <a:buNone/>
            </a:pPr>
            <a:r>
              <a:rPr lang="en-US" sz="2200" b="1">
                <a:solidFill>
                  <a:srgbClr val="E71224"/>
                </a:solidFill>
                <a:latin typeface="Space Mono" pitchFamily="34" charset="0"/>
                <a:ea typeface="Space Mono" pitchFamily="34" charset="-122"/>
                <a:cs typeface="Space Mono" pitchFamily="34" charset="-120"/>
              </a:rPr>
              <a:t>53%</a:t>
            </a:r>
            <a:endParaRPr lang="en-US" sz="2200">
              <a:latin typeface="Space Mono"/>
              <a:ea typeface="Space Mono"/>
              <a:cs typeface="Space Mono"/>
            </a:endParaRPr>
          </a:p>
        </p:txBody>
      </p:sp>
      <p:sp>
        <p:nvSpPr>
          <p:cNvPr id="8" name="Text 5"/>
          <p:cNvSpPr txBox="1"/>
          <p:nvPr/>
        </p:nvSpPr>
        <p:spPr>
          <a:xfrm>
            <a:off x="7040880" y="1371600"/>
            <a:ext cx="1600200" cy="640080"/>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risposte corrette al livello 4, contro il 93% dei livelli 0–1</a:t>
            </a:r>
            <a:endParaRPr lang="en-US" sz="850">
              <a:latin typeface="Plus Jakarta Sans"/>
              <a:ea typeface="Plus Jakarta Sans"/>
              <a:cs typeface="Plus Jakarta Sans"/>
            </a:endParaRPr>
          </a:p>
        </p:txBody>
      </p:sp>
      <p:sp>
        <p:nvSpPr>
          <p:cNvPr id="9" name="Text 6"/>
          <p:cNvSpPr txBox="1"/>
          <p:nvPr/>
        </p:nvSpPr>
        <p:spPr>
          <a:xfrm>
            <a:off x="5394960" y="2240280"/>
            <a:ext cx="1600200" cy="502920"/>
          </a:xfrm>
          <a:prstGeom prst="rect">
            <a:avLst/>
          </a:prstGeom>
          <a:noFill/>
          <a:ln/>
        </p:spPr>
        <p:txBody>
          <a:bodyPr wrap="square" lIns="0" tIns="0" rIns="0" bIns="0" rtlCol="0" anchor="ctr"/>
          <a:lstStyle/>
          <a:p>
            <a:pPr marL="0" indent="0">
              <a:buNone/>
            </a:pPr>
            <a:r>
              <a:rPr lang="en-US" sz="2200" b="1">
                <a:solidFill>
                  <a:srgbClr val="1700E8"/>
                </a:solidFill>
                <a:latin typeface="Space Mono" pitchFamily="34" charset="0"/>
                <a:ea typeface="Space Mono" pitchFamily="34" charset="-122"/>
                <a:cs typeface="Space Mono" pitchFamily="34" charset="-120"/>
              </a:rPr>
              <a:t>0 su 5</a:t>
            </a:r>
            <a:endParaRPr lang="en-US" sz="2200">
              <a:latin typeface="Space Mono"/>
              <a:ea typeface="Space Mono"/>
              <a:cs typeface="Space Mono"/>
            </a:endParaRPr>
          </a:p>
        </p:txBody>
      </p:sp>
      <p:sp>
        <p:nvSpPr>
          <p:cNvPr id="10" name="Text 7"/>
          <p:cNvSpPr txBox="1"/>
          <p:nvPr/>
        </p:nvSpPr>
        <p:spPr>
          <a:xfrm>
            <a:off x="7040880" y="2240280"/>
            <a:ext cx="1600200" cy="640080"/>
          </a:xfrm>
          <a:prstGeom prst="rect">
            <a:avLst/>
          </a:prstGeom>
          <a:noFill/>
          <a:ln/>
        </p:spPr>
        <p:txBody>
          <a:bodyPr wrap="square" lIns="0" tIns="0" rIns="0" bIns="0" rtlCol="0" anchor="ctr"/>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squadre hanno riconosciuto come IA la foto 3 del livello 4</a:t>
            </a:r>
            <a:endParaRPr lang="en-US" sz="850">
              <a:latin typeface="Plus Jakarta Sans"/>
              <a:ea typeface="Plus Jakarta Sans"/>
              <a:cs typeface="Plus Jakarta Sans"/>
            </a:endParaRPr>
          </a:p>
        </p:txBody>
      </p:sp>
      <p:sp>
        <p:nvSpPr>
          <p:cNvPr id="11" name="Shape 8"/>
          <p:cNvSpPr/>
          <p:nvPr/>
        </p:nvSpPr>
        <p:spPr>
          <a:xfrm>
            <a:off x="5468112" y="3273552"/>
            <a:ext cx="3246120" cy="1143000"/>
          </a:xfrm>
          <a:prstGeom prst="rect">
            <a:avLst/>
          </a:prstGeom>
          <a:solidFill>
            <a:srgbClr val="111111"/>
          </a:solidFill>
          <a:ln w="15875">
            <a:solidFill>
              <a:srgbClr val="111111"/>
            </a:solidFill>
            <a:prstDash val="solid"/>
          </a:ln>
        </p:spPr>
        <p:txBody>
          <a:bodyPr/>
          <a:lstStyle/>
          <a:p>
            <a:endParaRPr lang="it-IT"/>
          </a:p>
        </p:txBody>
      </p:sp>
      <p:sp>
        <p:nvSpPr>
          <p:cNvPr id="12" name="Shape 9"/>
          <p:cNvSpPr/>
          <p:nvPr/>
        </p:nvSpPr>
        <p:spPr>
          <a:xfrm>
            <a:off x="5394960" y="3200400"/>
            <a:ext cx="3246120" cy="1143000"/>
          </a:xfrm>
          <a:prstGeom prst="rect">
            <a:avLst/>
          </a:prstGeom>
          <a:solidFill>
            <a:srgbClr val="1700E8"/>
          </a:solidFill>
          <a:ln w="15875">
            <a:solidFill>
              <a:srgbClr val="111111"/>
            </a:solidFill>
            <a:prstDash val="solid"/>
          </a:ln>
        </p:spPr>
        <p:txBody>
          <a:bodyPr/>
          <a:lstStyle/>
          <a:p>
            <a:endParaRPr lang="it-IT"/>
          </a:p>
        </p:txBody>
      </p:sp>
      <p:sp>
        <p:nvSpPr>
          <p:cNvPr id="13" name="Text 10"/>
          <p:cNvSpPr txBox="1"/>
          <p:nvPr/>
        </p:nvSpPr>
        <p:spPr>
          <a:xfrm>
            <a:off x="5532120" y="3291840"/>
            <a:ext cx="3017520" cy="960120"/>
          </a:xfrm>
          <a:prstGeom prst="rect">
            <a:avLst/>
          </a:prstGeom>
          <a:noFill/>
          <a:ln/>
        </p:spPr>
        <p:txBody>
          <a:bodyPr wrap="square" lIns="0" tIns="0" rIns="0" bIns="0" rtlCol="0" anchor="ctr"/>
          <a:lstStyle/>
          <a:p>
            <a:pPr marL="0" indent="0" algn="just">
              <a:buNone/>
            </a:pPr>
            <a:r>
              <a:rPr lang="en-US" sz="950" i="1">
                <a:solidFill>
                  <a:srgbClr val="FFFFFF"/>
                </a:solidFill>
                <a:latin typeface="Plus Jakarta Sans" pitchFamily="34" charset="0"/>
                <a:ea typeface="Plus Jakarta Sans" pitchFamily="34" charset="-122"/>
                <a:cs typeface="Plus Jakarta Sans" pitchFamily="34" charset="-120"/>
              </a:rPr>
              <a:t>«È stato sconvolgente scoprire di non essere capaci di individuare, nei livelli più avanzati, le immagini create dall'IA»</a:t>
            </a:r>
            <a:endParaRPr lang="en-US" sz="950">
              <a:latin typeface="Plus Jakarta Sans"/>
              <a:ea typeface="Plus Jakarta Sans"/>
              <a:cs typeface="Plus Jakarta Sans"/>
            </a:endParaRPr>
          </a:p>
          <a:p>
            <a:pPr marL="0" indent="0">
              <a:buNone/>
            </a:pPr>
            <a:r>
              <a:rPr lang="en-US" sz="800" b="1">
                <a:solidFill>
                  <a:srgbClr val="FFFFFF"/>
                </a:solidFill>
                <a:latin typeface="Space Mono" pitchFamily="34" charset="0"/>
                <a:ea typeface="Space Mono" pitchFamily="34" charset="-122"/>
                <a:cs typeface="Space Mono" pitchFamily="34" charset="-120"/>
              </a:rPr>
              <a:t>— Dream Team</a:t>
            </a:r>
            <a:endParaRPr lang="en-US" sz="950">
              <a:latin typeface="Space Mono"/>
              <a:ea typeface="Space Mono"/>
              <a:cs typeface="Space Mono"/>
            </a:endParaRPr>
          </a:p>
        </p:txBody>
      </p:sp>
      <p:sp>
        <p:nvSpPr>
          <p:cNvPr id="25"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01 · AI-made test</a:t>
            </a:r>
            <a:endParaRPr lang="en-US" sz="800">
              <a:latin typeface="Space Mono"/>
              <a:ea typeface="Space Mono"/>
              <a:cs typeface="Space Mono"/>
            </a:endParaRPr>
          </a:p>
        </p:txBody>
      </p:sp>
      <p:sp>
        <p:nvSpPr>
          <p:cNvPr id="3" name="Text 1"/>
          <p:cNvSpPr txBox="1"/>
          <p:nvPr/>
        </p:nvSpPr>
        <p:spPr>
          <a:xfrm>
            <a:off x="502920" y="502920"/>
            <a:ext cx="45720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cosa guardano,</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dove sbagliano</a:t>
            </a:r>
            <a:endParaRPr lang="en-US" sz="2600">
              <a:latin typeface="Space Mono"/>
              <a:ea typeface="Space Mono"/>
              <a:cs typeface="Space Mono"/>
            </a:endParaRPr>
          </a:p>
        </p:txBody>
      </p:sp>
      <p:sp>
        <p:nvSpPr>
          <p:cNvPr id="4" name="Shape 2"/>
          <p:cNvSpPr/>
          <p:nvPr/>
        </p:nvSpPr>
        <p:spPr>
          <a:xfrm>
            <a:off x="576072" y="1581912"/>
            <a:ext cx="2194560" cy="1261872"/>
          </a:xfrm>
          <a:prstGeom prst="rect">
            <a:avLst/>
          </a:prstGeom>
          <a:solidFill>
            <a:srgbClr val="DEDAFF"/>
          </a:solidFill>
          <a:ln w="15875">
            <a:solidFill>
              <a:srgbClr val="111111"/>
            </a:solidFill>
            <a:prstDash val="solid"/>
          </a:ln>
        </p:spPr>
        <p:txBody>
          <a:bodyPr/>
          <a:lstStyle/>
          <a:p>
            <a:endParaRPr lang="it-IT"/>
          </a:p>
        </p:txBody>
      </p:sp>
      <p:sp>
        <p:nvSpPr>
          <p:cNvPr id="5" name="Shape 3"/>
          <p:cNvSpPr/>
          <p:nvPr/>
        </p:nvSpPr>
        <p:spPr>
          <a:xfrm>
            <a:off x="502920" y="1508760"/>
            <a:ext cx="2194560" cy="1261872"/>
          </a:xfrm>
          <a:prstGeom prst="rect">
            <a:avLst/>
          </a:prstGeom>
          <a:solidFill>
            <a:srgbClr val="FFFFFF"/>
          </a:solidFill>
          <a:ln w="15875">
            <a:solidFill>
              <a:srgbClr val="111111"/>
            </a:solidFill>
            <a:prstDash val="solid"/>
          </a:ln>
        </p:spPr>
        <p:txBody>
          <a:bodyPr/>
          <a:lstStyle/>
          <a:p>
            <a:endParaRPr lang="it-IT"/>
          </a:p>
        </p:txBody>
      </p:sp>
      <p:sp>
        <p:nvSpPr>
          <p:cNvPr id="6" name="Text 4"/>
          <p:cNvSpPr txBox="1"/>
          <p:nvPr/>
        </p:nvSpPr>
        <p:spPr>
          <a:xfrm>
            <a:off x="621792" y="1600200"/>
            <a:ext cx="1965960" cy="365760"/>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«troppo perfetto»</a:t>
            </a:r>
            <a:endParaRPr lang="en-US" sz="900">
              <a:latin typeface="Space Mono"/>
              <a:ea typeface="Space Mono"/>
              <a:cs typeface="Space Mono"/>
            </a:endParaRPr>
          </a:p>
        </p:txBody>
      </p:sp>
      <p:sp>
        <p:nvSpPr>
          <p:cNvPr id="7" name="Text 5"/>
          <p:cNvSpPr txBox="1"/>
          <p:nvPr/>
        </p:nvSpPr>
        <p:spPr>
          <a:xfrm>
            <a:off x="621792" y="2011680"/>
            <a:ext cx="1965960" cy="731520"/>
          </a:xfrm>
          <a:prstGeom prst="rect">
            <a:avLst/>
          </a:prstGeom>
          <a:noFill/>
          <a:ln/>
        </p:spPr>
        <p:txBody>
          <a:bodyPr wrap="square" lIns="0" tIns="0" rIns="0" bIns="0" rtlCol="0" anchor="t"/>
          <a:lstStyle/>
          <a:p>
            <a:pPr marL="0" indent="0" algn="just">
              <a:buNone/>
            </a:pPr>
            <a:r>
              <a:rPr lang="en-US" sz="830">
                <a:solidFill>
                  <a:srgbClr val="111111"/>
                </a:solidFill>
                <a:latin typeface="Plus Jakarta Sans" pitchFamily="34" charset="0"/>
                <a:ea typeface="Plus Jakarta Sans" pitchFamily="34" charset="-122"/>
                <a:cs typeface="Plus Jakarta Sans" pitchFamily="34" charset="-120"/>
              </a:rPr>
              <a:t>L'indizio più usato: 10 volte, 4 squadre su 5. Funziona sulle foto facili, ma su una foto vera del livello 2 genera falsi allarmi.</a:t>
            </a:r>
            <a:endParaRPr lang="en-US" sz="830">
              <a:latin typeface="Plus Jakarta Sans"/>
              <a:ea typeface="Plus Jakarta Sans"/>
              <a:cs typeface="Plus Jakarta Sans"/>
            </a:endParaRPr>
          </a:p>
        </p:txBody>
      </p:sp>
      <p:sp>
        <p:nvSpPr>
          <p:cNvPr id="8" name="Shape 6"/>
          <p:cNvSpPr/>
          <p:nvPr/>
        </p:nvSpPr>
        <p:spPr>
          <a:xfrm>
            <a:off x="2953512" y="1581912"/>
            <a:ext cx="2194560" cy="1261872"/>
          </a:xfrm>
          <a:prstGeom prst="rect">
            <a:avLst/>
          </a:prstGeom>
          <a:solidFill>
            <a:srgbClr val="FBD5D9"/>
          </a:solidFill>
          <a:ln w="15875">
            <a:solidFill>
              <a:srgbClr val="111111"/>
            </a:solidFill>
            <a:prstDash val="solid"/>
          </a:ln>
        </p:spPr>
        <p:txBody>
          <a:bodyPr/>
          <a:lstStyle/>
          <a:p>
            <a:endParaRPr lang="it-IT"/>
          </a:p>
        </p:txBody>
      </p:sp>
      <p:sp>
        <p:nvSpPr>
          <p:cNvPr id="9" name="Shape 7"/>
          <p:cNvSpPr/>
          <p:nvPr/>
        </p:nvSpPr>
        <p:spPr>
          <a:xfrm>
            <a:off x="2880360" y="1508760"/>
            <a:ext cx="2194560" cy="1261872"/>
          </a:xfrm>
          <a:prstGeom prst="rect">
            <a:avLst/>
          </a:prstGeom>
          <a:solidFill>
            <a:srgbClr val="FFFFFF"/>
          </a:solidFill>
          <a:ln w="15875">
            <a:solidFill>
              <a:srgbClr val="111111"/>
            </a:solidFill>
            <a:prstDash val="solid"/>
          </a:ln>
        </p:spPr>
        <p:txBody>
          <a:bodyPr/>
          <a:lstStyle/>
          <a:p>
            <a:endParaRPr lang="it-IT"/>
          </a:p>
        </p:txBody>
      </p:sp>
      <p:sp>
        <p:nvSpPr>
          <p:cNvPr id="10" name="Text 8"/>
          <p:cNvSpPr txBox="1"/>
          <p:nvPr/>
        </p:nvSpPr>
        <p:spPr>
          <a:xfrm>
            <a:off x="2999232" y="1600200"/>
            <a:ext cx="1965960" cy="365760"/>
          </a:xfrm>
          <a:prstGeom prst="rect">
            <a:avLst/>
          </a:prstGeom>
          <a:noFill/>
          <a:ln/>
        </p:spPr>
        <p:txBody>
          <a:bodyPr wrap="square" lIns="0" tIns="0" rIns="0" bIns="0" rtlCol="0" anchor="t"/>
          <a:lstStyle/>
          <a:p>
            <a:pPr marL="0" indent="0">
              <a:buNone/>
            </a:pPr>
            <a:r>
              <a:rPr lang="en-US" sz="900" b="1">
                <a:solidFill>
                  <a:srgbClr val="E71224"/>
                </a:solidFill>
                <a:latin typeface="Space Mono" pitchFamily="34" charset="0"/>
                <a:ea typeface="Space Mono" pitchFamily="34" charset="-122"/>
                <a:cs typeface="Space Mono" pitchFamily="34" charset="-120"/>
              </a:rPr>
              <a:t>«sembra ritoccata» · «filtri»</a:t>
            </a:r>
            <a:endParaRPr lang="en-US" sz="900">
              <a:latin typeface="Space Mono"/>
              <a:ea typeface="Space Mono"/>
              <a:cs typeface="Space Mono"/>
            </a:endParaRPr>
          </a:p>
        </p:txBody>
      </p:sp>
      <p:sp>
        <p:nvSpPr>
          <p:cNvPr id="11" name="Text 9"/>
          <p:cNvSpPr txBox="1"/>
          <p:nvPr/>
        </p:nvSpPr>
        <p:spPr>
          <a:xfrm>
            <a:off x="2999232" y="2011680"/>
            <a:ext cx="1965960" cy="731520"/>
          </a:xfrm>
          <a:prstGeom prst="rect">
            <a:avLst/>
          </a:prstGeom>
          <a:noFill/>
          <a:ln/>
        </p:spPr>
        <p:txBody>
          <a:bodyPr wrap="square" lIns="0" tIns="0" rIns="0" bIns="0" rtlCol="0" anchor="t"/>
          <a:lstStyle/>
          <a:p>
            <a:pPr marL="0" indent="0" algn="just">
              <a:buNone/>
            </a:pPr>
            <a:r>
              <a:rPr lang="en-US" sz="830">
                <a:solidFill>
                  <a:srgbClr val="111111"/>
                </a:solidFill>
                <a:latin typeface="Plus Jakarta Sans" pitchFamily="34" charset="0"/>
                <a:ea typeface="Plus Jakarta Sans" pitchFamily="34" charset="-122"/>
                <a:cs typeface="Plus Jakarta Sans" pitchFamily="34" charset="-120"/>
              </a:rPr>
              <a:t>Confondono filtro, ritocco e generazione: con questo indizio la risposta è giusta solo 3 volte su 5.</a:t>
            </a:r>
            <a:endParaRPr lang="en-US" sz="830">
              <a:latin typeface="Plus Jakarta Sans"/>
              <a:ea typeface="Plus Jakarta Sans"/>
              <a:cs typeface="Plus Jakarta Sans"/>
            </a:endParaRPr>
          </a:p>
        </p:txBody>
      </p:sp>
      <p:sp>
        <p:nvSpPr>
          <p:cNvPr id="12" name="Shape 10"/>
          <p:cNvSpPr/>
          <p:nvPr/>
        </p:nvSpPr>
        <p:spPr>
          <a:xfrm>
            <a:off x="576072" y="3044952"/>
            <a:ext cx="2194560" cy="1261872"/>
          </a:xfrm>
          <a:prstGeom prst="rect">
            <a:avLst/>
          </a:prstGeom>
          <a:solidFill>
            <a:srgbClr val="DEDAFF"/>
          </a:solidFill>
          <a:ln w="15875">
            <a:solidFill>
              <a:srgbClr val="111111"/>
            </a:solidFill>
            <a:prstDash val="solid"/>
          </a:ln>
        </p:spPr>
        <p:txBody>
          <a:bodyPr/>
          <a:lstStyle/>
          <a:p>
            <a:endParaRPr lang="it-IT"/>
          </a:p>
        </p:txBody>
      </p:sp>
      <p:sp>
        <p:nvSpPr>
          <p:cNvPr id="13" name="Shape 11"/>
          <p:cNvSpPr/>
          <p:nvPr/>
        </p:nvSpPr>
        <p:spPr>
          <a:xfrm>
            <a:off x="502920" y="2971800"/>
            <a:ext cx="2194560" cy="1261872"/>
          </a:xfrm>
          <a:prstGeom prst="rect">
            <a:avLst/>
          </a:prstGeom>
          <a:solidFill>
            <a:srgbClr val="FFFFFF"/>
          </a:solidFill>
          <a:ln w="15875">
            <a:solidFill>
              <a:srgbClr val="111111"/>
            </a:solidFill>
            <a:prstDash val="solid"/>
          </a:ln>
        </p:spPr>
        <p:txBody>
          <a:bodyPr/>
          <a:lstStyle/>
          <a:p>
            <a:endParaRPr lang="it-IT"/>
          </a:p>
        </p:txBody>
      </p:sp>
      <p:sp>
        <p:nvSpPr>
          <p:cNvPr id="14" name="Text 12"/>
          <p:cNvSpPr txBox="1"/>
          <p:nvPr/>
        </p:nvSpPr>
        <p:spPr>
          <a:xfrm>
            <a:off x="621792" y="3063240"/>
            <a:ext cx="1965960" cy="365760"/>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«la faccia sembra conosciuta»</a:t>
            </a:r>
            <a:endParaRPr lang="en-US" sz="900">
              <a:latin typeface="Space Mono"/>
              <a:ea typeface="Space Mono"/>
              <a:cs typeface="Space Mono"/>
            </a:endParaRPr>
          </a:p>
        </p:txBody>
      </p:sp>
      <p:sp>
        <p:nvSpPr>
          <p:cNvPr id="15" name="Text 13"/>
          <p:cNvSpPr txBox="1"/>
          <p:nvPr/>
        </p:nvSpPr>
        <p:spPr>
          <a:xfrm>
            <a:off x="621792" y="3474720"/>
            <a:ext cx="1965960" cy="731520"/>
          </a:xfrm>
          <a:prstGeom prst="rect">
            <a:avLst/>
          </a:prstGeom>
          <a:noFill/>
          <a:ln/>
        </p:spPr>
        <p:txBody>
          <a:bodyPr wrap="square" lIns="0" tIns="0" rIns="0" bIns="0" rtlCol="0" anchor="t"/>
          <a:lstStyle/>
          <a:p>
            <a:pPr marL="0" indent="0" algn="just">
              <a:buNone/>
            </a:pPr>
            <a:r>
              <a:rPr lang="en-US" sz="830">
                <a:solidFill>
                  <a:srgbClr val="111111"/>
                </a:solidFill>
                <a:latin typeface="Plus Jakarta Sans" pitchFamily="34" charset="0"/>
                <a:ea typeface="Plus Jakarta Sans" pitchFamily="34" charset="-122"/>
                <a:cs typeface="Plus Jakarta Sans" pitchFamily="34" charset="-120"/>
              </a:rPr>
              <a:t>Una foto IA del livello 3 viene creduta vera proprio perché il volto sembra familiare.</a:t>
            </a:r>
            <a:endParaRPr lang="en-US" sz="830">
              <a:latin typeface="Plus Jakarta Sans"/>
              <a:ea typeface="Plus Jakarta Sans"/>
              <a:cs typeface="Plus Jakarta Sans"/>
            </a:endParaRPr>
          </a:p>
        </p:txBody>
      </p:sp>
      <p:sp>
        <p:nvSpPr>
          <p:cNvPr id="16" name="Shape 14"/>
          <p:cNvSpPr/>
          <p:nvPr/>
        </p:nvSpPr>
        <p:spPr>
          <a:xfrm>
            <a:off x="2953512" y="3044952"/>
            <a:ext cx="2194560" cy="1261872"/>
          </a:xfrm>
          <a:prstGeom prst="rect">
            <a:avLst/>
          </a:prstGeom>
          <a:solidFill>
            <a:srgbClr val="FBD5D9"/>
          </a:solidFill>
          <a:ln w="15875">
            <a:solidFill>
              <a:srgbClr val="111111"/>
            </a:solidFill>
            <a:prstDash val="solid"/>
          </a:ln>
        </p:spPr>
        <p:txBody>
          <a:bodyPr/>
          <a:lstStyle/>
          <a:p>
            <a:endParaRPr lang="it-IT"/>
          </a:p>
        </p:txBody>
      </p:sp>
      <p:sp>
        <p:nvSpPr>
          <p:cNvPr id="17" name="Shape 15"/>
          <p:cNvSpPr/>
          <p:nvPr/>
        </p:nvSpPr>
        <p:spPr>
          <a:xfrm>
            <a:off x="2880360" y="2971800"/>
            <a:ext cx="2194560" cy="1261872"/>
          </a:xfrm>
          <a:prstGeom prst="rect">
            <a:avLst/>
          </a:prstGeom>
          <a:solidFill>
            <a:srgbClr val="FFFFFF"/>
          </a:solidFill>
          <a:ln w="15875">
            <a:solidFill>
              <a:srgbClr val="111111"/>
            </a:solidFill>
            <a:prstDash val="solid"/>
          </a:ln>
        </p:spPr>
        <p:txBody>
          <a:bodyPr/>
          <a:lstStyle/>
          <a:p>
            <a:endParaRPr lang="it-IT"/>
          </a:p>
        </p:txBody>
      </p:sp>
      <p:sp>
        <p:nvSpPr>
          <p:cNvPr id="18" name="Text 16"/>
          <p:cNvSpPr txBox="1"/>
          <p:nvPr/>
        </p:nvSpPr>
        <p:spPr>
          <a:xfrm>
            <a:off x="2999232" y="3063240"/>
            <a:ext cx="1965960" cy="365760"/>
          </a:xfrm>
          <a:prstGeom prst="rect">
            <a:avLst/>
          </a:prstGeom>
          <a:noFill/>
          <a:ln/>
        </p:spPr>
        <p:txBody>
          <a:bodyPr wrap="square" lIns="0" tIns="0" rIns="0" bIns="0" rtlCol="0" anchor="t"/>
          <a:lstStyle/>
          <a:p>
            <a:pPr marL="0" indent="0">
              <a:buNone/>
            </a:pPr>
            <a:r>
              <a:rPr lang="en-US" sz="900" b="1">
                <a:solidFill>
                  <a:srgbClr val="E71224"/>
                </a:solidFill>
                <a:latin typeface="Space Mono" pitchFamily="34" charset="0"/>
                <a:ea typeface="Space Mono" pitchFamily="34" charset="-122"/>
                <a:cs typeface="Space Mono" pitchFamily="34" charset="-120"/>
              </a:rPr>
              <a:t>la coppia A</a:t>
            </a:r>
            <a:endParaRPr lang="en-US" sz="900">
              <a:latin typeface="Space Mono"/>
              <a:ea typeface="Space Mono"/>
              <a:cs typeface="Space Mono"/>
            </a:endParaRPr>
          </a:p>
        </p:txBody>
      </p:sp>
      <p:sp>
        <p:nvSpPr>
          <p:cNvPr id="19" name="Text 17"/>
          <p:cNvSpPr txBox="1"/>
          <p:nvPr/>
        </p:nvSpPr>
        <p:spPr>
          <a:xfrm>
            <a:off x="2999232" y="3474720"/>
            <a:ext cx="1965960" cy="731520"/>
          </a:xfrm>
          <a:prstGeom prst="rect">
            <a:avLst/>
          </a:prstGeom>
          <a:noFill/>
          <a:ln/>
        </p:spPr>
        <p:txBody>
          <a:bodyPr wrap="square" lIns="0" tIns="0" rIns="0" bIns="0" rtlCol="0" anchor="t"/>
          <a:lstStyle/>
          <a:p>
            <a:pPr marL="0" indent="0" algn="just">
              <a:buNone/>
            </a:pPr>
            <a:r>
              <a:rPr lang="en-US" sz="830">
                <a:solidFill>
                  <a:srgbClr val="111111"/>
                </a:solidFill>
                <a:latin typeface="Plus Jakarta Sans" pitchFamily="34" charset="0"/>
                <a:ea typeface="Plus Jakarta Sans" pitchFamily="34" charset="-122"/>
                <a:cs typeface="Plus Jakarta Sans" pitchFamily="34" charset="-120"/>
              </a:rPr>
              <a:t>2 squadre trovano la foto generata ma credono autentica l'originale, già modificata: nessuno immagina una doppia manipolazione.</a:t>
            </a:r>
            <a:endParaRPr lang="en-US" sz="830">
              <a:latin typeface="Plus Jakarta Sans"/>
              <a:ea typeface="Plus Jakarta Sans"/>
              <a:cs typeface="Plus Jakarta Sans"/>
            </a:endParaRPr>
          </a:p>
        </p:txBody>
      </p:sp>
      <p:sp>
        <p:nvSpPr>
          <p:cNvPr id="20" name="Shape 18"/>
          <p:cNvSpPr/>
          <p:nvPr/>
        </p:nvSpPr>
        <p:spPr>
          <a:xfrm rot="120000">
            <a:off x="5751576" y="722376"/>
            <a:ext cx="2926080" cy="2240280"/>
          </a:xfrm>
          <a:prstGeom prst="rect">
            <a:avLst/>
          </a:prstGeom>
          <a:solidFill>
            <a:srgbClr val="E71224"/>
          </a:solidFill>
          <a:ln w="12700">
            <a:solidFill>
              <a:srgbClr val="E71224"/>
            </a:solidFill>
            <a:prstDash val="solid"/>
          </a:ln>
        </p:spPr>
        <p:txBody>
          <a:bodyPr/>
          <a:lstStyle/>
          <a:p>
            <a:endParaRPr lang="it-IT"/>
          </a:p>
        </p:txBody>
      </p:sp>
      <p:sp>
        <p:nvSpPr>
          <p:cNvPr id="21" name="Shape 19"/>
          <p:cNvSpPr/>
          <p:nvPr/>
        </p:nvSpPr>
        <p:spPr>
          <a:xfrm rot="120000">
            <a:off x="5669280" y="640080"/>
            <a:ext cx="2926080" cy="2240280"/>
          </a:xfrm>
          <a:prstGeom prst="rect">
            <a:avLst/>
          </a:prstGeom>
          <a:solidFill>
            <a:srgbClr val="FFFFFF"/>
          </a:solidFill>
          <a:ln w="15875">
            <a:solidFill>
              <a:srgbClr val="111111"/>
            </a:solidFill>
            <a:prstDash val="solid"/>
          </a:ln>
        </p:spPr>
        <p:txBody>
          <a:bodyPr/>
          <a:lstStyle/>
          <a:p>
            <a:endParaRPr lang="it-IT"/>
          </a:p>
        </p:txBody>
      </p:sp>
      <p:pic>
        <p:nvPicPr>
          <p:cNvPr id="22" name="Image 0" descr="foto_quiz.png"/>
          <p:cNvPicPr>
            <a:picLocks noChangeAspect="1"/>
          </p:cNvPicPr>
          <p:nvPr/>
        </p:nvPicPr>
        <p:blipFill>
          <a:blip r:embed="rId2"/>
          <a:srcRect/>
          <a:stretch/>
        </p:blipFill>
        <p:spPr>
          <a:xfrm rot="120000">
            <a:off x="5751576" y="722376"/>
            <a:ext cx="2761488" cy="1783080"/>
          </a:xfrm>
          <a:prstGeom prst="rect">
            <a:avLst/>
          </a:prstGeom>
        </p:spPr>
      </p:pic>
      <p:sp>
        <p:nvSpPr>
          <p:cNvPr id="23" name="Text 20"/>
          <p:cNvSpPr txBox="1"/>
          <p:nvPr/>
        </p:nvSpPr>
        <p:spPr>
          <a:xfrm rot="120000">
            <a:off x="5751576" y="2569464"/>
            <a:ext cx="2761488" cy="292608"/>
          </a:xfrm>
          <a:prstGeom prst="rect">
            <a:avLst/>
          </a:prstGeom>
          <a:noFill/>
          <a:ln/>
        </p:spPr>
        <p:txBody>
          <a:bodyPr wrap="square" lIns="0" tIns="0" rIns="0" bIns="0" rtlCol="0" anchor="ctr"/>
          <a:lstStyle/>
          <a:p>
            <a:pPr marL="0" indent="0" algn="ctr">
              <a:buNone/>
            </a:pPr>
            <a:r>
              <a:rPr lang="en-US" sz="850" b="1">
                <a:solidFill>
                  <a:srgbClr val="1700E8"/>
                </a:solidFill>
                <a:latin typeface="Space Mono" pitchFamily="34" charset="0"/>
                <a:ea typeface="Space Mono" pitchFamily="34" charset="-122"/>
                <a:cs typeface="Space Mono" pitchFamily="34" charset="-120"/>
              </a:rPr>
              <a:t>livello 4 – molto difficile</a:t>
            </a:r>
            <a:endParaRPr lang="en-US" sz="850">
              <a:latin typeface="Space Mono"/>
              <a:ea typeface="Space Mono"/>
              <a:cs typeface="Space Mono"/>
            </a:endParaRPr>
          </a:p>
        </p:txBody>
      </p:sp>
      <p:sp>
        <p:nvSpPr>
          <p:cNvPr id="24" name="Shape 21"/>
          <p:cNvSpPr/>
          <p:nvPr/>
        </p:nvSpPr>
        <p:spPr>
          <a:xfrm rot="-60000">
            <a:off x="6748272" y="557784"/>
            <a:ext cx="777240" cy="164592"/>
          </a:xfrm>
          <a:prstGeom prst="rect">
            <a:avLst/>
          </a:prstGeom>
          <a:solidFill>
            <a:srgbClr val="1700E8">
              <a:alpha val="75000"/>
            </a:srgbClr>
          </a:solidFill>
          <a:ln w="12700">
            <a:solidFill>
              <a:srgbClr val="1700E8"/>
            </a:solidFill>
            <a:prstDash val="solid"/>
          </a:ln>
        </p:spPr>
        <p:txBody>
          <a:bodyPr/>
          <a:lstStyle/>
          <a:p>
            <a:endParaRPr lang="it-IT"/>
          </a:p>
        </p:txBody>
      </p:sp>
      <p:sp>
        <p:nvSpPr>
          <p:cNvPr id="25" name="Text 22"/>
          <p:cNvSpPr txBox="1"/>
          <p:nvPr/>
        </p:nvSpPr>
        <p:spPr>
          <a:xfrm>
            <a:off x="5669280" y="3246120"/>
            <a:ext cx="2926080" cy="77724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cosa ci dice</a:t>
            </a:r>
            <a:endParaRPr lang="en-US" sz="950">
              <a:latin typeface="Space Mono"/>
              <a:ea typeface="Space Mono"/>
              <a:cs typeface="Space Mono"/>
            </a:endParaRPr>
          </a:p>
          <a:p>
            <a:pPr marL="0" indent="0" algn="just">
              <a:buNone/>
            </a:pPr>
            <a:r>
              <a:rPr lang="en-US" sz="950">
                <a:solidFill>
                  <a:srgbClr val="111111"/>
                </a:solidFill>
                <a:latin typeface="Plus Jakarta Sans" pitchFamily="34" charset="0"/>
                <a:ea typeface="Plus Jakarta Sans" pitchFamily="34" charset="-122"/>
                <a:cs typeface="Plus Jakarta Sans" pitchFamily="34" charset="-120"/>
              </a:rPr>
              <a:t>Guardare l'immagine non basta più. Serve sapere come nasce un falso e misurare quanto si è capaci davvero.</a:t>
            </a:r>
            <a:endParaRPr lang="en-US" sz="950">
              <a:latin typeface="Plus Jakarta Sans"/>
              <a:ea typeface="Plus Jakarta Sans"/>
              <a:cs typeface="Plus Jakarta Sans"/>
            </a:endParaRPr>
          </a:p>
        </p:txBody>
      </p:sp>
      <p:sp>
        <p:nvSpPr>
          <p:cNvPr id="26" name="Shape 23"/>
          <p:cNvSpPr/>
          <p:nvPr/>
        </p:nvSpPr>
        <p:spPr>
          <a:xfrm>
            <a:off x="5669280" y="4069080"/>
            <a:ext cx="100584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27" name="Text 24"/>
          <p:cNvSpPr txBox="1"/>
          <p:nvPr/>
        </p:nvSpPr>
        <p:spPr>
          <a:xfrm>
            <a:off x="5669280" y="4069080"/>
            <a:ext cx="100584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 B4 + B9</a:t>
            </a:r>
            <a:endParaRPr lang="en-US" sz="750">
              <a:latin typeface="Space Mono"/>
              <a:ea typeface="Space Mono"/>
              <a:cs typeface="Space Mono"/>
            </a:endParaRPr>
          </a:p>
        </p:txBody>
      </p:sp>
      <p:sp>
        <p:nvSpPr>
          <p:cNvPr id="28"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02 · chat analysis</a:t>
            </a:r>
            <a:endParaRPr lang="en-US" sz="800">
              <a:latin typeface="Space Mono"/>
              <a:ea typeface="Space Mono"/>
              <a:cs typeface="Space Mono"/>
            </a:endParaRPr>
          </a:p>
        </p:txBody>
      </p:sp>
      <p:sp>
        <p:nvSpPr>
          <p:cNvPr id="3" name="Text 1"/>
          <p:cNvSpPr txBox="1"/>
          <p:nvPr/>
        </p:nvSpPr>
        <p:spPr>
          <a:xfrm>
            <a:off x="502920" y="502920"/>
            <a:ext cx="41148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l'allarme</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scatta tardi</a:t>
            </a:r>
            <a:endParaRPr lang="en-US" sz="2600">
              <a:latin typeface="Space Mono"/>
              <a:ea typeface="Space Mono"/>
              <a:cs typeface="Space Mono"/>
            </a:endParaRPr>
          </a:p>
        </p:txBody>
      </p:sp>
      <p:sp>
        <p:nvSpPr>
          <p:cNvPr id="4" name="Text 2"/>
          <p:cNvSpPr txBox="1"/>
          <p:nvPr/>
        </p:nvSpPr>
        <p:spPr>
          <a:xfrm>
            <a:off x="502920" y="1417320"/>
            <a:ext cx="4206240" cy="228600"/>
          </a:xfrm>
          <a:prstGeom prst="rect">
            <a:avLst/>
          </a:prstGeom>
          <a:noFill/>
          <a:ln/>
        </p:spPr>
        <p:txBody>
          <a:bodyPr wrap="square" lIns="0" tIns="0" rIns="0" bIns="0" rtlCol="0" anchor="t"/>
          <a:lstStyle/>
          <a:p>
            <a:pPr marL="0" indent="0" algn="just">
              <a:buNone/>
            </a:pPr>
            <a:r>
              <a:rPr lang="en-US" sz="900" i="1">
                <a:solidFill>
                  <a:srgbClr val="6B6B78"/>
                </a:solidFill>
                <a:latin typeface="Plus Jakarta Sans" pitchFamily="34" charset="0"/>
                <a:ea typeface="Plus Jakarta Sans" pitchFamily="34" charset="-122"/>
                <a:cs typeface="Plus Jakarta Sans" pitchFamily="34" charset="-120"/>
              </a:rPr>
              <a:t>«Secondo voi è una chat sospetta di adescamento?»</a:t>
            </a:r>
            <a:endParaRPr lang="en-US" sz="900">
              <a:latin typeface="Plus Jakarta Sans"/>
              <a:ea typeface="Plus Jakarta Sans"/>
              <a:cs typeface="Plus Jakarta Sans"/>
            </a:endParaRPr>
          </a:p>
        </p:txBody>
      </p:sp>
      <p:graphicFrame>
        <p:nvGraphicFramePr>
          <p:cNvPr id="8" name="Table 0"/>
          <p:cNvGraphicFramePr>
            <a:graphicFrameLocks noGrp="1"/>
          </p:cNvGraphicFramePr>
          <p:nvPr>
            <p:extLst>
              <p:ext uri="{D42A27DB-BD31-4B8C-83A1-F6EECF244321}">
                <p14:modId xmlns:p14="http://schemas.microsoft.com/office/powerpoint/2010/main" val="4010495791"/>
              </p:ext>
            </p:extLst>
          </p:nvPr>
        </p:nvGraphicFramePr>
        <p:xfrm>
          <a:off x="502920" y="1719072"/>
          <a:ext cx="4206240" cy="1874520"/>
        </p:xfrm>
        <a:graphic>
          <a:graphicData uri="http://schemas.openxmlformats.org/drawingml/2006/table">
            <a:tbl>
              <a:tblPr/>
              <a:tblGrid>
                <a:gridCol w="685800">
                  <a:extLst>
                    <a:ext uri="{9D8B030D-6E8A-4147-A177-3AD203B41FA5}">
                      <a16:colId xmlns:a16="http://schemas.microsoft.com/office/drawing/2014/main" val="20000"/>
                    </a:ext>
                  </a:extLst>
                </a:gridCol>
                <a:gridCol w="704088">
                  <a:extLst>
                    <a:ext uri="{9D8B030D-6E8A-4147-A177-3AD203B41FA5}">
                      <a16:colId xmlns:a16="http://schemas.microsoft.com/office/drawing/2014/main" val="20001"/>
                    </a:ext>
                  </a:extLst>
                </a:gridCol>
                <a:gridCol w="704088">
                  <a:extLst>
                    <a:ext uri="{9D8B030D-6E8A-4147-A177-3AD203B41FA5}">
                      <a16:colId xmlns:a16="http://schemas.microsoft.com/office/drawing/2014/main" val="20002"/>
                    </a:ext>
                  </a:extLst>
                </a:gridCol>
                <a:gridCol w="704088">
                  <a:extLst>
                    <a:ext uri="{9D8B030D-6E8A-4147-A177-3AD203B41FA5}">
                      <a16:colId xmlns:a16="http://schemas.microsoft.com/office/drawing/2014/main" val="20003"/>
                    </a:ext>
                  </a:extLst>
                </a:gridCol>
                <a:gridCol w="704088">
                  <a:extLst>
                    <a:ext uri="{9D8B030D-6E8A-4147-A177-3AD203B41FA5}">
                      <a16:colId xmlns:a16="http://schemas.microsoft.com/office/drawing/2014/main" val="20004"/>
                    </a:ext>
                  </a:extLst>
                </a:gridCol>
                <a:gridCol w="704088">
                  <a:extLst>
                    <a:ext uri="{9D8B030D-6E8A-4147-A177-3AD203B41FA5}">
                      <a16:colId xmlns:a16="http://schemas.microsoft.com/office/drawing/2014/main" val="20005"/>
                    </a:ext>
                  </a:extLst>
                </a:gridCol>
              </a:tblGrid>
              <a:tr h="365760">
                <a:tc>
                  <a:txBody>
                    <a:bodyPr/>
                    <a:lstStyle/>
                    <a:p>
                      <a:pPr marL="0" indent="0" algn="ctr">
                        <a:buNone/>
                      </a:pP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tc>
                  <a:txBody>
                    <a:bodyPr/>
                    <a:lstStyle/>
                    <a:p>
                      <a:pPr marL="0" indent="0" algn="ctr">
                        <a:buNone/>
                      </a:pPr>
                      <a:r>
                        <a:rPr lang="en-US" sz="750" b="1">
                          <a:solidFill>
                            <a:srgbClr val="FFFFFF"/>
                          </a:solidFill>
                          <a:latin typeface="Space Mono" pitchFamily="34" charset="0"/>
                          <a:ea typeface="Space Mono" pitchFamily="34" charset="-122"/>
                          <a:cs typeface="Space Mono" pitchFamily="34" charset="-120"/>
                        </a:rPr>
                        <a:t>Tontony</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tc>
                  <a:txBody>
                    <a:bodyPr/>
                    <a:lstStyle/>
                    <a:p>
                      <a:pPr marL="0" indent="0" algn="ctr">
                        <a:buNone/>
                      </a:pPr>
                      <a:r>
                        <a:rPr lang="en-US" sz="750" b="1">
                          <a:solidFill>
                            <a:srgbClr val="FFFFFF"/>
                          </a:solidFill>
                          <a:latin typeface="Space Mono" pitchFamily="34" charset="0"/>
                          <a:ea typeface="Space Mono" pitchFamily="34" charset="-122"/>
                          <a:cs typeface="Space Mono" pitchFamily="34" charset="-120"/>
                        </a:rPr>
                        <a:t>Divo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tc>
                  <a:txBody>
                    <a:bodyPr/>
                    <a:lstStyle/>
                    <a:p>
                      <a:pPr marL="0" indent="0" algn="ctr">
                        <a:buNone/>
                      </a:pPr>
                      <a:r>
                        <a:rPr lang="en-US" sz="750" b="1">
                          <a:solidFill>
                            <a:srgbClr val="FFFFFF"/>
                          </a:solidFill>
                          <a:latin typeface="Space Mono" pitchFamily="34" charset="0"/>
                          <a:ea typeface="Space Mono" pitchFamily="34" charset="-122"/>
                          <a:cs typeface="Space Mono" pitchFamily="34" charset="-120"/>
                        </a:rPr>
                        <a:t>Biscotto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tc>
                  <a:txBody>
                    <a:bodyPr/>
                    <a:lstStyle/>
                    <a:p>
                      <a:pPr marL="0" indent="0" algn="ctr">
                        <a:buNone/>
                      </a:pPr>
                      <a:r>
                        <a:rPr lang="en-US" sz="750" b="1">
                          <a:solidFill>
                            <a:srgbClr val="FFFFFF"/>
                          </a:solidFill>
                          <a:latin typeface="Space Mono" pitchFamily="34" charset="0"/>
                          <a:ea typeface="Space Mono" pitchFamily="34" charset="-122"/>
                          <a:cs typeface="Space Mono" pitchFamily="34" charset="-120"/>
                        </a:rPr>
                        <a:t>T. Pasqua</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tc>
                  <a:txBody>
                    <a:bodyPr/>
                    <a:lstStyle/>
                    <a:p>
                      <a:pPr marL="0" indent="0" algn="ctr">
                        <a:buNone/>
                      </a:pPr>
                      <a:r>
                        <a:rPr lang="en-US" sz="750" b="1">
                          <a:solidFill>
                            <a:srgbClr val="FFFFFF"/>
                          </a:solidFill>
                          <a:latin typeface="Space Mono" pitchFamily="34" charset="0"/>
                          <a:ea typeface="Space Mono" pitchFamily="34" charset="-122"/>
                          <a:cs typeface="Space Mono" pitchFamily="34" charset="-120"/>
                        </a:rPr>
                        <a:t>Dream T.</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1700E8"/>
                    </a:solidFill>
                  </a:tcPr>
                </a:tc>
                <a:extLst>
                  <a:ext uri="{0D108BD9-81ED-4DB2-BD59-A6C34878D82A}">
                    <a16:rowId xmlns:a16="http://schemas.microsoft.com/office/drawing/2014/main" val="10000"/>
                  </a:ext>
                </a:extLst>
              </a:tr>
              <a:tr h="502920">
                <a:tc>
                  <a:txBody>
                    <a:bodyPr/>
                    <a:lstStyle/>
                    <a:p>
                      <a:pPr marL="0" indent="0">
                        <a:buNone/>
                      </a:pPr>
                      <a:r>
                        <a:rPr lang="en-US" sz="800" b="1">
                          <a:solidFill>
                            <a:srgbClr val="1700E8"/>
                          </a:solidFill>
                          <a:latin typeface="Space Mono" pitchFamily="34" charset="0"/>
                          <a:ea typeface="Space Mono" pitchFamily="34" charset="-122"/>
                          <a:cs typeface="Space Mono" pitchFamily="34" charset="-120"/>
                        </a:rPr>
                        <a:t>chat 1</a:t>
                      </a:r>
                      <a:endParaRPr lang="en-US" sz="80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E71224"/>
                          </a:solidFill>
                          <a:latin typeface="Space Mono" pitchFamily="34" charset="0"/>
                          <a:ea typeface="Space Mono" pitchFamily="34" charset="-122"/>
                          <a:cs typeface="Space Mono" pitchFamily="34" charset="-120"/>
                        </a:rPr>
                        <a:t>No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FF0F1"/>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extLst>
                  <a:ext uri="{0D108BD9-81ED-4DB2-BD59-A6C34878D82A}">
                    <a16:rowId xmlns:a16="http://schemas.microsoft.com/office/drawing/2014/main" val="10001"/>
                  </a:ext>
                </a:extLst>
              </a:tr>
              <a:tr h="502920">
                <a:tc>
                  <a:txBody>
                    <a:bodyPr/>
                    <a:lstStyle/>
                    <a:p>
                      <a:pPr marL="0" indent="0">
                        <a:buNone/>
                      </a:pPr>
                      <a:r>
                        <a:rPr lang="en-US" sz="800" b="1">
                          <a:solidFill>
                            <a:srgbClr val="1700E8"/>
                          </a:solidFill>
                          <a:latin typeface="Space Mono" pitchFamily="34" charset="0"/>
                          <a:ea typeface="Space Mono" pitchFamily="34" charset="-122"/>
                          <a:cs typeface="Space Mono" pitchFamily="34" charset="-120"/>
                        </a:rPr>
                        <a:t>chat 2</a:t>
                      </a:r>
                      <a:endParaRPr lang="en-US" sz="80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tcPr>
                </a:tc>
                <a:tc>
                  <a:txBody>
                    <a:bodyPr/>
                    <a:lstStyle/>
                    <a:p>
                      <a:pPr marL="0" indent="0" algn="ctr">
                        <a:buNone/>
                      </a:pPr>
                      <a:r>
                        <a:rPr lang="en-US" sz="750" b="1">
                          <a:solidFill>
                            <a:srgbClr val="6B6B78"/>
                          </a:solidFill>
                          <a:latin typeface="Space Mono" pitchFamily="34" charset="0"/>
                          <a:ea typeface="Space Mono" pitchFamily="34" charset="-122"/>
                          <a:cs typeface="Space Mono" pitchFamily="34" charset="-120"/>
                        </a:rPr>
                        <a:t>non so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3F3F3"/>
                    </a:solidFill>
                  </a:tcPr>
                </a:tc>
                <a:tc>
                  <a:txBody>
                    <a:bodyPr/>
                    <a:lstStyle/>
                    <a:p>
                      <a:pPr marL="0" indent="0" algn="ctr">
                        <a:buNone/>
                      </a:pPr>
                      <a:r>
                        <a:rPr lang="en-US" sz="750">
                          <a:solidFill>
                            <a:srgbClr val="B0B0B8"/>
                          </a:solidFill>
                          <a:latin typeface="Space Mono" pitchFamily="34" charset="0"/>
                          <a:ea typeface="Space Mono" pitchFamily="34" charset="-122"/>
                          <a:cs typeface="Space Mono" pitchFamily="34" charset="-120"/>
                        </a:rPr>
                        <a:t>–</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FF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a:solidFill>
                            <a:srgbClr val="B0B0B8"/>
                          </a:solidFill>
                          <a:latin typeface="Space Mono" pitchFamily="34" charset="0"/>
                          <a:ea typeface="Space Mono" pitchFamily="34" charset="-122"/>
                          <a:cs typeface="Space Mono" pitchFamily="34" charset="-120"/>
                        </a:rPr>
                        <a:t>–</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FFFFF"/>
                    </a:solidFill>
                  </a:tcPr>
                </a:tc>
                <a:tc>
                  <a:txBody>
                    <a:bodyPr/>
                    <a:lstStyle/>
                    <a:p>
                      <a:pPr marL="0" indent="0" algn="ctr">
                        <a:buNone/>
                      </a:pPr>
                      <a:r>
                        <a:rPr lang="en-US" sz="750" b="1">
                          <a:solidFill>
                            <a:srgbClr val="E71224"/>
                          </a:solidFill>
                          <a:latin typeface="Space Mono" pitchFamily="34" charset="0"/>
                          <a:ea typeface="Space Mono" pitchFamily="34" charset="-122"/>
                          <a:cs typeface="Space Mono" pitchFamily="34" charset="-120"/>
                        </a:rPr>
                        <a:t>No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FF0F1"/>
                    </a:solidFill>
                  </a:tcPr>
                </a:tc>
                <a:extLst>
                  <a:ext uri="{0D108BD9-81ED-4DB2-BD59-A6C34878D82A}">
                    <a16:rowId xmlns:a16="http://schemas.microsoft.com/office/drawing/2014/main" val="10002"/>
                  </a:ext>
                </a:extLst>
              </a:tr>
              <a:tr h="502920">
                <a:tc>
                  <a:txBody>
                    <a:bodyPr/>
                    <a:lstStyle/>
                    <a:p>
                      <a:pPr marL="0" indent="0">
                        <a:buNone/>
                      </a:pPr>
                      <a:r>
                        <a:rPr lang="en-US" sz="800" b="1">
                          <a:solidFill>
                            <a:srgbClr val="1700E8"/>
                          </a:solidFill>
                          <a:latin typeface="Space Mono" pitchFamily="34" charset="0"/>
                          <a:ea typeface="Space Mono" pitchFamily="34" charset="-122"/>
                          <a:cs typeface="Space Mono" pitchFamily="34" charset="-120"/>
                        </a:rPr>
                        <a:t>chat 3</a:t>
                      </a:r>
                      <a:endParaRPr lang="en-US" sz="80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1700E8"/>
                          </a:solidFill>
                          <a:latin typeface="Space Mono" pitchFamily="34" charset="0"/>
                          <a:ea typeface="Space Mono" pitchFamily="34" charset="-122"/>
                          <a:cs typeface="Space Mono" pitchFamily="34" charset="-120"/>
                        </a:rPr>
                        <a:t>Sì</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1EFFF"/>
                    </a:solidFill>
                  </a:tcPr>
                </a:tc>
                <a:tc>
                  <a:txBody>
                    <a:bodyPr/>
                    <a:lstStyle/>
                    <a:p>
                      <a:pPr marL="0" indent="0" algn="ctr">
                        <a:buNone/>
                      </a:pPr>
                      <a:r>
                        <a:rPr lang="en-US" sz="750" b="1">
                          <a:solidFill>
                            <a:srgbClr val="E71224"/>
                          </a:solidFill>
                          <a:latin typeface="Space Mono" pitchFamily="34" charset="0"/>
                          <a:ea typeface="Space Mono" pitchFamily="34" charset="-122"/>
                          <a:cs typeface="Space Mono" pitchFamily="34" charset="-120"/>
                        </a:rPr>
                        <a:t>No</a:t>
                      </a:r>
                      <a:endParaRPr lang="en-US" sz="750">
                        <a:latin typeface="Space Mono" charset="0"/>
                        <a:ea typeface="Space Mono" charset="0"/>
                        <a:cs typeface="Space Mono" charset="0"/>
                      </a:endParaRPr>
                    </a:p>
                  </a:txBody>
                  <a:tcPr anchor="ctr">
                    <a:lnL w="9525" cap="flat" cmpd="sng" algn="ctr">
                      <a:solidFill>
                        <a:srgbClr val="111111"/>
                      </a:solidFill>
                      <a:prstDash val="solid"/>
                      <a:round/>
                      <a:headEnd type="none" w="med" len="med"/>
                      <a:tailEnd type="none" w="med" len="med"/>
                    </a:lnL>
                    <a:lnR w="9525" cap="flat" cmpd="sng" algn="ctr">
                      <a:solidFill>
                        <a:srgbClr val="111111"/>
                      </a:solidFill>
                      <a:prstDash val="solid"/>
                      <a:round/>
                      <a:headEnd type="none" w="med" len="med"/>
                      <a:tailEnd type="none" w="med" len="med"/>
                    </a:lnR>
                    <a:lnT w="9525" cap="flat" cmpd="sng" algn="ctr">
                      <a:solidFill>
                        <a:srgbClr val="111111"/>
                      </a:solidFill>
                      <a:prstDash val="solid"/>
                      <a:round/>
                      <a:headEnd type="none" w="med" len="med"/>
                      <a:tailEnd type="none" w="med" len="med"/>
                    </a:lnT>
                    <a:lnB w="9525" cap="flat" cmpd="sng" algn="ctr">
                      <a:solidFill>
                        <a:srgbClr val="111111"/>
                      </a:solidFill>
                      <a:prstDash val="solid"/>
                      <a:round/>
                      <a:headEnd type="none" w="med" len="med"/>
                      <a:tailEnd type="none" w="med" len="med"/>
                    </a:lnB>
                    <a:solidFill>
                      <a:srgbClr val="FFF0F1"/>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02920" y="3666744"/>
            <a:ext cx="4206240" cy="182880"/>
          </a:xfrm>
          <a:prstGeom prst="rect">
            <a:avLst/>
          </a:prstGeom>
          <a:noFill/>
          <a:ln/>
        </p:spPr>
        <p:txBody>
          <a:bodyPr wrap="square" lIns="0" tIns="0" rIns="0" bIns="0" rtlCol="0" anchor="t"/>
          <a:lstStyle/>
          <a:p>
            <a:pPr marL="0" indent="0" algn="just">
              <a:buNone/>
            </a:pPr>
            <a:r>
              <a:rPr lang="en-US" sz="700">
                <a:solidFill>
                  <a:srgbClr val="6B6B78"/>
                </a:solidFill>
                <a:latin typeface="Plus Jakarta Sans" pitchFamily="34" charset="0"/>
                <a:ea typeface="Plus Jakarta Sans" pitchFamily="34" charset="-122"/>
                <a:cs typeface="Plus Jakarta Sans" pitchFamily="34" charset="-120"/>
              </a:rPr>
              <a:t>– = non compilata · Tontony sulla chat 3 segna sia «sì» sia «non sappiamo»</a:t>
            </a:r>
            <a:endParaRPr lang="en-US" sz="700">
              <a:latin typeface="Plus Jakarta Sans"/>
              <a:ea typeface="Plus Jakarta Sans"/>
              <a:cs typeface="Plus Jakarta Sans"/>
            </a:endParaRPr>
          </a:p>
        </p:txBody>
      </p:sp>
      <p:sp>
        <p:nvSpPr>
          <p:cNvPr id="7" name="Shape 4"/>
          <p:cNvSpPr/>
          <p:nvPr/>
        </p:nvSpPr>
        <p:spPr>
          <a:xfrm>
            <a:off x="5148072" y="621792"/>
            <a:ext cx="3566160" cy="1097280"/>
          </a:xfrm>
          <a:prstGeom prst="rect">
            <a:avLst/>
          </a:prstGeom>
          <a:solidFill>
            <a:srgbClr val="DEDAFF"/>
          </a:solidFill>
          <a:ln w="15875">
            <a:solidFill>
              <a:srgbClr val="111111"/>
            </a:solidFill>
            <a:prstDash val="solid"/>
          </a:ln>
        </p:spPr>
        <p:txBody>
          <a:bodyPr/>
          <a:lstStyle/>
          <a:p>
            <a:endParaRPr lang="it-IT"/>
          </a:p>
        </p:txBody>
      </p:sp>
      <p:sp>
        <p:nvSpPr>
          <p:cNvPr id="5" name="Shape 5"/>
          <p:cNvSpPr/>
          <p:nvPr/>
        </p:nvSpPr>
        <p:spPr>
          <a:xfrm>
            <a:off x="5074920" y="548640"/>
            <a:ext cx="3566160" cy="1097280"/>
          </a:xfrm>
          <a:prstGeom prst="rect">
            <a:avLst/>
          </a:prstGeom>
          <a:solidFill>
            <a:srgbClr val="FFFFFF"/>
          </a:solidFill>
          <a:ln w="15875">
            <a:solidFill>
              <a:srgbClr val="111111"/>
            </a:solidFill>
            <a:prstDash val="solid"/>
          </a:ln>
        </p:spPr>
        <p:txBody>
          <a:bodyPr/>
          <a:lstStyle/>
          <a:p>
            <a:endParaRPr lang="it-IT"/>
          </a:p>
        </p:txBody>
      </p:sp>
      <p:sp>
        <p:nvSpPr>
          <p:cNvPr id="9" name="Shape 6"/>
          <p:cNvSpPr/>
          <p:nvPr/>
        </p:nvSpPr>
        <p:spPr>
          <a:xfrm>
            <a:off x="5193792" y="658368"/>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0" name="Image 0" descr="/home/claude/ppt/build/icons/bolt_w.png"/>
          <p:cNvPicPr>
            <a:picLocks noChangeAspect="1"/>
          </p:cNvPicPr>
          <p:nvPr/>
        </p:nvPicPr>
        <p:blipFill>
          <a:blip r:embed="rId2"/>
          <a:stretch>
            <a:fillRect/>
          </a:stretch>
        </p:blipFill>
        <p:spPr>
          <a:xfrm>
            <a:off x="5262921" y="727497"/>
            <a:ext cx="117775" cy="117775"/>
          </a:xfrm>
          <a:prstGeom prst="rect">
            <a:avLst/>
          </a:prstGeom>
        </p:spPr>
      </p:pic>
      <p:sp>
        <p:nvSpPr>
          <p:cNvPr id="11" name="Text 7"/>
          <p:cNvSpPr txBox="1"/>
          <p:nvPr/>
        </p:nvSpPr>
        <p:spPr>
          <a:xfrm>
            <a:off x="5532120" y="685800"/>
            <a:ext cx="292608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le richieste esplicite le vedono</a:t>
            </a:r>
            <a:endParaRPr lang="en-US" sz="1000">
              <a:latin typeface="Space Mono"/>
              <a:ea typeface="Space Mono"/>
              <a:cs typeface="Space Mono"/>
            </a:endParaRPr>
          </a:p>
        </p:txBody>
      </p:sp>
      <p:sp>
        <p:nvSpPr>
          <p:cNvPr id="12" name="Text 8"/>
          <p:cNvSpPr txBox="1"/>
          <p:nvPr/>
        </p:nvSpPr>
        <p:spPr>
          <a:xfrm>
            <a:off x="5212080" y="987552"/>
            <a:ext cx="3337560" cy="621792"/>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Cambio di app (Snapchat), «vieni da sola», mentire ai genitori, 21 anni contro 16: la chat 4 è riconosciuta da tutti quelli che rispondono.</a:t>
            </a:r>
            <a:endParaRPr lang="en-US" sz="850">
              <a:latin typeface="Plus Jakarta Sans"/>
              <a:ea typeface="Plus Jakarta Sans"/>
              <a:cs typeface="Plus Jakarta Sans"/>
            </a:endParaRPr>
          </a:p>
        </p:txBody>
      </p:sp>
      <p:sp>
        <p:nvSpPr>
          <p:cNvPr id="13" name="Shape 9"/>
          <p:cNvSpPr/>
          <p:nvPr/>
        </p:nvSpPr>
        <p:spPr>
          <a:xfrm>
            <a:off x="5148072" y="1901952"/>
            <a:ext cx="3566160" cy="1097280"/>
          </a:xfrm>
          <a:prstGeom prst="rect">
            <a:avLst/>
          </a:prstGeom>
          <a:solidFill>
            <a:srgbClr val="DEDAFF"/>
          </a:solidFill>
          <a:ln w="15875">
            <a:solidFill>
              <a:srgbClr val="111111"/>
            </a:solidFill>
            <a:prstDash val="solid"/>
          </a:ln>
        </p:spPr>
        <p:txBody>
          <a:bodyPr/>
          <a:lstStyle/>
          <a:p>
            <a:endParaRPr lang="it-IT"/>
          </a:p>
        </p:txBody>
      </p:sp>
      <p:sp>
        <p:nvSpPr>
          <p:cNvPr id="14" name="Shape 10"/>
          <p:cNvSpPr/>
          <p:nvPr/>
        </p:nvSpPr>
        <p:spPr>
          <a:xfrm>
            <a:off x="5074920" y="1828800"/>
            <a:ext cx="3566160" cy="1097280"/>
          </a:xfrm>
          <a:prstGeom prst="rect">
            <a:avLst/>
          </a:prstGeom>
          <a:solidFill>
            <a:srgbClr val="FFFFFF"/>
          </a:solidFill>
          <a:ln w="15875">
            <a:solidFill>
              <a:srgbClr val="111111"/>
            </a:solidFill>
            <a:prstDash val="solid"/>
          </a:ln>
        </p:spPr>
        <p:txBody>
          <a:bodyPr/>
          <a:lstStyle/>
          <a:p>
            <a:endParaRPr lang="it-IT"/>
          </a:p>
        </p:txBody>
      </p:sp>
      <p:sp>
        <p:nvSpPr>
          <p:cNvPr id="15" name="Shape 11"/>
          <p:cNvSpPr/>
          <p:nvPr/>
        </p:nvSpPr>
        <p:spPr>
          <a:xfrm>
            <a:off x="5193792" y="1938528"/>
            <a:ext cx="256032" cy="256032"/>
          </a:xfrm>
          <a:prstGeom prst="ellipse">
            <a:avLst/>
          </a:prstGeom>
          <a:solidFill>
            <a:srgbClr val="1700E8"/>
          </a:solidFill>
          <a:ln w="12700">
            <a:solidFill>
              <a:srgbClr val="1700E8"/>
            </a:solidFill>
            <a:prstDash val="solid"/>
          </a:ln>
        </p:spPr>
        <p:txBody>
          <a:bodyPr/>
          <a:lstStyle/>
          <a:p>
            <a:endParaRPr lang="it-IT"/>
          </a:p>
        </p:txBody>
      </p:sp>
      <p:pic>
        <p:nvPicPr>
          <p:cNvPr id="16" name="Image 1" descr="/home/claude/ppt/build/icons/eye_w.png"/>
          <p:cNvPicPr>
            <a:picLocks noChangeAspect="1"/>
          </p:cNvPicPr>
          <p:nvPr/>
        </p:nvPicPr>
        <p:blipFill>
          <a:blip r:embed="rId3"/>
          <a:stretch>
            <a:fillRect/>
          </a:stretch>
        </p:blipFill>
        <p:spPr>
          <a:xfrm>
            <a:off x="5262921" y="2007657"/>
            <a:ext cx="117775" cy="117775"/>
          </a:xfrm>
          <a:prstGeom prst="rect">
            <a:avLst/>
          </a:prstGeom>
        </p:spPr>
      </p:pic>
      <p:sp>
        <p:nvSpPr>
          <p:cNvPr id="17" name="Text 12"/>
          <p:cNvSpPr txBox="1"/>
          <p:nvPr/>
        </p:nvSpPr>
        <p:spPr>
          <a:xfrm>
            <a:off x="5532120" y="1965960"/>
            <a:ext cx="2926080" cy="219456"/>
          </a:xfrm>
          <a:prstGeom prst="rect">
            <a:avLst/>
          </a:prstGeom>
          <a:noFill/>
          <a:ln/>
        </p:spPr>
        <p:txBody>
          <a:bodyPr wrap="square" lIns="0" tIns="0" rIns="0" bIns="0" rtlCol="0" anchor="ctr"/>
          <a:lstStyle/>
          <a:p>
            <a:pPr marL="0" indent="0">
              <a:buNone/>
            </a:pPr>
            <a:r>
              <a:rPr lang="en-US" sz="1000" b="1">
                <a:solidFill>
                  <a:srgbClr val="1700E8"/>
                </a:solidFill>
                <a:latin typeface="Space Mono" pitchFamily="34" charset="0"/>
                <a:ea typeface="Space Mono" pitchFamily="34" charset="-122"/>
                <a:cs typeface="Space Mono" pitchFamily="34" charset="-120"/>
              </a:rPr>
              <a:t>i segnali graduali no</a:t>
            </a:r>
            <a:endParaRPr lang="en-US" sz="1000">
              <a:latin typeface="Space Mono"/>
              <a:ea typeface="Space Mono"/>
              <a:cs typeface="Space Mono"/>
            </a:endParaRPr>
          </a:p>
        </p:txBody>
      </p:sp>
      <p:sp>
        <p:nvSpPr>
          <p:cNvPr id="18" name="Text 13"/>
          <p:cNvSpPr txBox="1"/>
          <p:nvPr/>
        </p:nvSpPr>
        <p:spPr>
          <a:xfrm>
            <a:off x="5212080" y="2267712"/>
            <a:ext cx="3337560" cy="621792"/>
          </a:xfrm>
          <a:prstGeom prst="rect">
            <a:avLst/>
          </a:prstGeom>
          <a:noFill/>
          <a:ln/>
        </p:spPr>
        <p:txBody>
          <a:bodyPr wrap="square" lIns="0" tIns="0" rIns="0" bIns="0" rtlCol="0" anchor="t"/>
          <a:lstStyle/>
          <a:p>
            <a:pPr marL="0" indent="0" algn="just">
              <a:buNone/>
            </a:pPr>
            <a:r>
              <a:rPr lang="en-US" sz="850">
                <a:solidFill>
                  <a:srgbClr val="111111"/>
                </a:solidFill>
                <a:latin typeface="Plus Jakarta Sans" pitchFamily="34" charset="0"/>
                <a:ea typeface="Plus Jakarta Sans" pitchFamily="34" charset="-122"/>
                <a:cs typeface="Plus Jakarta Sans" pitchFamily="34" charset="-120"/>
              </a:rPr>
              <a:t>Lusinghe, vittimismo, «non ti tratterei mai così»: la chat 1 sembra «normale» e «gli ultimi messaggi sono i peggiori».</a:t>
            </a:r>
            <a:endParaRPr lang="en-US" sz="850">
              <a:latin typeface="Plus Jakarta Sans"/>
              <a:ea typeface="Plus Jakarta Sans"/>
              <a:cs typeface="Plus Jakarta Sans"/>
            </a:endParaRPr>
          </a:p>
        </p:txBody>
      </p:sp>
      <p:sp>
        <p:nvSpPr>
          <p:cNvPr id="19" name="Shape 14"/>
          <p:cNvSpPr/>
          <p:nvPr/>
        </p:nvSpPr>
        <p:spPr>
          <a:xfrm>
            <a:off x="5148072" y="3182112"/>
            <a:ext cx="3566160" cy="1097280"/>
          </a:xfrm>
          <a:prstGeom prst="rect">
            <a:avLst/>
          </a:prstGeom>
          <a:solidFill>
            <a:srgbClr val="FBD5D9"/>
          </a:solidFill>
          <a:ln w="15875">
            <a:solidFill>
              <a:srgbClr val="111111"/>
            </a:solidFill>
            <a:prstDash val="solid"/>
          </a:ln>
        </p:spPr>
        <p:txBody>
          <a:bodyPr/>
          <a:lstStyle/>
          <a:p>
            <a:endParaRPr lang="it-IT"/>
          </a:p>
        </p:txBody>
      </p:sp>
      <p:sp>
        <p:nvSpPr>
          <p:cNvPr id="20" name="Shape 15"/>
          <p:cNvSpPr/>
          <p:nvPr/>
        </p:nvSpPr>
        <p:spPr>
          <a:xfrm>
            <a:off x="5074920" y="3108960"/>
            <a:ext cx="3566160" cy="1097280"/>
          </a:xfrm>
          <a:prstGeom prst="rect">
            <a:avLst/>
          </a:prstGeom>
          <a:solidFill>
            <a:srgbClr val="FFFFFF"/>
          </a:solidFill>
          <a:ln w="15875">
            <a:solidFill>
              <a:srgbClr val="111111"/>
            </a:solidFill>
            <a:prstDash val="solid"/>
          </a:ln>
        </p:spPr>
        <p:txBody>
          <a:bodyPr/>
          <a:lstStyle/>
          <a:p>
            <a:endParaRPr lang="it-IT"/>
          </a:p>
        </p:txBody>
      </p:sp>
      <p:sp>
        <p:nvSpPr>
          <p:cNvPr id="21" name="Shape 16"/>
          <p:cNvSpPr/>
          <p:nvPr/>
        </p:nvSpPr>
        <p:spPr>
          <a:xfrm>
            <a:off x="5193792" y="3218688"/>
            <a:ext cx="256032" cy="256032"/>
          </a:xfrm>
          <a:prstGeom prst="ellipse">
            <a:avLst/>
          </a:prstGeom>
          <a:solidFill>
            <a:srgbClr val="E71224"/>
          </a:solidFill>
          <a:ln w="12700">
            <a:solidFill>
              <a:srgbClr val="E71224"/>
            </a:solidFill>
            <a:prstDash val="solid"/>
          </a:ln>
        </p:spPr>
        <p:txBody>
          <a:bodyPr/>
          <a:lstStyle/>
          <a:p>
            <a:endParaRPr lang="it-IT"/>
          </a:p>
        </p:txBody>
      </p:sp>
      <p:pic>
        <p:nvPicPr>
          <p:cNvPr id="22" name="Image 2" descr="/home/claude/ppt/build/icons/question_w.png"/>
          <p:cNvPicPr>
            <a:picLocks noChangeAspect="1"/>
          </p:cNvPicPr>
          <p:nvPr/>
        </p:nvPicPr>
        <p:blipFill>
          <a:blip r:embed="rId4"/>
          <a:stretch>
            <a:fillRect/>
          </a:stretch>
        </p:blipFill>
        <p:spPr>
          <a:xfrm>
            <a:off x="5262921" y="3287817"/>
            <a:ext cx="117775" cy="117775"/>
          </a:xfrm>
          <a:prstGeom prst="rect">
            <a:avLst/>
          </a:prstGeom>
        </p:spPr>
      </p:pic>
      <p:sp>
        <p:nvSpPr>
          <p:cNvPr id="23" name="Text 17"/>
          <p:cNvSpPr txBox="1"/>
          <p:nvPr/>
        </p:nvSpPr>
        <p:spPr>
          <a:xfrm>
            <a:off x="5532120" y="3246120"/>
            <a:ext cx="2926080" cy="219456"/>
          </a:xfrm>
          <a:prstGeom prst="rect">
            <a:avLst/>
          </a:prstGeom>
          <a:noFill/>
          <a:ln/>
        </p:spPr>
        <p:txBody>
          <a:bodyPr wrap="square" lIns="0" tIns="0" rIns="0" bIns="0" rtlCol="0" anchor="ctr"/>
          <a:lstStyle/>
          <a:p>
            <a:pPr marL="0" indent="0">
              <a:buNone/>
            </a:pPr>
            <a:r>
              <a:rPr lang="en-US" sz="1000" b="1">
                <a:solidFill>
                  <a:srgbClr val="E71224"/>
                </a:solidFill>
                <a:latin typeface="Space Mono" pitchFamily="34" charset="0"/>
                <a:ea typeface="Space Mono" pitchFamily="34" charset="-122"/>
                <a:cs typeface="Space Mono" pitchFamily="34" charset="-120"/>
              </a:rPr>
              <a:t>nessuno chiede prove</a:t>
            </a:r>
            <a:endParaRPr lang="en-US" sz="1000">
              <a:latin typeface="Space Mono"/>
              <a:ea typeface="Space Mono"/>
              <a:cs typeface="Space Mono"/>
            </a:endParaRPr>
          </a:p>
        </p:txBody>
      </p:sp>
      <p:sp>
        <p:nvSpPr>
          <p:cNvPr id="24" name="Text 18"/>
          <p:cNvSpPr txBox="1"/>
          <p:nvPr/>
        </p:nvSpPr>
        <p:spPr>
          <a:xfrm>
            <a:off x="5212080" y="3547872"/>
            <a:ext cx="3337560" cy="621792"/>
          </a:xfrm>
          <a:prstGeom prst="rect">
            <a:avLst/>
          </a:prstGeom>
          <a:noFill/>
          <a:ln/>
        </p:spPr>
        <p:txBody>
          <a:bodyPr wrap="square" lIns="0" tIns="0" rIns="0" bIns="0" rtlCol="0" anchor="t"/>
          <a:lstStyle/>
          <a:p>
            <a:pPr algn="just"/>
            <a:r>
              <a:rPr lang="en-US" sz="850">
                <a:solidFill>
                  <a:srgbClr val="111111"/>
                </a:solidFill>
                <a:latin typeface="Plus Jakarta Sans"/>
                <a:ea typeface="Plus Jakarta Sans"/>
                <a:cs typeface="Plus Jakarta Sans" pitchFamily="34" charset="-120"/>
              </a:rPr>
              <a:t>«Se lo conosco da un po' ci può stare»: la fiducia costruita nel tempo sostituisce la verifica. Davanti a segnali sospetti, invece, preferiscono bloccare subito e chiudere il rapporto, senza altre verifiche.</a:t>
            </a:r>
            <a:endParaRPr lang="en-US" sz="850">
              <a:latin typeface="Plus Jakarta Sans"/>
              <a:ea typeface="Plus Jakarta Sans"/>
              <a:cs typeface="Plus Jakarta Sans"/>
            </a:endParaRPr>
          </a:p>
        </p:txBody>
      </p:sp>
      <p:sp>
        <p:nvSpPr>
          <p:cNvPr id="25"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lgn="l">
              <a:buNone/>
            </a:pPr>
            <a:r>
              <a:rPr lang="it-IT" sz="800" b="1" i="0" u="none">
                <a:solidFill>
                  <a:srgbClr val="E71224"/>
                </a:solidFill>
                <a:latin typeface="Space Mono"/>
                <a:ea typeface="Space Mono"/>
                <a:cs typeface="Space Mono"/>
              </a:rPr>
              <a:t>02 · chat analysis · chat 5.1</a:t>
            </a:r>
          </a:p>
        </p:txBody>
      </p:sp>
      <p:sp>
        <p:nvSpPr>
          <p:cNvPr id="3" name="Text 1"/>
          <p:cNvSpPr txBox="1"/>
          <p:nvPr/>
        </p:nvSpPr>
        <p:spPr>
          <a:xfrm>
            <a:off x="502920" y="502920"/>
            <a:ext cx="45720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è solo uno</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scherzo?</a:t>
            </a:r>
            <a:endParaRPr lang="en-US" sz="2600">
              <a:latin typeface="Space Mono"/>
              <a:ea typeface="Space Mono"/>
              <a:cs typeface="Space Mono"/>
            </a:endParaRPr>
          </a:p>
        </p:txBody>
      </p:sp>
      <p:sp>
        <p:nvSpPr>
          <p:cNvPr id="4" name="Shape 2"/>
          <p:cNvSpPr/>
          <p:nvPr/>
        </p:nvSpPr>
        <p:spPr>
          <a:xfrm rot="-90000">
            <a:off x="722375" y="2112264"/>
            <a:ext cx="3950208" cy="1343978"/>
          </a:xfrm>
          <a:prstGeom prst="rect">
            <a:avLst/>
          </a:prstGeom>
          <a:solidFill>
            <a:srgbClr val="1700E8"/>
          </a:solidFill>
          <a:ln w="12700">
            <a:solidFill>
              <a:srgbClr val="1700E8"/>
            </a:solidFill>
            <a:prstDash val="solid"/>
          </a:ln>
        </p:spPr>
        <p:txBody>
          <a:bodyPr/>
          <a:lstStyle/>
          <a:p>
            <a:endParaRPr lang="it-IT"/>
          </a:p>
        </p:txBody>
      </p:sp>
      <p:sp>
        <p:nvSpPr>
          <p:cNvPr id="5" name="Shape 3"/>
          <p:cNvSpPr/>
          <p:nvPr/>
        </p:nvSpPr>
        <p:spPr>
          <a:xfrm rot="-90000">
            <a:off x="640080" y="2029968"/>
            <a:ext cx="3950208" cy="1343978"/>
          </a:xfrm>
          <a:prstGeom prst="rect">
            <a:avLst/>
          </a:prstGeom>
          <a:solidFill>
            <a:srgbClr val="FFFFFF"/>
          </a:solidFill>
          <a:ln w="15875">
            <a:solidFill>
              <a:srgbClr val="111111"/>
            </a:solidFill>
            <a:prstDash val="solid"/>
          </a:ln>
        </p:spPr>
        <p:txBody>
          <a:bodyPr/>
          <a:lstStyle/>
          <a:p>
            <a:endParaRPr lang="it-IT"/>
          </a:p>
        </p:txBody>
      </p:sp>
      <p:pic>
        <p:nvPicPr>
          <p:cNvPr id="6" name="Image 0" descr="appunti.png"/>
          <p:cNvPicPr>
            <a:picLocks noChangeAspect="1"/>
          </p:cNvPicPr>
          <p:nvPr/>
        </p:nvPicPr>
        <p:blipFill>
          <a:blip r:embed="rId2"/>
          <a:srcRect/>
          <a:stretch/>
        </p:blipFill>
        <p:spPr>
          <a:xfrm rot="-90000">
            <a:off x="694944" y="2084832"/>
            <a:ext cx="3840480" cy="1234250"/>
          </a:xfrm>
          <a:prstGeom prst="rect">
            <a:avLst/>
          </a:prstGeom>
        </p:spPr>
      </p:pic>
      <p:sp>
        <p:nvSpPr>
          <p:cNvPr id="7" name="Shape 4"/>
          <p:cNvSpPr/>
          <p:nvPr/>
        </p:nvSpPr>
        <p:spPr>
          <a:xfrm rot="-270000">
            <a:off x="2194560" y="1947672"/>
            <a:ext cx="777240" cy="164592"/>
          </a:xfrm>
          <a:prstGeom prst="rect">
            <a:avLst/>
          </a:prstGeom>
          <a:solidFill>
            <a:srgbClr val="E71224">
              <a:alpha val="75000"/>
            </a:srgbClr>
          </a:solidFill>
          <a:ln w="12700">
            <a:solidFill>
              <a:srgbClr val="E71224"/>
            </a:solidFill>
            <a:prstDash val="solid"/>
          </a:ln>
        </p:spPr>
        <p:txBody>
          <a:bodyPr/>
          <a:lstStyle/>
          <a:p>
            <a:endParaRPr lang="it-IT"/>
          </a:p>
        </p:txBody>
      </p:sp>
      <p:sp>
        <p:nvSpPr>
          <p:cNvPr id="31"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9</a:t>
            </a:fld>
            <a:endParaRPr lang="en-US"/>
          </a:p>
        </p:txBody>
      </p:sp>
      <p:sp>
        <p:nvSpPr>
          <p:cNvPr id="32" name="Ipotesi"/>
          <p:cNvSpPr txBox="1"/>
          <p:nvPr/>
        </p:nvSpPr>
        <p:spPr>
          <a:xfrm>
            <a:off x="502920" y="1417320"/>
            <a:ext cx="4206240" cy="457200"/>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Nel compito 1 il 35% considerava un deepfake di un coetaneo «un semplice scherzo», e la quota cresceva con l'età. La chat 5.1 lo ha messo alla prova: una foto di Matteo, modificata con l'IA, gira nel gruppo classe.</a:t>
            </a:r>
          </a:p>
        </p:txBody>
      </p:sp>
      <p:sp>
        <p:nvSpPr>
          <p:cNvPr id="33" name="Didascalia appunti"/>
          <p:cNvSpPr txBox="1"/>
          <p:nvPr/>
        </p:nvSpPr>
        <p:spPr>
          <a:xfrm>
            <a:off x="548640" y="3538538"/>
            <a:ext cx="4114800" cy="182880"/>
          </a:xfrm>
          <a:prstGeom prst="rect">
            <a:avLst/>
          </a:prstGeom>
          <a:noFill/>
        </p:spPr>
        <p:txBody>
          <a:bodyPr wrap="square" lIns="0" tIns="0" rIns="0" bIns="0" anchor="t">
            <a:spAutoFit/>
          </a:bodyPr>
          <a:lstStyle/>
          <a:p>
            <a:pPr marL="0" indent="0" algn="l">
              <a:buNone/>
            </a:pPr>
            <a:r>
              <a:rPr lang="it-IT" sz="750" b="0" i="0" u="none">
                <a:solidFill>
                  <a:srgbClr val="6B6B78"/>
                </a:solidFill>
                <a:latin typeface="Space Mono"/>
                <a:ea typeface="Space Mono"/>
                <a:cs typeface="Space Mono"/>
              </a:rPr>
              <a:t>dagli appunti presi seguendo i gruppi · </a:t>
            </a:r>
            <a:r>
              <a:rPr lang="it-IT" sz="750" b="1" i="0" u="sng">
                <a:solidFill>
                  <a:srgbClr val="1700E8"/>
                </a:solidFill>
                <a:latin typeface="Space Mono"/>
                <a:ea typeface="Space Mono"/>
                <a:cs typeface="Space Mono"/>
                <a:hlinkClick r:id="rId3">
                  <a:extLst>
                    <a:ext uri="{A12FA001-AC4F-418D-AE19-62706E023703}">
                      <ahyp:hlinkClr xmlns:ahyp="http://schemas.microsoft.com/office/drawing/2018/hyperlinkcolor" val="tx"/>
                    </a:ext>
                  </a:extLst>
                </a:hlinkClick>
              </a:rPr>
              <a:t>Board FigJam</a:t>
            </a:r>
          </a:p>
        </p:txBody>
      </p:sp>
      <p:sp>
        <p:nvSpPr>
          <p:cNvPr id="34" name="Cosa ci dice ombra"/>
          <p:cNvSpPr/>
          <p:nvPr/>
        </p:nvSpPr>
        <p:spPr>
          <a:xfrm>
            <a:off x="621792" y="3840480"/>
            <a:ext cx="4114800" cy="822960"/>
          </a:xfrm>
          <a:prstGeom prst="rect">
            <a:avLst/>
          </a:prstGeom>
          <a:solidFill>
            <a:srgbClr val="FBD5D9"/>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Cosa ci dice"/>
          <p:cNvSpPr/>
          <p:nvPr/>
        </p:nvSpPr>
        <p:spPr>
          <a:xfrm>
            <a:off x="548640" y="3767328"/>
            <a:ext cx="4114800" cy="822960"/>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58368" y="3849624"/>
            <a:ext cx="3895344" cy="731520"/>
          </a:xfrm>
          <a:prstGeom prst="rect">
            <a:avLst/>
          </a:prstGeom>
          <a:noFill/>
        </p:spPr>
        <p:txBody>
          <a:bodyPr wrap="square" lIns="0" tIns="0" rIns="0" bIns="0" anchor="t">
            <a:spAutoFit/>
          </a:bodyPr>
          <a:lstStyle/>
          <a:p>
            <a:pPr marL="0" indent="0" algn="l">
              <a:spcAft>
                <a:spcPts val="200"/>
              </a:spcAft>
              <a:buNone/>
            </a:pPr>
            <a:r>
              <a:rPr lang="it-IT" sz="850" b="1" i="0" u="none">
                <a:solidFill>
                  <a:srgbClr val="E71224"/>
                </a:solidFill>
                <a:latin typeface="Space Mono"/>
                <a:ea typeface="Space Mono"/>
                <a:cs typeface="Space Mono"/>
              </a:rPr>
              <a:t>cosa ci dice</a:t>
            </a:r>
          </a:p>
          <a:p>
            <a:pPr marL="0" indent="0" algn="just">
              <a:lnSpc>
                <a:spcPct val="105000"/>
              </a:lnSpc>
              <a:buNone/>
            </a:pPr>
            <a:r>
              <a:rPr lang="it-IT" sz="830" b="1" i="0" u="none">
                <a:solidFill>
                  <a:srgbClr val="111111"/>
                </a:solidFill>
                <a:latin typeface="Plus Jakarta Sans"/>
                <a:ea typeface="Plus Jakarta Sans"/>
                <a:cs typeface="Plus Jakarta Sans"/>
              </a:rPr>
              <a:t>L'ipotesi è smentita solo in parte: </a:t>
            </a:r>
            <a:r>
              <a:rPr lang="it-IT" sz="830" b="0" i="0" u="none">
                <a:solidFill>
                  <a:srgbClr val="111111"/>
                </a:solidFill>
                <a:latin typeface="Plus Jakarta Sans"/>
                <a:ea typeface="Plus Jakarta Sans"/>
                <a:cs typeface="Plus Jakarta Sans"/>
              </a:rPr>
              <a:t>2 gruppi su 3 tra quelli che si sono espressi non la considerano solo uno scherzo. La sensibilità c'è, ma il confine resta incerto: va chiarito quando una foto modificata smette di essere uno scherzo (B8).</a:t>
            </a:r>
          </a:p>
        </p:txBody>
      </p:sp>
      <p:sp>
        <p:nvSpPr>
          <p:cNvPr id="37" name="TextBox 36"/>
          <p:cNvSpPr txBox="1"/>
          <p:nvPr/>
        </p:nvSpPr>
        <p:spPr>
          <a:xfrm>
            <a:off x="5029200" y="475488"/>
            <a:ext cx="3611880" cy="182880"/>
          </a:xfrm>
          <a:prstGeom prst="rect">
            <a:avLst/>
          </a:prstGeom>
          <a:noFill/>
        </p:spPr>
        <p:txBody>
          <a:bodyPr wrap="square" lIns="0" tIns="0" rIns="0" bIns="0" anchor="t">
            <a:spAutoFit/>
          </a:bodyPr>
          <a:lstStyle/>
          <a:p>
            <a:pPr marL="0" indent="0" algn="l">
              <a:buNone/>
            </a:pPr>
            <a:r>
              <a:rPr lang="it-IT" sz="800" b="0" i="0" u="none">
                <a:solidFill>
                  <a:srgbClr val="6B6B78"/>
                </a:solidFill>
                <a:latin typeface="Space Mono"/>
                <a:ea typeface="Space Mono"/>
                <a:cs typeface="Space Mono"/>
              </a:rPr>
              <a:t>i tre pareri dei gruppi che si sono espressi</a:t>
            </a:r>
          </a:p>
        </p:txBody>
      </p:sp>
      <p:sp>
        <p:nvSpPr>
          <p:cNvPr id="38" name="Parere 1 ombra"/>
          <p:cNvSpPr/>
          <p:nvPr/>
        </p:nvSpPr>
        <p:spPr>
          <a:xfrm>
            <a:off x="5102352" y="822959"/>
            <a:ext cx="3611880" cy="1024128"/>
          </a:xfrm>
          <a:prstGeom prst="rect">
            <a:avLst/>
          </a:prstGeom>
          <a:solidFill>
            <a:srgbClr val="FBD5D9"/>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Parere 1"/>
          <p:cNvSpPr/>
          <p:nvPr/>
        </p:nvSpPr>
        <p:spPr>
          <a:xfrm>
            <a:off x="5029200" y="749808"/>
            <a:ext cx="3611880" cy="1024128"/>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Numero 1"/>
          <p:cNvSpPr/>
          <p:nvPr/>
        </p:nvSpPr>
        <p:spPr>
          <a:xfrm>
            <a:off x="5138928" y="859536"/>
            <a:ext cx="256032" cy="256032"/>
          </a:xfrm>
          <a:prstGeom prst="ellipse">
            <a:avLst/>
          </a:prstGeom>
          <a:solidFill>
            <a:srgbClr val="E7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5138928" y="859536"/>
            <a:ext cx="256032" cy="256032"/>
          </a:xfrm>
          <a:prstGeom prst="rect">
            <a:avLst/>
          </a:prstGeom>
          <a:noFill/>
        </p:spPr>
        <p:txBody>
          <a:bodyPr wrap="square" lIns="0" tIns="0" rIns="0" bIns="0" anchor="ctr">
            <a:spAutoFit/>
          </a:bodyPr>
          <a:lstStyle/>
          <a:p>
            <a:pPr marL="0" indent="0" algn="ctr">
              <a:buNone/>
            </a:pPr>
            <a:r>
              <a:rPr lang="it-IT" sz="900" b="1" i="0" u="none">
                <a:solidFill>
                  <a:srgbClr val="FFFFFF"/>
                </a:solidFill>
                <a:latin typeface="Space Mono"/>
                <a:ea typeface="Space Mono"/>
                <a:cs typeface="Space Mono"/>
              </a:rPr>
              <a:t>1</a:t>
            </a:r>
          </a:p>
        </p:txBody>
      </p:sp>
      <p:sp>
        <p:nvSpPr>
          <p:cNvPr id="42" name="TextBox 41"/>
          <p:cNvSpPr txBox="1"/>
          <p:nvPr/>
        </p:nvSpPr>
        <p:spPr>
          <a:xfrm>
            <a:off x="5486400" y="841247"/>
            <a:ext cx="3044952" cy="310896"/>
          </a:xfrm>
          <a:prstGeom prst="rect">
            <a:avLst/>
          </a:prstGeom>
          <a:noFill/>
        </p:spPr>
        <p:txBody>
          <a:bodyPr wrap="square" lIns="0" tIns="0" rIns="0" bIns="0" anchor="ctr">
            <a:spAutoFit/>
          </a:bodyPr>
          <a:lstStyle/>
          <a:p>
            <a:pPr marL="0" indent="0" algn="l">
              <a:lnSpc>
                <a:spcPct val="95000"/>
              </a:lnSpc>
              <a:buNone/>
            </a:pPr>
            <a:r>
              <a:rPr lang="it-IT" sz="900" b="1" i="1" u="none">
                <a:solidFill>
                  <a:srgbClr val="E71224"/>
                </a:solidFill>
                <a:latin typeface="Space Mono"/>
                <a:ea typeface="Space Mono"/>
                <a:cs typeface="Space Mono"/>
              </a:rPr>
              <a:t>«sì, è semplicemente uno scherzo»</a:t>
            </a:r>
          </a:p>
        </p:txBody>
      </p:sp>
      <p:sp>
        <p:nvSpPr>
          <p:cNvPr id="43" name="TextBox 42"/>
          <p:cNvSpPr txBox="1"/>
          <p:nvPr/>
        </p:nvSpPr>
        <p:spPr>
          <a:xfrm>
            <a:off x="5157216" y="1207007"/>
            <a:ext cx="3364992" cy="502920"/>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La foto girata nel gruppo è vista come uno scherzo. Però, se finisse in più gruppi o tra persone sconosciute, la prenderebbero più sul serio (Biscotto).</a:t>
            </a:r>
          </a:p>
        </p:txBody>
      </p:sp>
      <p:sp>
        <p:nvSpPr>
          <p:cNvPr id="44" name="Parere 2 ombra"/>
          <p:cNvSpPr/>
          <p:nvPr/>
        </p:nvSpPr>
        <p:spPr>
          <a:xfrm>
            <a:off x="5102352" y="2011680"/>
            <a:ext cx="3611880" cy="1024128"/>
          </a:xfrm>
          <a:prstGeom prst="rect">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Parere 2"/>
          <p:cNvSpPr/>
          <p:nvPr/>
        </p:nvSpPr>
        <p:spPr>
          <a:xfrm>
            <a:off x="5029200" y="1938528"/>
            <a:ext cx="3611880" cy="1024128"/>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Numero 2"/>
          <p:cNvSpPr/>
          <p:nvPr/>
        </p:nvSpPr>
        <p:spPr>
          <a:xfrm>
            <a:off x="5138928" y="2048256"/>
            <a:ext cx="256032" cy="256032"/>
          </a:xfrm>
          <a:prstGeom prst="ellipse">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5138928" y="2048256"/>
            <a:ext cx="256032" cy="256032"/>
          </a:xfrm>
          <a:prstGeom prst="rect">
            <a:avLst/>
          </a:prstGeom>
          <a:noFill/>
        </p:spPr>
        <p:txBody>
          <a:bodyPr wrap="square" lIns="0" tIns="0" rIns="0" bIns="0" anchor="ctr">
            <a:spAutoFit/>
          </a:bodyPr>
          <a:lstStyle/>
          <a:p>
            <a:pPr marL="0" indent="0" algn="ctr">
              <a:buNone/>
            </a:pPr>
            <a:r>
              <a:rPr lang="it-IT" sz="900" b="1" i="0" u="none">
                <a:solidFill>
                  <a:srgbClr val="FFFFFF"/>
                </a:solidFill>
                <a:latin typeface="Space Mono"/>
                <a:ea typeface="Space Mono"/>
                <a:cs typeface="Space Mono"/>
              </a:rPr>
              <a:t>2</a:t>
            </a:r>
          </a:p>
        </p:txBody>
      </p:sp>
      <p:sp>
        <p:nvSpPr>
          <p:cNvPr id="48" name="TextBox 47"/>
          <p:cNvSpPr txBox="1"/>
          <p:nvPr/>
        </p:nvSpPr>
        <p:spPr>
          <a:xfrm>
            <a:off x="5486400" y="2029968"/>
            <a:ext cx="3044952" cy="310896"/>
          </a:xfrm>
          <a:prstGeom prst="rect">
            <a:avLst/>
          </a:prstGeom>
          <a:noFill/>
        </p:spPr>
        <p:txBody>
          <a:bodyPr wrap="square" lIns="0" tIns="0" rIns="0" bIns="0" anchor="ctr">
            <a:spAutoFit/>
          </a:bodyPr>
          <a:lstStyle/>
          <a:p>
            <a:pPr marL="0" indent="0" algn="l">
              <a:lnSpc>
                <a:spcPct val="95000"/>
              </a:lnSpc>
              <a:buNone/>
            </a:pPr>
            <a:r>
              <a:rPr lang="it-IT" sz="900" b="1" i="1" u="none">
                <a:solidFill>
                  <a:srgbClr val="1700E8"/>
                </a:solidFill>
                <a:latin typeface="Space Mono"/>
                <a:ea typeface="Space Mono"/>
                <a:cs typeface="Space Mono"/>
              </a:rPr>
              <a:t>«non si mandano foto modificate con l'IA sul gruppo»</a:t>
            </a:r>
          </a:p>
        </p:txBody>
      </p:sp>
      <p:sp>
        <p:nvSpPr>
          <p:cNvPr id="49" name="TextBox 48"/>
          <p:cNvSpPr txBox="1"/>
          <p:nvPr/>
        </p:nvSpPr>
        <p:spPr>
          <a:xfrm>
            <a:off x="5157216" y="2395728"/>
            <a:ext cx="3364992" cy="502920"/>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Chi è preso di mira la prenderebbe male, a prescindere dal tono scherzoso: non si fa e basta.</a:t>
            </a:r>
          </a:p>
        </p:txBody>
      </p:sp>
      <p:sp>
        <p:nvSpPr>
          <p:cNvPr id="50" name="Parere 3 ombra"/>
          <p:cNvSpPr/>
          <p:nvPr/>
        </p:nvSpPr>
        <p:spPr>
          <a:xfrm>
            <a:off x="5102352" y="3200400"/>
            <a:ext cx="3611880" cy="1024128"/>
          </a:xfrm>
          <a:prstGeom prst="rect">
            <a:avLst/>
          </a:prstGeom>
          <a:solidFill>
            <a:srgbClr val="DEDA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Parere 3"/>
          <p:cNvSpPr/>
          <p:nvPr/>
        </p:nvSpPr>
        <p:spPr>
          <a:xfrm>
            <a:off x="5029200" y="3127248"/>
            <a:ext cx="3611880" cy="1024128"/>
          </a:xfrm>
          <a:prstGeom prst="rect">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Numero 3"/>
          <p:cNvSpPr/>
          <p:nvPr/>
        </p:nvSpPr>
        <p:spPr>
          <a:xfrm>
            <a:off x="5138928" y="3236976"/>
            <a:ext cx="256032" cy="256032"/>
          </a:xfrm>
          <a:prstGeom prst="ellipse">
            <a:avLst/>
          </a:prstGeom>
          <a:solidFill>
            <a:srgbClr val="170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5138928" y="3236976"/>
            <a:ext cx="256032" cy="256032"/>
          </a:xfrm>
          <a:prstGeom prst="rect">
            <a:avLst/>
          </a:prstGeom>
          <a:noFill/>
        </p:spPr>
        <p:txBody>
          <a:bodyPr wrap="square" lIns="0" tIns="0" rIns="0" bIns="0" anchor="ctr">
            <a:spAutoFit/>
          </a:bodyPr>
          <a:lstStyle/>
          <a:p>
            <a:pPr marL="0" indent="0" algn="ctr">
              <a:buNone/>
            </a:pPr>
            <a:r>
              <a:rPr lang="it-IT" sz="900" b="1" i="0" u="none">
                <a:solidFill>
                  <a:srgbClr val="FFFFFF"/>
                </a:solidFill>
                <a:latin typeface="Space Mono"/>
                <a:ea typeface="Space Mono"/>
                <a:cs typeface="Space Mono"/>
              </a:rPr>
              <a:t>3</a:t>
            </a:r>
          </a:p>
        </p:txBody>
      </p:sp>
      <p:sp>
        <p:nvSpPr>
          <p:cNvPr id="54" name="TextBox 53"/>
          <p:cNvSpPr txBox="1"/>
          <p:nvPr/>
        </p:nvSpPr>
        <p:spPr>
          <a:xfrm>
            <a:off x="5486400" y="3218688"/>
            <a:ext cx="3044952" cy="310896"/>
          </a:xfrm>
          <a:prstGeom prst="rect">
            <a:avLst/>
          </a:prstGeom>
          <a:noFill/>
        </p:spPr>
        <p:txBody>
          <a:bodyPr wrap="square" lIns="0" tIns="0" rIns="0" bIns="0" anchor="ctr">
            <a:spAutoFit/>
          </a:bodyPr>
          <a:lstStyle/>
          <a:p>
            <a:pPr marL="0" indent="0" algn="l">
              <a:lnSpc>
                <a:spcPct val="95000"/>
              </a:lnSpc>
              <a:buNone/>
            </a:pPr>
            <a:r>
              <a:rPr lang="it-IT" sz="900" b="1" i="1" u="none">
                <a:solidFill>
                  <a:srgbClr val="1700E8"/>
                </a:solidFill>
                <a:latin typeface="Space Mono"/>
                <a:ea typeface="Space Mono"/>
                <a:cs typeface="Space Mono"/>
              </a:rPr>
              <a:t>«dipende dal soggetto preso di mira»</a:t>
            </a:r>
          </a:p>
        </p:txBody>
      </p:sp>
      <p:sp>
        <p:nvSpPr>
          <p:cNvPr id="55" name="TextBox 54"/>
          <p:cNvSpPr txBox="1"/>
          <p:nvPr/>
        </p:nvSpPr>
        <p:spPr>
          <a:xfrm>
            <a:off x="5157216" y="3584448"/>
            <a:ext cx="3364992" cy="502920"/>
          </a:xfrm>
          <a:prstGeom prst="rect">
            <a:avLst/>
          </a:prstGeom>
          <a:noFill/>
        </p:spPr>
        <p:txBody>
          <a:bodyPr wrap="square" lIns="0" tIns="0" rIns="0" bIns="0" anchor="t">
            <a:spAutoFit/>
          </a:bodyPr>
          <a:lstStyle/>
          <a:p>
            <a:pPr marL="0" indent="0" algn="just">
              <a:lnSpc>
                <a:spcPct val="105000"/>
              </a:lnSpc>
              <a:buNone/>
            </a:pPr>
            <a:r>
              <a:rPr lang="it-IT" sz="850" b="0" i="0" u="none">
                <a:solidFill>
                  <a:srgbClr val="111111"/>
                </a:solidFill>
                <a:latin typeface="Plus Jakarta Sans"/>
                <a:ea typeface="Plus Jakarta Sans"/>
                <a:cs typeface="Plus Jakarta Sans"/>
              </a:rPr>
              <a:t>Lo scherzo può starci, ma se la persona coinvolta la prende male è giusto eliminare la foto.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03 · focus group co-design</a:t>
            </a:r>
            <a:endParaRPr lang="en-US" sz="800">
              <a:latin typeface="Space Mono"/>
              <a:ea typeface="Space Mono"/>
              <a:cs typeface="Space Mono"/>
            </a:endParaRPr>
          </a:p>
        </p:txBody>
      </p:sp>
      <p:sp>
        <p:nvSpPr>
          <p:cNvPr id="3" name="Text 1"/>
          <p:cNvSpPr txBox="1"/>
          <p:nvPr/>
        </p:nvSpPr>
        <p:spPr>
          <a:xfrm>
            <a:off x="502920" y="502920"/>
            <a:ext cx="45720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quattro domande,</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alla pari</a:t>
            </a:r>
            <a:endParaRPr lang="en-US" sz="2600">
              <a:latin typeface="Space Mono"/>
              <a:ea typeface="Space Mono"/>
              <a:cs typeface="Space Mono"/>
            </a:endParaRPr>
          </a:p>
        </p:txBody>
      </p:sp>
      <p:sp>
        <p:nvSpPr>
          <p:cNvPr id="4" name="Shape 2"/>
          <p:cNvSpPr/>
          <p:nvPr/>
        </p:nvSpPr>
        <p:spPr>
          <a:xfrm>
            <a:off x="576072" y="1371600"/>
            <a:ext cx="3886200" cy="1536192"/>
          </a:xfrm>
          <a:prstGeom prst="rect">
            <a:avLst/>
          </a:prstGeom>
          <a:solidFill>
            <a:srgbClr val="DEDAFF"/>
          </a:solidFill>
          <a:ln w="15875">
            <a:solidFill>
              <a:srgbClr val="111111"/>
            </a:solidFill>
            <a:prstDash val="solid"/>
          </a:ln>
        </p:spPr>
        <p:txBody>
          <a:bodyPr/>
          <a:lstStyle/>
          <a:p>
            <a:endParaRPr lang="it-IT"/>
          </a:p>
        </p:txBody>
      </p:sp>
      <p:sp>
        <p:nvSpPr>
          <p:cNvPr id="5" name="Shape 3"/>
          <p:cNvSpPr/>
          <p:nvPr/>
        </p:nvSpPr>
        <p:spPr>
          <a:xfrm>
            <a:off x="502920" y="1298448"/>
            <a:ext cx="3886200" cy="1536192"/>
          </a:xfrm>
          <a:prstGeom prst="rect">
            <a:avLst/>
          </a:prstGeom>
          <a:solidFill>
            <a:srgbClr val="FFFFFF"/>
          </a:solidFill>
          <a:ln w="15875">
            <a:solidFill>
              <a:srgbClr val="111111"/>
            </a:solidFill>
            <a:prstDash val="solid"/>
          </a:ln>
        </p:spPr>
        <p:txBody>
          <a:bodyPr/>
          <a:lstStyle/>
          <a:p>
            <a:endParaRPr lang="it-IT"/>
          </a:p>
        </p:txBody>
      </p:sp>
      <p:sp>
        <p:nvSpPr>
          <p:cNvPr id="6" name="Shape 4"/>
          <p:cNvSpPr/>
          <p:nvPr/>
        </p:nvSpPr>
        <p:spPr>
          <a:xfrm>
            <a:off x="630936" y="1435607"/>
            <a:ext cx="45720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7" name="Text 5"/>
          <p:cNvSpPr txBox="1"/>
          <p:nvPr/>
        </p:nvSpPr>
        <p:spPr>
          <a:xfrm>
            <a:off x="630936" y="1435607"/>
            <a:ext cx="45720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TR1</a:t>
            </a:r>
            <a:endParaRPr lang="en-US" sz="750">
              <a:latin typeface="Space Mono"/>
              <a:ea typeface="Space Mono"/>
              <a:cs typeface="Space Mono"/>
            </a:endParaRPr>
          </a:p>
        </p:txBody>
      </p:sp>
      <p:sp>
        <p:nvSpPr>
          <p:cNvPr id="8" name="Text 6"/>
          <p:cNvSpPr txBox="1"/>
          <p:nvPr/>
        </p:nvSpPr>
        <p:spPr>
          <a:xfrm>
            <a:off x="1188720" y="1389888"/>
            <a:ext cx="3072384" cy="329184"/>
          </a:xfrm>
          <a:prstGeom prst="rect">
            <a:avLst/>
          </a:prstGeom>
          <a:noFill/>
          <a:ln/>
        </p:spPr>
        <p:txBody>
          <a:bodyPr wrap="square" lIns="0" tIns="0" rIns="0" bIns="0" rtlCol="0" anchor="ctr"/>
          <a:lstStyle/>
          <a:p>
            <a:pPr marL="0" indent="0">
              <a:buNone/>
            </a:pPr>
            <a:r>
              <a:rPr lang="en-US" sz="820" b="1">
                <a:solidFill>
                  <a:srgbClr val="1700E8"/>
                </a:solidFill>
                <a:latin typeface="Space Mono" pitchFamily="34" charset="0"/>
                <a:ea typeface="Space Mono" pitchFamily="34" charset="-122"/>
                <a:cs typeface="Space Mono" pitchFamily="34" charset="-120"/>
              </a:rPr>
              <a:t>Quando vi scrive qualcuno che non conoscete, su cosa vi basate per decidere se fidarvi?</a:t>
            </a:r>
            <a:endParaRPr lang="en-US" sz="900">
              <a:latin typeface="Space Mono"/>
              <a:ea typeface="Space Mono"/>
              <a:cs typeface="Space Mono"/>
            </a:endParaRPr>
          </a:p>
        </p:txBody>
      </p:sp>
      <p:sp>
        <p:nvSpPr>
          <p:cNvPr id="9" name="Text 7"/>
          <p:cNvSpPr txBox="1"/>
          <p:nvPr/>
        </p:nvSpPr>
        <p:spPr>
          <a:xfrm>
            <a:off x="630936" y="2249424"/>
            <a:ext cx="3630168" cy="530352"/>
          </a:xfrm>
          <a:prstGeom prst="rect">
            <a:avLst/>
          </a:prstGeom>
          <a:noFill/>
          <a:ln/>
        </p:spPr>
        <p:txBody>
          <a:bodyPr wrap="square" lIns="0" tIns="0" rIns="0" bIns="0" rtlCol="0" anchor="t"/>
          <a:lstStyle/>
          <a:p>
            <a:pPr marL="0" indent="0" algn="just">
              <a:buNone/>
            </a:pPr>
            <a:r>
              <a:rPr lang="en-US" sz="870">
                <a:solidFill>
                  <a:srgbClr val="111111"/>
                </a:solidFill>
                <a:latin typeface="Plus Jakarta Sans" pitchFamily="34" charset="0"/>
                <a:ea typeface="Plus Jakarta Sans" pitchFamily="34" charset="-122"/>
                <a:cs typeface="Plus Jakarta Sans" pitchFamily="34" charset="-120"/>
              </a:rPr>
              <a:t>Amici in comune, storie in evidenza, «l'ho visto a scuola». Un servizio che insegni i segnali? Sì, ma interattivo «come oggi», non la solita lezione.</a:t>
            </a:r>
            <a:endParaRPr lang="en-US" sz="870">
              <a:latin typeface="Plus Jakarta Sans"/>
              <a:ea typeface="Plus Jakarta Sans"/>
              <a:cs typeface="Plus Jakarta Sans"/>
            </a:endParaRPr>
          </a:p>
        </p:txBody>
      </p:sp>
      <p:sp>
        <p:nvSpPr>
          <p:cNvPr id="10" name="Shape 8"/>
          <p:cNvSpPr/>
          <p:nvPr/>
        </p:nvSpPr>
        <p:spPr>
          <a:xfrm>
            <a:off x="4690872" y="1371600"/>
            <a:ext cx="3886200" cy="1536192"/>
          </a:xfrm>
          <a:prstGeom prst="rect">
            <a:avLst/>
          </a:prstGeom>
          <a:solidFill>
            <a:srgbClr val="DEDAFF"/>
          </a:solidFill>
          <a:ln w="15875">
            <a:solidFill>
              <a:srgbClr val="111111"/>
            </a:solidFill>
            <a:prstDash val="solid"/>
          </a:ln>
        </p:spPr>
        <p:txBody>
          <a:bodyPr/>
          <a:lstStyle/>
          <a:p>
            <a:endParaRPr lang="it-IT"/>
          </a:p>
        </p:txBody>
      </p:sp>
      <p:sp>
        <p:nvSpPr>
          <p:cNvPr id="11" name="Shape 9"/>
          <p:cNvSpPr/>
          <p:nvPr/>
        </p:nvSpPr>
        <p:spPr>
          <a:xfrm>
            <a:off x="4617720" y="1298448"/>
            <a:ext cx="3886200" cy="1536192"/>
          </a:xfrm>
          <a:prstGeom prst="rect">
            <a:avLst/>
          </a:prstGeom>
          <a:solidFill>
            <a:srgbClr val="FFFFFF"/>
          </a:solidFill>
          <a:ln w="15875">
            <a:solidFill>
              <a:srgbClr val="111111"/>
            </a:solidFill>
            <a:prstDash val="solid"/>
          </a:ln>
        </p:spPr>
        <p:txBody>
          <a:bodyPr/>
          <a:lstStyle/>
          <a:p>
            <a:endParaRPr lang="it-IT"/>
          </a:p>
        </p:txBody>
      </p:sp>
      <p:sp>
        <p:nvSpPr>
          <p:cNvPr id="12" name="Shape 10"/>
          <p:cNvSpPr/>
          <p:nvPr/>
        </p:nvSpPr>
        <p:spPr>
          <a:xfrm>
            <a:off x="4745736" y="1435607"/>
            <a:ext cx="45720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13" name="Text 11"/>
          <p:cNvSpPr txBox="1"/>
          <p:nvPr/>
        </p:nvSpPr>
        <p:spPr>
          <a:xfrm>
            <a:off x="4745736" y="1435607"/>
            <a:ext cx="45720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TR2</a:t>
            </a:r>
            <a:endParaRPr lang="en-US" sz="750">
              <a:latin typeface="Space Mono"/>
              <a:ea typeface="Space Mono"/>
              <a:cs typeface="Space Mono"/>
            </a:endParaRPr>
          </a:p>
        </p:txBody>
      </p:sp>
      <p:sp>
        <p:nvSpPr>
          <p:cNvPr id="14" name="Text 12"/>
          <p:cNvSpPr txBox="1"/>
          <p:nvPr/>
        </p:nvSpPr>
        <p:spPr>
          <a:xfrm>
            <a:off x="5303520" y="1389888"/>
            <a:ext cx="3072384" cy="329184"/>
          </a:xfrm>
          <a:prstGeom prst="rect">
            <a:avLst/>
          </a:prstGeom>
          <a:noFill/>
          <a:ln/>
        </p:spPr>
        <p:txBody>
          <a:bodyPr wrap="square" lIns="0" tIns="0" rIns="0" bIns="0" rtlCol="0" anchor="ctr"/>
          <a:lstStyle/>
          <a:p>
            <a:pPr marL="0" indent="0">
              <a:buNone/>
            </a:pPr>
            <a:r>
              <a:rPr lang="en-US" sz="820" b="1">
                <a:solidFill>
                  <a:srgbClr val="1700E8"/>
                </a:solidFill>
                <a:latin typeface="Space Mono" pitchFamily="34" charset="0"/>
                <a:ea typeface="Space Mono" pitchFamily="34" charset="-122"/>
                <a:cs typeface="Space Mono" pitchFamily="34" charset="-120"/>
              </a:rPr>
              <a:t>Vi sentite capaci di riconoscere una foto fatta con l'IA? Cosa vi rende sicuri?</a:t>
            </a:r>
            <a:endParaRPr lang="en-US" sz="900">
              <a:latin typeface="Space Mono"/>
              <a:ea typeface="Space Mono"/>
              <a:cs typeface="Space Mono"/>
            </a:endParaRPr>
          </a:p>
        </p:txBody>
      </p:sp>
      <p:sp>
        <p:nvSpPr>
          <p:cNvPr id="15" name="Text 13"/>
          <p:cNvSpPr txBox="1"/>
          <p:nvPr/>
        </p:nvSpPr>
        <p:spPr>
          <a:xfrm>
            <a:off x="4745736" y="2249424"/>
            <a:ext cx="3630168" cy="530352"/>
          </a:xfrm>
          <a:prstGeom prst="rect">
            <a:avLst/>
          </a:prstGeom>
          <a:noFill/>
          <a:ln/>
        </p:spPr>
        <p:txBody>
          <a:bodyPr wrap="square" lIns="0" tIns="0" rIns="0" bIns="0" rtlCol="0" anchor="t"/>
          <a:lstStyle/>
          <a:p>
            <a:pPr marL="0" indent="0" algn="just">
              <a:buNone/>
            </a:pPr>
            <a:r>
              <a:rPr lang="en-US" sz="870">
                <a:solidFill>
                  <a:srgbClr val="111111"/>
                </a:solidFill>
                <a:latin typeface="Plus Jakarta Sans" pitchFamily="34" charset="0"/>
                <a:ea typeface="Plus Jakarta Sans" pitchFamily="34" charset="-122"/>
                <a:cs typeface="Plus Jakarta Sans" pitchFamily="34" charset="-120"/>
              </a:rPr>
              <a:t>«Abbastanza, più di certi adulti». Il livello 4 li ha smentiti. Piace il gioco a livelli e le sfide con gli amici.</a:t>
            </a:r>
            <a:endParaRPr lang="en-US" sz="870">
              <a:latin typeface="Plus Jakarta Sans"/>
              <a:ea typeface="Plus Jakarta Sans"/>
              <a:cs typeface="Plus Jakarta Sans"/>
            </a:endParaRPr>
          </a:p>
        </p:txBody>
      </p:sp>
      <p:sp>
        <p:nvSpPr>
          <p:cNvPr id="16" name="Shape 14"/>
          <p:cNvSpPr/>
          <p:nvPr/>
        </p:nvSpPr>
        <p:spPr>
          <a:xfrm>
            <a:off x="576072" y="3090672"/>
            <a:ext cx="3886200" cy="1536192"/>
          </a:xfrm>
          <a:prstGeom prst="rect">
            <a:avLst/>
          </a:prstGeom>
          <a:solidFill>
            <a:srgbClr val="DEDAFF"/>
          </a:solidFill>
          <a:ln w="15875">
            <a:solidFill>
              <a:srgbClr val="111111"/>
            </a:solidFill>
            <a:prstDash val="solid"/>
          </a:ln>
        </p:spPr>
        <p:txBody>
          <a:bodyPr/>
          <a:lstStyle/>
          <a:p>
            <a:endParaRPr lang="it-IT"/>
          </a:p>
        </p:txBody>
      </p:sp>
      <p:sp>
        <p:nvSpPr>
          <p:cNvPr id="17" name="Shape 15"/>
          <p:cNvSpPr/>
          <p:nvPr/>
        </p:nvSpPr>
        <p:spPr>
          <a:xfrm>
            <a:off x="502920" y="3017520"/>
            <a:ext cx="3886200" cy="1536192"/>
          </a:xfrm>
          <a:prstGeom prst="rect">
            <a:avLst/>
          </a:prstGeom>
          <a:solidFill>
            <a:srgbClr val="FFFFFF"/>
          </a:solidFill>
          <a:ln w="15875">
            <a:solidFill>
              <a:srgbClr val="111111"/>
            </a:solidFill>
            <a:prstDash val="solid"/>
          </a:ln>
        </p:spPr>
        <p:txBody>
          <a:bodyPr/>
          <a:lstStyle/>
          <a:p>
            <a:endParaRPr lang="it-IT"/>
          </a:p>
        </p:txBody>
      </p:sp>
      <p:sp>
        <p:nvSpPr>
          <p:cNvPr id="18" name="Shape 16"/>
          <p:cNvSpPr/>
          <p:nvPr/>
        </p:nvSpPr>
        <p:spPr>
          <a:xfrm>
            <a:off x="630936" y="3154679"/>
            <a:ext cx="457200" cy="201168"/>
          </a:xfrm>
          <a:prstGeom prst="roundRect">
            <a:avLst>
              <a:gd name="adj" fmla="val 50000"/>
            </a:avLst>
          </a:prstGeom>
          <a:solidFill>
            <a:srgbClr val="1700E8"/>
          </a:solidFill>
          <a:ln w="9525">
            <a:solidFill>
              <a:srgbClr val="1700E8"/>
            </a:solidFill>
            <a:prstDash val="solid"/>
          </a:ln>
        </p:spPr>
        <p:txBody>
          <a:bodyPr/>
          <a:lstStyle/>
          <a:p>
            <a:endParaRPr lang="it-IT"/>
          </a:p>
        </p:txBody>
      </p:sp>
      <p:sp>
        <p:nvSpPr>
          <p:cNvPr id="19" name="Text 17"/>
          <p:cNvSpPr txBox="1"/>
          <p:nvPr/>
        </p:nvSpPr>
        <p:spPr>
          <a:xfrm>
            <a:off x="630936" y="3154679"/>
            <a:ext cx="45720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TR3</a:t>
            </a:r>
            <a:endParaRPr lang="en-US" sz="750">
              <a:latin typeface="Space Mono"/>
              <a:ea typeface="Space Mono"/>
              <a:cs typeface="Space Mono"/>
            </a:endParaRPr>
          </a:p>
        </p:txBody>
      </p:sp>
      <p:sp>
        <p:nvSpPr>
          <p:cNvPr id="20" name="Text 18"/>
          <p:cNvSpPr txBox="1"/>
          <p:nvPr/>
        </p:nvSpPr>
        <p:spPr>
          <a:xfrm>
            <a:off x="1188720" y="3108960"/>
            <a:ext cx="3072384" cy="329184"/>
          </a:xfrm>
          <a:prstGeom prst="rect">
            <a:avLst/>
          </a:prstGeom>
          <a:noFill/>
          <a:ln/>
        </p:spPr>
        <p:txBody>
          <a:bodyPr wrap="square" lIns="0" tIns="0" rIns="0" bIns="0" rtlCol="0" anchor="ctr"/>
          <a:lstStyle/>
          <a:p>
            <a:pPr marL="0" indent="0">
              <a:buNone/>
            </a:pPr>
            <a:r>
              <a:rPr lang="en-US" sz="820" b="1">
                <a:solidFill>
                  <a:srgbClr val="1700E8"/>
                </a:solidFill>
                <a:latin typeface="Space Mono" pitchFamily="34" charset="0"/>
                <a:ea typeface="Space Mono" pitchFamily="34" charset="-122"/>
                <a:cs typeface="Space Mono" pitchFamily="34" charset="-120"/>
              </a:rPr>
              <a:t>Siete d'accordo nell'avere un forum come spazio condiviso?</a:t>
            </a:r>
            <a:endParaRPr lang="en-US" sz="900">
              <a:latin typeface="Space Mono"/>
              <a:ea typeface="Space Mono"/>
              <a:cs typeface="Space Mono"/>
            </a:endParaRPr>
          </a:p>
        </p:txBody>
      </p:sp>
      <p:sp>
        <p:nvSpPr>
          <p:cNvPr id="21" name="Text 19"/>
          <p:cNvSpPr txBox="1"/>
          <p:nvPr/>
        </p:nvSpPr>
        <p:spPr>
          <a:xfrm>
            <a:off x="630936" y="3968496"/>
            <a:ext cx="3630168" cy="530352"/>
          </a:xfrm>
          <a:prstGeom prst="rect">
            <a:avLst/>
          </a:prstGeom>
          <a:noFill/>
          <a:ln/>
        </p:spPr>
        <p:txBody>
          <a:bodyPr wrap="square" lIns="0" tIns="0" rIns="0" bIns="0" rtlCol="0" anchor="t"/>
          <a:lstStyle/>
          <a:p>
            <a:pPr marL="0" indent="0" algn="just">
              <a:buNone/>
            </a:pPr>
            <a:r>
              <a:rPr lang="en-US" sz="870">
                <a:solidFill>
                  <a:srgbClr val="111111"/>
                </a:solidFill>
                <a:latin typeface="Plus Jakarta Sans" pitchFamily="34" charset="0"/>
                <a:ea typeface="Plus Jakarta Sans" pitchFamily="34" charset="-122"/>
                <a:cs typeface="Plus Jakarta Sans" pitchFamily="34" charset="-120"/>
              </a:rPr>
              <a:t>Leggere sì, per sentirsi meno soli. Raccontarsi poco: «non condivideremmo esperienze personali». Commenti solo se moderati.</a:t>
            </a:r>
            <a:endParaRPr lang="en-US" sz="870">
              <a:latin typeface="Plus Jakarta Sans"/>
              <a:ea typeface="Plus Jakarta Sans"/>
              <a:cs typeface="Plus Jakarta Sans"/>
            </a:endParaRPr>
          </a:p>
        </p:txBody>
      </p:sp>
      <p:sp>
        <p:nvSpPr>
          <p:cNvPr id="22" name="Shape 20"/>
          <p:cNvSpPr/>
          <p:nvPr/>
        </p:nvSpPr>
        <p:spPr>
          <a:xfrm>
            <a:off x="4690872" y="3090672"/>
            <a:ext cx="3886200" cy="1536192"/>
          </a:xfrm>
          <a:prstGeom prst="rect">
            <a:avLst/>
          </a:prstGeom>
          <a:solidFill>
            <a:srgbClr val="FBD5D9"/>
          </a:solidFill>
          <a:ln w="15875">
            <a:solidFill>
              <a:srgbClr val="111111"/>
            </a:solidFill>
            <a:prstDash val="solid"/>
          </a:ln>
        </p:spPr>
        <p:txBody>
          <a:bodyPr/>
          <a:lstStyle/>
          <a:p>
            <a:endParaRPr lang="it-IT"/>
          </a:p>
        </p:txBody>
      </p:sp>
      <p:sp>
        <p:nvSpPr>
          <p:cNvPr id="23" name="Shape 21"/>
          <p:cNvSpPr/>
          <p:nvPr/>
        </p:nvSpPr>
        <p:spPr>
          <a:xfrm>
            <a:off x="4617720" y="3017520"/>
            <a:ext cx="3886200" cy="1536192"/>
          </a:xfrm>
          <a:prstGeom prst="rect">
            <a:avLst/>
          </a:prstGeom>
          <a:solidFill>
            <a:srgbClr val="FFFFFF"/>
          </a:solidFill>
          <a:ln w="15875">
            <a:solidFill>
              <a:srgbClr val="111111"/>
            </a:solidFill>
            <a:prstDash val="solid"/>
          </a:ln>
        </p:spPr>
        <p:txBody>
          <a:bodyPr/>
          <a:lstStyle/>
          <a:p>
            <a:endParaRPr lang="it-IT"/>
          </a:p>
        </p:txBody>
      </p:sp>
      <p:sp>
        <p:nvSpPr>
          <p:cNvPr id="24" name="Shape 22"/>
          <p:cNvSpPr/>
          <p:nvPr/>
        </p:nvSpPr>
        <p:spPr>
          <a:xfrm>
            <a:off x="4745736" y="3154679"/>
            <a:ext cx="457200" cy="201168"/>
          </a:xfrm>
          <a:prstGeom prst="roundRect">
            <a:avLst>
              <a:gd name="adj" fmla="val 50000"/>
            </a:avLst>
          </a:prstGeom>
          <a:solidFill>
            <a:srgbClr val="E71224"/>
          </a:solidFill>
          <a:ln w="9525">
            <a:solidFill>
              <a:srgbClr val="E71224"/>
            </a:solidFill>
            <a:prstDash val="solid"/>
          </a:ln>
        </p:spPr>
        <p:txBody>
          <a:bodyPr/>
          <a:lstStyle/>
          <a:p>
            <a:endParaRPr lang="it-IT"/>
          </a:p>
        </p:txBody>
      </p:sp>
      <p:sp>
        <p:nvSpPr>
          <p:cNvPr id="25" name="Text 23"/>
          <p:cNvSpPr txBox="1"/>
          <p:nvPr/>
        </p:nvSpPr>
        <p:spPr>
          <a:xfrm>
            <a:off x="4745736" y="3154679"/>
            <a:ext cx="457200" cy="201168"/>
          </a:xfrm>
          <a:prstGeom prst="rect">
            <a:avLst/>
          </a:prstGeom>
          <a:noFill/>
          <a:ln/>
        </p:spPr>
        <p:txBody>
          <a:bodyPr wrap="square" lIns="0" tIns="0" rIns="0" bIns="0" rtlCol="0" anchor="ctr"/>
          <a:lstStyle/>
          <a:p>
            <a:pPr marL="0" indent="0" algn="ctr">
              <a:buNone/>
            </a:pPr>
            <a:r>
              <a:rPr lang="en-US" sz="750" b="1">
                <a:solidFill>
                  <a:srgbClr val="FFFFFF"/>
                </a:solidFill>
                <a:latin typeface="Space Mono" pitchFamily="34" charset="0"/>
                <a:ea typeface="Space Mono" pitchFamily="34" charset="-122"/>
                <a:cs typeface="Space Mono" pitchFamily="34" charset="-120"/>
              </a:rPr>
              <a:t>TR4</a:t>
            </a:r>
            <a:endParaRPr lang="en-US" sz="750">
              <a:latin typeface="Space Mono"/>
              <a:ea typeface="Space Mono"/>
              <a:cs typeface="Space Mono"/>
            </a:endParaRPr>
          </a:p>
        </p:txBody>
      </p:sp>
      <p:sp>
        <p:nvSpPr>
          <p:cNvPr id="26" name="Text 24"/>
          <p:cNvSpPr txBox="1"/>
          <p:nvPr/>
        </p:nvSpPr>
        <p:spPr>
          <a:xfrm>
            <a:off x="5303520" y="3108960"/>
            <a:ext cx="3072384" cy="329184"/>
          </a:xfrm>
          <a:prstGeom prst="rect">
            <a:avLst/>
          </a:prstGeom>
          <a:noFill/>
          <a:ln/>
        </p:spPr>
        <p:txBody>
          <a:bodyPr wrap="square" lIns="0" tIns="0" rIns="0" bIns="0" rtlCol="0" anchor="ctr"/>
          <a:lstStyle/>
          <a:p>
            <a:pPr marL="0" indent="0">
              <a:buNone/>
            </a:pPr>
            <a:r>
              <a:rPr lang="en-US" sz="820" b="1">
                <a:solidFill>
                  <a:srgbClr val="E71224"/>
                </a:solidFill>
                <a:latin typeface="Space Mono" pitchFamily="34" charset="0"/>
                <a:ea typeface="Space Mono" pitchFamily="34" charset="-122"/>
                <a:cs typeface="Space Mono" pitchFamily="34" charset="-120"/>
              </a:rPr>
              <a:t>Quali sono i principali motivi per cui esitate a parlarne con gli adulti?</a:t>
            </a:r>
            <a:endParaRPr lang="en-US" sz="900">
              <a:latin typeface="Space Mono"/>
              <a:ea typeface="Space Mono"/>
              <a:cs typeface="Space Mono"/>
            </a:endParaRPr>
          </a:p>
        </p:txBody>
      </p:sp>
      <p:sp>
        <p:nvSpPr>
          <p:cNvPr id="27" name="Text 25"/>
          <p:cNvSpPr txBox="1"/>
          <p:nvPr/>
        </p:nvSpPr>
        <p:spPr>
          <a:xfrm>
            <a:off x="4745736" y="3968496"/>
            <a:ext cx="3630168" cy="530352"/>
          </a:xfrm>
          <a:prstGeom prst="rect">
            <a:avLst/>
          </a:prstGeom>
          <a:noFill/>
          <a:ln/>
        </p:spPr>
        <p:txBody>
          <a:bodyPr wrap="square" lIns="0" tIns="0" rIns="0" bIns="0" rtlCol="0" anchor="t"/>
          <a:lstStyle/>
          <a:p>
            <a:pPr marL="0" indent="0" algn="just">
              <a:buNone/>
            </a:pPr>
            <a:r>
              <a:rPr lang="en-US" sz="870">
                <a:solidFill>
                  <a:srgbClr val="111111"/>
                </a:solidFill>
                <a:latin typeface="Plus Jakarta Sans" pitchFamily="34" charset="0"/>
                <a:ea typeface="Plus Jakarta Sans" pitchFamily="34" charset="-122"/>
                <a:cs typeface="Plus Jakarta Sans" pitchFamily="34" charset="-120"/>
              </a:rPr>
              <a:t>«Essere giudicata e non avere più la libertà di prima». Il tutor divide: utilissimo per Divo, meglio qualcuno che ti conosce per Team Pasqua.</a:t>
            </a:r>
            <a:endParaRPr lang="en-US" sz="870">
              <a:latin typeface="Plus Jakarta Sans"/>
              <a:ea typeface="Plus Jakarta Sans"/>
              <a:cs typeface="Plus Jakarta Sans"/>
            </a:endParaRPr>
          </a:p>
        </p:txBody>
      </p:sp>
      <p:sp>
        <p:nvSpPr>
          <p:cNvPr id="28" name="Text 26"/>
          <p:cNvSpPr txBox="1"/>
          <p:nvPr/>
        </p:nvSpPr>
        <p:spPr>
          <a:xfrm>
            <a:off x="4617720" y="685800"/>
            <a:ext cx="4023360" cy="457200"/>
          </a:xfrm>
          <a:prstGeom prst="rect">
            <a:avLst/>
          </a:prstGeom>
          <a:noFill/>
          <a:ln/>
        </p:spPr>
        <p:txBody>
          <a:bodyPr wrap="square" lIns="0" tIns="0" rIns="0" bIns="0" rtlCol="0" anchor="t"/>
          <a:lstStyle/>
          <a:p>
            <a:pPr marL="0" indent="0" algn="just">
              <a:buNone/>
            </a:pPr>
            <a:r>
              <a:rPr lang="en-US" sz="850">
                <a:solidFill>
                  <a:srgbClr val="6B6B78"/>
                </a:solidFill>
                <a:latin typeface="Plus Jakarta Sans" pitchFamily="34" charset="0"/>
                <a:ea typeface="Plus Jakarta Sans" pitchFamily="34" charset="-122"/>
                <a:cs typeface="Plus Jakarta Sans" pitchFamily="34" charset="-120"/>
              </a:rPr>
              <a:t>Le domande della tavola rotonda, con la sotto-domanda di co-design che seguiva ciascuna e cosa hanno risposto i ragazzi.</a:t>
            </a:r>
            <a:endParaRPr lang="en-US" sz="850">
              <a:latin typeface="Plus Jakarta Sans"/>
              <a:ea typeface="Plus Jakarta Sans"/>
              <a:cs typeface="Plus Jakarta Sans"/>
            </a:endParaRPr>
          </a:p>
        </p:txBody>
      </p:sp>
      <p:sp>
        <p:nvSpPr>
          <p:cNvPr id="29"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10</a:t>
            </a:fld>
            <a:endParaRPr lang="en-US"/>
          </a:p>
        </p:txBody>
      </p:sp>
      <p:sp>
        <p:nvSpPr>
          <p:cNvPr id="30" name="Sotto-domanda"/>
          <p:cNvSpPr txBox="1"/>
          <p:nvPr/>
        </p:nvSpPr>
        <p:spPr>
          <a:xfrm>
            <a:off x="630936" y="1792224"/>
            <a:ext cx="3630168" cy="384048"/>
          </a:xfrm>
          <a:prstGeom prst="rect">
            <a:avLst/>
          </a:prstGeom>
          <a:noFill/>
        </p:spPr>
        <p:txBody>
          <a:bodyPr wrap="square" lIns="0" tIns="0" rIns="0" bIns="0">
            <a:spAutoFit/>
          </a:bodyPr>
          <a:lstStyle/>
          <a:p>
            <a:pPr algn="just">
              <a:lnSpc>
                <a:spcPct val="100000"/>
              </a:lnSpc>
            </a:pPr>
            <a:r>
              <a:rPr lang="it-IT" sz="760" b="1" i="0">
                <a:solidFill>
                  <a:srgbClr val="1700E8"/>
                </a:solidFill>
                <a:latin typeface="Space Mono"/>
                <a:ea typeface="Space Mono"/>
                <a:cs typeface="Space Mono"/>
              </a:rPr>
              <a:t>co-design ⇢ </a:t>
            </a:r>
            <a:r>
              <a:rPr lang="it-IT" sz="760" b="0" i="1">
                <a:solidFill>
                  <a:srgbClr val="4A4A57"/>
                </a:solidFill>
                <a:latin typeface="Plus Jakarta Sans"/>
                <a:ea typeface="Plus Jakarta Sans"/>
                <a:cs typeface="Plus Jakarta Sans"/>
              </a:rPr>
              <a:t>Vi piacerebbe che un servizio vi insegnasse a riconoscere i segnali più affidabili su chi vi scrive? In che forma: consigli brevi, esempi, video, giochi interattivi, botta e risposta?</a:t>
            </a:r>
          </a:p>
        </p:txBody>
      </p:sp>
      <p:sp>
        <p:nvSpPr>
          <p:cNvPr id="31" name="Sotto-domanda"/>
          <p:cNvSpPr txBox="1"/>
          <p:nvPr/>
        </p:nvSpPr>
        <p:spPr>
          <a:xfrm>
            <a:off x="4745736" y="1792224"/>
            <a:ext cx="3630168" cy="384048"/>
          </a:xfrm>
          <a:prstGeom prst="rect">
            <a:avLst/>
          </a:prstGeom>
          <a:noFill/>
        </p:spPr>
        <p:txBody>
          <a:bodyPr wrap="square" lIns="0" tIns="0" rIns="0" bIns="0">
            <a:spAutoFit/>
          </a:bodyPr>
          <a:lstStyle/>
          <a:p>
            <a:pPr algn="just">
              <a:lnSpc>
                <a:spcPct val="100000"/>
              </a:lnSpc>
            </a:pPr>
            <a:r>
              <a:rPr lang="it-IT" sz="760" b="1" i="0">
                <a:solidFill>
                  <a:srgbClr val="1700E8"/>
                </a:solidFill>
                <a:latin typeface="Space Mono"/>
                <a:ea typeface="Space Mono"/>
                <a:cs typeface="Space Mono"/>
              </a:rPr>
              <a:t>co-design ⇢ </a:t>
            </a:r>
            <a:r>
              <a:rPr lang="it-IT" sz="760" b="0" i="1">
                <a:solidFill>
                  <a:srgbClr val="4A4A57"/>
                </a:solidFill>
                <a:latin typeface="Plus Jakarta Sans"/>
                <a:ea typeface="Plus Jakarta Sans"/>
                <a:cs typeface="Plus Jakarta Sans"/>
              </a:rPr>
              <a:t>Preferite ricevere un feedback dalla nostra piattaforma o vi stimolerebbe di più un gioco tipo vero o falso, con punti, livelli e sfide anche con gli amici online?</a:t>
            </a:r>
          </a:p>
        </p:txBody>
      </p:sp>
      <p:sp>
        <p:nvSpPr>
          <p:cNvPr id="32" name="Sotto-domanda"/>
          <p:cNvSpPr txBox="1"/>
          <p:nvPr/>
        </p:nvSpPr>
        <p:spPr>
          <a:xfrm>
            <a:off x="630936" y="3511296"/>
            <a:ext cx="3630168" cy="384048"/>
          </a:xfrm>
          <a:prstGeom prst="rect">
            <a:avLst/>
          </a:prstGeom>
          <a:noFill/>
        </p:spPr>
        <p:txBody>
          <a:bodyPr wrap="square" lIns="0" tIns="0" rIns="0" bIns="0">
            <a:spAutoFit/>
          </a:bodyPr>
          <a:lstStyle/>
          <a:p>
            <a:pPr algn="just">
              <a:lnSpc>
                <a:spcPct val="100000"/>
              </a:lnSpc>
            </a:pPr>
            <a:r>
              <a:rPr lang="it-IT" sz="760" b="1" i="0">
                <a:solidFill>
                  <a:srgbClr val="1700E8"/>
                </a:solidFill>
                <a:latin typeface="Space Mono"/>
                <a:ea typeface="Space Mono"/>
                <a:cs typeface="Space Mono"/>
              </a:rPr>
              <a:t>co-design ⇢ </a:t>
            </a:r>
            <a:r>
              <a:rPr lang="it-IT" sz="760" b="0" i="1">
                <a:solidFill>
                  <a:srgbClr val="4A4A57"/>
                </a:solidFill>
                <a:latin typeface="Plus Jakarta Sans"/>
                <a:ea typeface="Plus Jakarta Sans"/>
                <a:cs typeface="Plus Jakarta Sans"/>
              </a:rPr>
              <a:t>Secondo voi deve esserci solo la possibilità di pubblicare e leggere le esperienze, o anche di reagire e commentare sotto ognuna (con commenti revisionati per evitare quelli non appropriati)?</a:t>
            </a:r>
          </a:p>
        </p:txBody>
      </p:sp>
      <p:sp>
        <p:nvSpPr>
          <p:cNvPr id="33" name="Sotto-domanda"/>
          <p:cNvSpPr txBox="1"/>
          <p:nvPr/>
        </p:nvSpPr>
        <p:spPr>
          <a:xfrm>
            <a:off x="4745736" y="3511296"/>
            <a:ext cx="3630168" cy="384048"/>
          </a:xfrm>
          <a:prstGeom prst="rect">
            <a:avLst/>
          </a:prstGeom>
          <a:noFill/>
        </p:spPr>
        <p:txBody>
          <a:bodyPr wrap="square" lIns="0" tIns="0" rIns="0" bIns="0">
            <a:spAutoFit/>
          </a:bodyPr>
          <a:lstStyle/>
          <a:p>
            <a:pPr algn="just">
              <a:lnSpc>
                <a:spcPct val="100000"/>
              </a:lnSpc>
            </a:pPr>
            <a:r>
              <a:rPr lang="it-IT" sz="760" b="1" i="0">
                <a:solidFill>
                  <a:srgbClr val="E71224"/>
                </a:solidFill>
                <a:latin typeface="Space Mono"/>
                <a:ea typeface="Space Mono"/>
                <a:cs typeface="Space Mono"/>
              </a:rPr>
              <a:t>co-design ⇢ </a:t>
            </a:r>
            <a:r>
              <a:rPr lang="it-IT" sz="760" b="0" i="1">
                <a:solidFill>
                  <a:srgbClr val="4A4A57"/>
                </a:solidFill>
                <a:latin typeface="Plus Jakarta Sans"/>
                <a:ea typeface="Plus Jakarta Sans"/>
                <a:cs typeface="Plus Jakarta Sans"/>
              </a:rPr>
              <a:t>Secondo voi è utile inserire nell'app la possibilità di fare da tutor su questo problema? Può aumentare la probabilità di parlarne con altri, o la paura resta?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4114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osservazioni emerse</a:t>
            </a:r>
            <a:endParaRPr lang="en-US" sz="800">
              <a:latin typeface="Space Mono"/>
              <a:ea typeface="Space Mono"/>
              <a:cs typeface="Space Mono"/>
            </a:endParaRPr>
          </a:p>
        </p:txBody>
      </p:sp>
      <p:sp>
        <p:nvSpPr>
          <p:cNvPr id="3" name="Text 1"/>
          <p:cNvSpPr txBox="1"/>
          <p:nvPr/>
        </p:nvSpPr>
        <p:spPr>
          <a:xfrm>
            <a:off x="502920" y="502920"/>
            <a:ext cx="4572000" cy="868680"/>
          </a:xfrm>
          <a:prstGeom prst="rect">
            <a:avLst/>
          </a:prstGeom>
          <a:noFill/>
          <a:ln/>
        </p:spPr>
        <p:txBody>
          <a:bodyPr wrap="square" lIns="0" tIns="0" rIns="0" bIns="0" rtlCol="0" anchor="t"/>
          <a:lstStyle/>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cosa abbiamo</a:t>
            </a:r>
            <a:endParaRPr lang="en-US" sz="2600">
              <a:latin typeface="Space Mono"/>
              <a:ea typeface="Space Mono"/>
              <a:cs typeface="Space Mono"/>
            </a:endParaRPr>
          </a:p>
          <a:p>
            <a:pPr marL="0" indent="0">
              <a:lnSpc>
                <a:spcPct val="90000"/>
              </a:lnSpc>
              <a:buNone/>
            </a:pPr>
            <a:r>
              <a:rPr lang="en-US" sz="2600" b="1">
                <a:solidFill>
                  <a:srgbClr val="1700E8"/>
                </a:solidFill>
                <a:latin typeface="Space Mono" pitchFamily="34" charset="0"/>
                <a:ea typeface="Space Mono" pitchFamily="34" charset="-122"/>
                <a:cs typeface="Space Mono" pitchFamily="34" charset="-120"/>
              </a:rPr>
              <a:t>visto in classe</a:t>
            </a:r>
            <a:endParaRPr lang="en-US" sz="2600">
              <a:latin typeface="Space Mono"/>
              <a:ea typeface="Space Mono"/>
              <a:cs typeface="Space Mono"/>
            </a:endParaRPr>
          </a:p>
        </p:txBody>
      </p:sp>
      <p:sp>
        <p:nvSpPr>
          <p:cNvPr id="8" name="Shape 5"/>
          <p:cNvSpPr/>
          <p:nvPr/>
        </p:nvSpPr>
        <p:spPr>
          <a:xfrm>
            <a:off x="621792" y="1627632"/>
            <a:ext cx="2103120" cy="2057400"/>
          </a:xfrm>
          <a:prstGeom prst="rect">
            <a:avLst/>
          </a:prstGeom>
          <a:solidFill>
            <a:srgbClr val="DEDAFF"/>
          </a:solidFill>
          <a:ln w="15875">
            <a:solidFill>
              <a:srgbClr val="111111"/>
            </a:solidFill>
            <a:prstDash val="solid"/>
          </a:ln>
        </p:spPr>
        <p:txBody>
          <a:bodyPr/>
          <a:lstStyle/>
          <a:p>
            <a:endParaRPr lang="it-IT"/>
          </a:p>
        </p:txBody>
      </p:sp>
      <p:sp>
        <p:nvSpPr>
          <p:cNvPr id="9" name="Shape 6"/>
          <p:cNvSpPr/>
          <p:nvPr/>
        </p:nvSpPr>
        <p:spPr>
          <a:xfrm>
            <a:off x="548640" y="1554480"/>
            <a:ext cx="2103120" cy="2057400"/>
          </a:xfrm>
          <a:prstGeom prst="rect">
            <a:avLst/>
          </a:prstGeom>
          <a:solidFill>
            <a:srgbClr val="FFFFFF"/>
          </a:solidFill>
          <a:ln w="15875">
            <a:solidFill>
              <a:srgbClr val="111111"/>
            </a:solidFill>
            <a:prstDash val="solid"/>
          </a:ln>
        </p:spPr>
        <p:txBody>
          <a:bodyPr/>
          <a:lstStyle/>
          <a:p>
            <a:endParaRPr lang="it-IT"/>
          </a:p>
        </p:txBody>
      </p:sp>
      <p:sp>
        <p:nvSpPr>
          <p:cNvPr id="10" name="Text 7"/>
          <p:cNvSpPr txBox="1"/>
          <p:nvPr/>
        </p:nvSpPr>
        <p:spPr>
          <a:xfrm>
            <a:off x="658368" y="1645920"/>
            <a:ext cx="1883663" cy="237744"/>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punti comuni</a:t>
            </a:r>
            <a:endParaRPr lang="en-US" sz="900">
              <a:latin typeface="Space Mono"/>
              <a:ea typeface="Space Mono"/>
              <a:cs typeface="Space Mono"/>
            </a:endParaRPr>
          </a:p>
        </p:txBody>
      </p:sp>
      <p:sp>
        <p:nvSpPr>
          <p:cNvPr id="11" name="Text 8"/>
          <p:cNvSpPr txBox="1"/>
          <p:nvPr/>
        </p:nvSpPr>
        <p:spPr>
          <a:xfrm>
            <a:off x="658368" y="1938528"/>
            <a:ext cx="1883663" cy="1627632"/>
          </a:xfrm>
          <a:prstGeom prst="rect">
            <a:avLst/>
          </a:prstGeom>
          <a:noFill/>
          <a:ln/>
        </p:spPr>
        <p:txBody>
          <a:bodyPr wrap="square" lIns="0" tIns="0" rIns="0" bIns="0" rtlCol="0" anchor="t"/>
          <a:lstStyle/>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Riconoscono le foto facili e le richieste esplicite.</a:t>
            </a:r>
          </a:p>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Nessuno manderebbe la foto chiesta nella chat 5.</a:t>
            </a:r>
          </a:p>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Tutte le squadre faticano a parlarne con gli adulti.</a:t>
            </a:r>
          </a:p>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Molti guardano solo i soggetti delle foto, non i dettagli dello sfondo.</a:t>
            </a:r>
          </a:p>
        </p:txBody>
      </p:sp>
      <p:sp>
        <p:nvSpPr>
          <p:cNvPr id="12" name="Shape 9"/>
          <p:cNvSpPr/>
          <p:nvPr/>
        </p:nvSpPr>
        <p:spPr>
          <a:xfrm>
            <a:off x="2999232" y="1627632"/>
            <a:ext cx="3291840" cy="2057400"/>
          </a:xfrm>
          <a:prstGeom prst="rect">
            <a:avLst/>
          </a:prstGeom>
          <a:solidFill>
            <a:srgbClr val="FBD5D9"/>
          </a:solidFill>
          <a:ln w="15875">
            <a:solidFill>
              <a:srgbClr val="111111"/>
            </a:solidFill>
            <a:prstDash val="solid"/>
          </a:ln>
        </p:spPr>
        <p:txBody>
          <a:bodyPr/>
          <a:lstStyle/>
          <a:p>
            <a:endParaRPr lang="it-IT"/>
          </a:p>
        </p:txBody>
      </p:sp>
      <p:sp>
        <p:nvSpPr>
          <p:cNvPr id="13" name="Shape 10"/>
          <p:cNvSpPr/>
          <p:nvPr/>
        </p:nvSpPr>
        <p:spPr>
          <a:xfrm>
            <a:off x="2926080" y="1554480"/>
            <a:ext cx="3291840" cy="2057400"/>
          </a:xfrm>
          <a:prstGeom prst="rect">
            <a:avLst/>
          </a:prstGeom>
          <a:solidFill>
            <a:srgbClr val="FFFFFF"/>
          </a:solidFill>
          <a:ln w="15875">
            <a:solidFill>
              <a:srgbClr val="111111"/>
            </a:solidFill>
            <a:prstDash val="solid"/>
          </a:ln>
        </p:spPr>
        <p:txBody>
          <a:bodyPr/>
          <a:lstStyle/>
          <a:p>
            <a:endParaRPr lang="it-IT"/>
          </a:p>
        </p:txBody>
      </p:sp>
      <p:sp>
        <p:nvSpPr>
          <p:cNvPr id="14" name="Text 11"/>
          <p:cNvSpPr txBox="1"/>
          <p:nvPr/>
        </p:nvSpPr>
        <p:spPr>
          <a:xfrm>
            <a:off x="3035808" y="1645920"/>
            <a:ext cx="3072384" cy="237744"/>
          </a:xfrm>
          <a:prstGeom prst="rect">
            <a:avLst/>
          </a:prstGeom>
          <a:noFill/>
          <a:ln/>
        </p:spPr>
        <p:txBody>
          <a:bodyPr wrap="square" lIns="0" tIns="0" rIns="0" bIns="0" rtlCol="0" anchor="t"/>
          <a:lstStyle/>
          <a:p>
            <a:pPr marL="0" indent="0">
              <a:buNone/>
            </a:pPr>
            <a:r>
              <a:rPr lang="en-US" sz="900" b="1">
                <a:solidFill>
                  <a:srgbClr val="E71224"/>
                </a:solidFill>
                <a:latin typeface="Space Mono" pitchFamily="34" charset="0"/>
                <a:ea typeface="Space Mono" pitchFamily="34" charset="-122"/>
                <a:cs typeface="Space Mono" pitchFamily="34" charset="-120"/>
              </a:rPr>
              <a:t>divergenze</a:t>
            </a:r>
            <a:endParaRPr lang="en-US" sz="900">
              <a:latin typeface="Space Mono"/>
              <a:ea typeface="Space Mono"/>
              <a:cs typeface="Space Mono"/>
            </a:endParaRPr>
          </a:p>
        </p:txBody>
      </p:sp>
      <p:sp>
        <p:nvSpPr>
          <p:cNvPr id="15" name="Text 12"/>
          <p:cNvSpPr txBox="1"/>
          <p:nvPr/>
        </p:nvSpPr>
        <p:spPr>
          <a:xfrm>
            <a:off x="3035808" y="1938528"/>
            <a:ext cx="3072384" cy="1627632"/>
          </a:xfrm>
          <a:prstGeom prst="rect">
            <a:avLst/>
          </a:prstGeom>
          <a:noFill/>
          <a:ln/>
        </p:spPr>
        <p:txBody>
          <a:bodyPr wrap="square" lIns="0" tIns="0" rIns="0" bIns="0" rtlCol="0" anchor="t"/>
          <a:lstStyle/>
          <a:p>
            <a:pPr marL="120650" indent="-120650" algn="just">
              <a:lnSpc>
                <a:spcPct val="100000"/>
              </a:lnSpc>
              <a:spcAft>
                <a:spcPts val="400"/>
              </a:spcAft>
              <a:buClr>
                <a:srgbClr val="111111"/>
              </a:buClr>
              <a:buSzPct val="100000"/>
              <a:buChar char="•"/>
            </a:pPr>
            <a:r>
              <a:rPr lang="it-IT" sz="780" b="1" i="0" u="none">
                <a:solidFill>
                  <a:srgbClr val="111111"/>
                </a:solidFill>
                <a:latin typeface="Plus Jakarta Sans"/>
                <a:ea typeface="Plus Jakarta Sans"/>
                <a:cs typeface="Plus Jakarta Sans"/>
              </a:rPr>
              <a:t>Chat 1, «normale» o sospetta? </a:t>
            </a:r>
            <a:r>
              <a:rPr lang="it-IT" sz="780" b="0" i="0" u="none">
                <a:solidFill>
                  <a:srgbClr val="111111"/>
                </a:solidFill>
                <a:latin typeface="Plus Jakarta Sans"/>
                <a:ea typeface="Plus Jakarta Sans"/>
                <a:cs typeface="Plus Jakarta Sans"/>
              </a:rPr>
              <a:t>Per Divo non lo è, Tontony coglie il vittimismo finale. L'escalation arriva solo negli ultimi messaggi ed è lì che i gruppi si dividono.</a:t>
            </a:r>
          </a:p>
          <a:p>
            <a:pPr marL="120650" indent="-120650" algn="just">
              <a:lnSpc>
                <a:spcPct val="100000"/>
              </a:lnSpc>
              <a:spcAft>
                <a:spcPts val="400"/>
              </a:spcAft>
              <a:buClr>
                <a:srgbClr val="111111"/>
              </a:buClr>
              <a:buSzPct val="100000"/>
              <a:buChar char="•"/>
            </a:pPr>
            <a:r>
              <a:rPr lang="it-IT" sz="780" b="1" i="0" u="none">
                <a:solidFill>
                  <a:srgbClr val="111111"/>
                </a:solidFill>
                <a:latin typeface="Plus Jakarta Sans"/>
                <a:ea typeface="Plus Jakarta Sans"/>
                <a:cs typeface="Plus Jakarta Sans"/>
              </a:rPr>
              <a:t>Chat 2 e 3, cosa conta come prova? </a:t>
            </a:r>
            <a:r>
              <a:rPr lang="it-IT" sz="780" b="0" i="0" u="none">
                <a:solidFill>
                  <a:srgbClr val="111111"/>
                </a:solidFill>
                <a:latin typeface="Plus Jakarta Sans"/>
                <a:ea typeface="Plus Jakarta Sans"/>
                <a:cs typeface="Plus Jakarta Sans"/>
              </a:rPr>
              <a:t>Sulla chat 2 le risposte vanno dal «sì» al «no». Nella chat 3 c'è chi nota la foto finta e chi, come Tontony, vede nell'incontro di persona una garanzia.</a:t>
            </a:r>
          </a:p>
          <a:p>
            <a:pPr marL="120650" indent="-120650" algn="just">
              <a:lnSpc>
                <a:spcPct val="100000"/>
              </a:lnSpc>
              <a:spcAft>
                <a:spcPts val="400"/>
              </a:spcAft>
              <a:buClr>
                <a:srgbClr val="111111"/>
              </a:buClr>
              <a:buSzPct val="100000"/>
              <a:buChar char="•"/>
            </a:pPr>
            <a:r>
              <a:rPr lang="it-IT" sz="780" b="1" i="0" u="none">
                <a:solidFill>
                  <a:srgbClr val="111111"/>
                </a:solidFill>
                <a:latin typeface="Plus Jakarta Sans"/>
                <a:ea typeface="Plus Jakarta Sans"/>
                <a:cs typeface="Plus Jakarta Sans"/>
              </a:rPr>
              <a:t>Chat 5, a chi lo diresti? </a:t>
            </a:r>
            <a:r>
              <a:rPr lang="it-IT" sz="780" b="0" i="0" u="none">
                <a:solidFill>
                  <a:srgbClr val="111111"/>
                </a:solidFill>
                <a:latin typeface="Plus Jakarta Sans"/>
                <a:ea typeface="Plus Jakarta Sans"/>
                <a:cs typeface="Plus Jakarta Sans"/>
              </a:rPr>
              <a:t>Alcuni saltano i genitori e vanno dritti alla polizia postale; altri passano prima da una sorella o un'amica, poi dai genitori.</a:t>
            </a:r>
          </a:p>
          <a:p>
            <a:pPr marL="120650" indent="-120650" algn="just">
              <a:lnSpc>
                <a:spcPct val="100000"/>
              </a:lnSpc>
              <a:spcAft>
                <a:spcPts val="400"/>
              </a:spcAft>
              <a:buClr>
                <a:srgbClr val="111111"/>
              </a:buClr>
              <a:buSzPct val="100000"/>
              <a:buChar char="•"/>
            </a:pPr>
            <a:r>
              <a:rPr lang="it-IT" sz="780" b="1" i="0" u="none">
                <a:solidFill>
                  <a:srgbClr val="111111"/>
                </a:solidFill>
                <a:latin typeface="Plus Jakarta Sans"/>
                <a:ea typeface="Plus Jakarta Sans"/>
                <a:cs typeface="Plus Jakarta Sans"/>
              </a:rPr>
              <a:t>Chat 5.1, scherzo o no? </a:t>
            </a:r>
            <a:r>
              <a:rPr lang="it-IT" sz="780" b="0" i="0" u="none">
                <a:solidFill>
                  <a:srgbClr val="111111"/>
                </a:solidFill>
                <a:latin typeface="Plus Jakarta Sans"/>
                <a:ea typeface="Plus Jakarta Sans"/>
                <a:cs typeface="Plus Jakarta Sans"/>
              </a:rPr>
              <a:t>Un gruppo la vede come uno scherzo, gli altri due no (slide 9).</a:t>
            </a:r>
          </a:p>
        </p:txBody>
      </p:sp>
      <p:sp>
        <p:nvSpPr>
          <p:cNvPr id="16" name="Shape 13"/>
          <p:cNvSpPr/>
          <p:nvPr/>
        </p:nvSpPr>
        <p:spPr>
          <a:xfrm>
            <a:off x="6565392" y="1627632"/>
            <a:ext cx="2148840" cy="2057400"/>
          </a:xfrm>
          <a:prstGeom prst="rect">
            <a:avLst/>
          </a:prstGeom>
          <a:solidFill>
            <a:srgbClr val="DEDAFF"/>
          </a:solidFill>
          <a:ln w="15875">
            <a:solidFill>
              <a:srgbClr val="111111"/>
            </a:solidFill>
            <a:prstDash val="solid"/>
          </a:ln>
        </p:spPr>
        <p:txBody>
          <a:bodyPr/>
          <a:lstStyle/>
          <a:p>
            <a:endParaRPr lang="it-IT"/>
          </a:p>
        </p:txBody>
      </p:sp>
      <p:sp>
        <p:nvSpPr>
          <p:cNvPr id="17" name="Shape 14"/>
          <p:cNvSpPr/>
          <p:nvPr/>
        </p:nvSpPr>
        <p:spPr>
          <a:xfrm>
            <a:off x="6492240" y="1554480"/>
            <a:ext cx="2148840" cy="2057400"/>
          </a:xfrm>
          <a:prstGeom prst="rect">
            <a:avLst/>
          </a:prstGeom>
          <a:solidFill>
            <a:srgbClr val="FFFFFF"/>
          </a:solidFill>
          <a:ln w="15875">
            <a:solidFill>
              <a:srgbClr val="111111"/>
            </a:solidFill>
            <a:prstDash val="solid"/>
          </a:ln>
        </p:spPr>
        <p:txBody>
          <a:bodyPr/>
          <a:lstStyle/>
          <a:p>
            <a:endParaRPr lang="it-IT"/>
          </a:p>
        </p:txBody>
      </p:sp>
      <p:sp>
        <p:nvSpPr>
          <p:cNvPr id="18" name="Text 15"/>
          <p:cNvSpPr txBox="1"/>
          <p:nvPr/>
        </p:nvSpPr>
        <p:spPr>
          <a:xfrm>
            <a:off x="6601968" y="1645920"/>
            <a:ext cx="1929384" cy="237744"/>
          </a:xfrm>
          <a:prstGeom prst="rect">
            <a:avLst/>
          </a:prstGeom>
          <a:noFill/>
          <a:ln/>
        </p:spPr>
        <p:txBody>
          <a:bodyPr wrap="square" lIns="0" tIns="0" rIns="0" bIns="0" rtlCol="0" anchor="t"/>
          <a:lstStyle/>
          <a:p>
            <a:pPr marL="0" indent="0">
              <a:buNone/>
            </a:pPr>
            <a:r>
              <a:rPr lang="en-US" sz="900" b="1">
                <a:solidFill>
                  <a:srgbClr val="1700E8"/>
                </a:solidFill>
                <a:latin typeface="Space Mono" pitchFamily="34" charset="0"/>
                <a:ea typeface="Space Mono" pitchFamily="34" charset="-122"/>
                <a:cs typeface="Space Mono" pitchFamily="34" charset="-120"/>
              </a:rPr>
              <a:t>sorprese</a:t>
            </a:r>
            <a:endParaRPr lang="en-US" sz="900">
              <a:latin typeface="Space Mono"/>
              <a:ea typeface="Space Mono"/>
              <a:cs typeface="Space Mono"/>
            </a:endParaRPr>
          </a:p>
        </p:txBody>
      </p:sp>
      <p:sp>
        <p:nvSpPr>
          <p:cNvPr id="19" name="Text 16"/>
          <p:cNvSpPr txBox="1"/>
          <p:nvPr/>
        </p:nvSpPr>
        <p:spPr>
          <a:xfrm>
            <a:off x="6601968" y="1938528"/>
            <a:ext cx="1929384" cy="1627632"/>
          </a:xfrm>
          <a:prstGeom prst="rect">
            <a:avLst/>
          </a:prstGeom>
          <a:noFill/>
          <a:ln/>
        </p:spPr>
        <p:txBody>
          <a:bodyPr wrap="square" lIns="0" tIns="0" rIns="0" bIns="0" rtlCol="0" anchor="t"/>
          <a:lstStyle/>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«Se lo conosco da un po' ci può stare»: la fiducia sostituisce la verifica.</a:t>
            </a:r>
          </a:p>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Una foto IA è creduta vera perché il volto «sembra conosciuto».</a:t>
            </a:r>
          </a:p>
          <a:p>
            <a:pPr marL="120650" indent="-120650" algn="just">
              <a:lnSpc>
                <a:spcPct val="100000"/>
              </a:lnSpc>
              <a:spcAft>
                <a:spcPts val="400"/>
              </a:spcAft>
              <a:buClr>
                <a:srgbClr val="111111"/>
              </a:buClr>
              <a:buSzPct val="100000"/>
              <a:buChar char="•"/>
            </a:pPr>
            <a:r>
              <a:rPr lang="it-IT" sz="830" b="0" i="0" u="none">
                <a:solidFill>
                  <a:srgbClr val="111111"/>
                </a:solidFill>
                <a:latin typeface="Plus Jakarta Sans"/>
                <a:ea typeface="Plus Jakarta Sans"/>
                <a:cs typeface="Plus Jakarta Sans"/>
              </a:rPr>
              <a:t>I genitori vengono «saltati»: anche quando serve, si preferisce rivolgersi direttamente alle autorità.</a:t>
            </a:r>
          </a:p>
        </p:txBody>
      </p:sp>
      <p:sp>
        <p:nvSpPr>
          <p:cNvPr id="20" name="Text 17"/>
          <p:cNvSpPr txBox="1"/>
          <p:nvPr/>
        </p:nvSpPr>
        <p:spPr>
          <a:xfrm>
            <a:off x="548640" y="1325880"/>
            <a:ext cx="3200400" cy="182880"/>
          </a:xfrm>
          <a:prstGeom prst="rect">
            <a:avLst/>
          </a:prstGeom>
          <a:noFill/>
          <a:ln/>
        </p:spPr>
        <p:txBody>
          <a:bodyPr wrap="square" lIns="0" tIns="0" rIns="0" bIns="0" rtlCol="0" anchor="t"/>
          <a:lstStyle/>
          <a:p>
            <a:pPr marL="0" indent="0" algn="just">
              <a:buNone/>
            </a:pPr>
            <a:r>
              <a:rPr lang="en-US" sz="800">
                <a:solidFill>
                  <a:srgbClr val="6B6B78"/>
                </a:solidFill>
                <a:latin typeface="Plus Jakarta Sans" pitchFamily="34" charset="0"/>
                <a:ea typeface="Plus Jakarta Sans" pitchFamily="34" charset="-122"/>
                <a:cs typeface="Plus Jakarta Sans" pitchFamily="34" charset="-120"/>
              </a:rPr>
              <a:t>dagli appunti presi seguendo i </a:t>
            </a:r>
            <a:r>
              <a:rPr lang="en-US" sz="800" err="1">
                <a:solidFill>
                  <a:srgbClr val="6B6B78"/>
                </a:solidFill>
                <a:latin typeface="Plus Jakarta Sans" pitchFamily="34" charset="0"/>
                <a:ea typeface="Plus Jakarta Sans" pitchFamily="34" charset="-122"/>
                <a:cs typeface="Plus Jakarta Sans" pitchFamily="34" charset="-120"/>
              </a:rPr>
              <a:t>gruppi</a:t>
            </a:r>
            <a:r>
              <a:rPr lang="en-US" sz="800">
                <a:solidFill>
                  <a:srgbClr val="6B6B78"/>
                </a:solidFill>
                <a:latin typeface="Plus Jakarta Sans" pitchFamily="34" charset="0"/>
                <a:ea typeface="Plus Jakarta Sans" pitchFamily="34" charset="-122"/>
                <a:cs typeface="Plus Jakarta Sans" pitchFamily="34" charset="-120"/>
              </a:rPr>
              <a:t> </a:t>
            </a:r>
            <a:endParaRPr lang="en-US" sz="800">
              <a:latin typeface="Plus Jakarta Sans"/>
              <a:ea typeface="Plus Jakarta Sans"/>
              <a:cs typeface="Plus Jakarta Sans"/>
            </a:endParaRPr>
          </a:p>
        </p:txBody>
      </p:sp>
      <p:sp>
        <p:nvSpPr>
          <p:cNvPr id="21" name="Text 18"/>
          <p:cNvSpPr txBox="1"/>
          <p:nvPr/>
        </p:nvSpPr>
        <p:spPr>
          <a:xfrm>
            <a:off x="548640" y="3813048"/>
            <a:ext cx="1828800" cy="182880"/>
          </a:xfrm>
          <a:prstGeom prst="rect">
            <a:avLst/>
          </a:prstGeom>
          <a:noFill/>
          <a:ln/>
        </p:spPr>
        <p:txBody>
          <a:bodyPr wrap="square" lIns="0" tIns="0" rIns="0" bIns="0" rtlCol="0" anchor="t"/>
          <a:lstStyle/>
          <a:p>
            <a:pPr marL="0" indent="0">
              <a:buNone/>
            </a:pPr>
            <a:r>
              <a:rPr lang="en-US" sz="800" b="1">
                <a:solidFill>
                  <a:srgbClr val="E71224"/>
                </a:solidFill>
                <a:latin typeface="Space Mono" pitchFamily="34" charset="0"/>
                <a:ea typeface="Space Mono" pitchFamily="34" charset="-122"/>
                <a:cs typeface="Space Mono" pitchFamily="34" charset="-120"/>
              </a:rPr>
              <a:t>frasi da ricordare</a:t>
            </a:r>
            <a:endParaRPr lang="en-US" sz="800">
              <a:latin typeface="Space Mono"/>
              <a:ea typeface="Space Mono"/>
              <a:cs typeface="Space Mono"/>
            </a:endParaRPr>
          </a:p>
        </p:txBody>
      </p:sp>
      <p:sp>
        <p:nvSpPr>
          <p:cNvPr id="22" name="Shape 19"/>
          <p:cNvSpPr/>
          <p:nvPr/>
        </p:nvSpPr>
        <p:spPr>
          <a:xfrm>
            <a:off x="621792" y="4114800"/>
            <a:ext cx="2103120" cy="530352"/>
          </a:xfrm>
          <a:prstGeom prst="rect">
            <a:avLst/>
          </a:prstGeom>
          <a:solidFill>
            <a:srgbClr val="DEDAFF"/>
          </a:solidFill>
          <a:ln w="15875">
            <a:solidFill>
              <a:srgbClr val="111111"/>
            </a:solidFill>
            <a:prstDash val="solid"/>
          </a:ln>
        </p:spPr>
        <p:txBody>
          <a:bodyPr/>
          <a:lstStyle/>
          <a:p>
            <a:endParaRPr lang="it-IT"/>
          </a:p>
        </p:txBody>
      </p:sp>
      <p:sp>
        <p:nvSpPr>
          <p:cNvPr id="23" name="Shape 20"/>
          <p:cNvSpPr/>
          <p:nvPr/>
        </p:nvSpPr>
        <p:spPr>
          <a:xfrm>
            <a:off x="548640" y="4041648"/>
            <a:ext cx="2103120" cy="530352"/>
          </a:xfrm>
          <a:prstGeom prst="rect">
            <a:avLst/>
          </a:prstGeom>
          <a:solidFill>
            <a:srgbClr val="F1EFFF"/>
          </a:solidFill>
          <a:ln w="15875">
            <a:solidFill>
              <a:srgbClr val="111111"/>
            </a:solidFill>
            <a:prstDash val="solid"/>
          </a:ln>
        </p:spPr>
        <p:txBody>
          <a:bodyPr/>
          <a:lstStyle/>
          <a:p>
            <a:endParaRPr lang="it-IT"/>
          </a:p>
        </p:txBody>
      </p:sp>
      <p:sp>
        <p:nvSpPr>
          <p:cNvPr id="24" name="Text 21"/>
          <p:cNvSpPr txBox="1"/>
          <p:nvPr/>
        </p:nvSpPr>
        <p:spPr>
          <a:xfrm>
            <a:off x="640080" y="4087368"/>
            <a:ext cx="1920239" cy="457200"/>
          </a:xfrm>
          <a:prstGeom prst="rect">
            <a:avLst/>
          </a:prstGeom>
          <a:noFill/>
          <a:ln/>
        </p:spPr>
        <p:txBody>
          <a:bodyPr wrap="square" lIns="0" tIns="0" rIns="0" bIns="0" rtlCol="0" anchor="ctr"/>
          <a:lstStyle/>
          <a:p>
            <a:pPr marL="0" indent="0" algn="just">
              <a:buNone/>
            </a:pPr>
            <a:r>
              <a:rPr lang="en-US" sz="780" b="1" i="1">
                <a:solidFill>
                  <a:srgbClr val="1700E8"/>
                </a:solidFill>
                <a:latin typeface="Plus Jakarta Sans" pitchFamily="34" charset="0"/>
                <a:ea typeface="Plus Jakarta Sans" pitchFamily="34" charset="-122"/>
                <a:cs typeface="Plus Jakarta Sans" pitchFamily="34" charset="-120"/>
              </a:rPr>
              <a:t>«se lo conosco da un po' ci può stare»</a:t>
            </a:r>
            <a:endParaRPr lang="en-US" sz="780">
              <a:latin typeface="Plus Jakarta Sans"/>
              <a:ea typeface="Plus Jakarta Sans"/>
              <a:cs typeface="Plus Jakarta Sans"/>
            </a:endParaRPr>
          </a:p>
          <a:p>
            <a:pPr marL="0" indent="0" algn="just">
              <a:buNone/>
            </a:pPr>
            <a:r>
              <a:rPr lang="en-US" sz="700">
                <a:solidFill>
                  <a:srgbClr val="6B6B78"/>
                </a:solidFill>
                <a:latin typeface="Plus Jakarta Sans" pitchFamily="34" charset="0"/>
                <a:ea typeface="Plus Jakarta Sans" pitchFamily="34" charset="-122"/>
                <a:cs typeface="Plus Jakarta Sans" pitchFamily="34" charset="-120"/>
              </a:rPr>
              <a:t>chat 4</a:t>
            </a:r>
            <a:endParaRPr lang="en-US" sz="780">
              <a:latin typeface="Plus Jakarta Sans"/>
              <a:ea typeface="Plus Jakarta Sans"/>
              <a:cs typeface="Plus Jakarta Sans"/>
            </a:endParaRPr>
          </a:p>
        </p:txBody>
      </p:sp>
      <p:sp>
        <p:nvSpPr>
          <p:cNvPr id="25" name="Shape 22"/>
          <p:cNvSpPr/>
          <p:nvPr/>
        </p:nvSpPr>
        <p:spPr>
          <a:xfrm>
            <a:off x="2999232" y="4114800"/>
            <a:ext cx="3291840" cy="530352"/>
          </a:xfrm>
          <a:prstGeom prst="rect">
            <a:avLst/>
          </a:prstGeom>
          <a:solidFill>
            <a:srgbClr val="FBD5D9"/>
          </a:solidFill>
          <a:ln w="15875">
            <a:solidFill>
              <a:srgbClr val="111111"/>
            </a:solidFill>
            <a:prstDash val="solid"/>
          </a:ln>
        </p:spPr>
        <p:txBody>
          <a:bodyPr/>
          <a:lstStyle/>
          <a:p>
            <a:endParaRPr lang="it-IT"/>
          </a:p>
        </p:txBody>
      </p:sp>
      <p:sp>
        <p:nvSpPr>
          <p:cNvPr id="26" name="Shape 23"/>
          <p:cNvSpPr/>
          <p:nvPr/>
        </p:nvSpPr>
        <p:spPr>
          <a:xfrm>
            <a:off x="2926080" y="4041648"/>
            <a:ext cx="3291840" cy="530352"/>
          </a:xfrm>
          <a:prstGeom prst="rect">
            <a:avLst/>
          </a:prstGeom>
          <a:solidFill>
            <a:srgbClr val="FFF0F1"/>
          </a:solidFill>
          <a:ln w="15875">
            <a:solidFill>
              <a:srgbClr val="111111"/>
            </a:solidFill>
            <a:prstDash val="solid"/>
          </a:ln>
        </p:spPr>
        <p:txBody>
          <a:bodyPr/>
          <a:lstStyle/>
          <a:p>
            <a:endParaRPr lang="it-IT"/>
          </a:p>
        </p:txBody>
      </p:sp>
      <p:sp>
        <p:nvSpPr>
          <p:cNvPr id="27" name="Text 24"/>
          <p:cNvSpPr txBox="1"/>
          <p:nvPr/>
        </p:nvSpPr>
        <p:spPr>
          <a:xfrm>
            <a:off x="3017520" y="4087368"/>
            <a:ext cx="3108960" cy="457200"/>
          </a:xfrm>
          <a:prstGeom prst="rect">
            <a:avLst/>
          </a:prstGeom>
          <a:noFill/>
          <a:ln/>
        </p:spPr>
        <p:txBody>
          <a:bodyPr wrap="square" lIns="0" tIns="0" rIns="0" bIns="0" rtlCol="0" anchor="ctr"/>
          <a:lstStyle/>
          <a:p>
            <a:pPr marL="0" indent="0" algn="just">
              <a:buNone/>
            </a:pPr>
            <a:r>
              <a:rPr lang="en-US" sz="780" b="1" i="1">
                <a:solidFill>
                  <a:srgbClr val="E71224"/>
                </a:solidFill>
                <a:latin typeface="Plus Jakarta Sans" pitchFamily="34" charset="0"/>
                <a:ea typeface="Plus Jakarta Sans" pitchFamily="34" charset="-122"/>
                <a:cs typeface="Plus Jakarta Sans" pitchFamily="34" charset="-120"/>
              </a:rPr>
              <a:t>«è solo uno scherzo»</a:t>
            </a:r>
            <a:endParaRPr lang="en-US" sz="780">
              <a:latin typeface="Plus Jakarta Sans"/>
              <a:ea typeface="Plus Jakarta Sans"/>
              <a:cs typeface="Plus Jakarta Sans"/>
            </a:endParaRPr>
          </a:p>
          <a:p>
            <a:pPr marL="0" indent="0" algn="just">
              <a:buNone/>
            </a:pPr>
            <a:r>
              <a:rPr lang="en-US" sz="700">
                <a:solidFill>
                  <a:srgbClr val="6B6B78"/>
                </a:solidFill>
                <a:latin typeface="Plus Jakarta Sans" pitchFamily="34" charset="0"/>
                <a:ea typeface="Plus Jakarta Sans" pitchFamily="34" charset="-122"/>
                <a:cs typeface="Plus Jakarta Sans" pitchFamily="34" charset="-120"/>
              </a:rPr>
              <a:t>chat 5.1</a:t>
            </a:r>
            <a:endParaRPr lang="en-US" sz="780">
              <a:latin typeface="Plus Jakarta Sans"/>
              <a:ea typeface="Plus Jakarta Sans"/>
              <a:cs typeface="Plus Jakarta Sans"/>
            </a:endParaRPr>
          </a:p>
        </p:txBody>
      </p:sp>
      <p:sp>
        <p:nvSpPr>
          <p:cNvPr id="28" name="Shape 25"/>
          <p:cNvSpPr/>
          <p:nvPr/>
        </p:nvSpPr>
        <p:spPr>
          <a:xfrm>
            <a:off x="6565392" y="4114800"/>
            <a:ext cx="2148840" cy="530352"/>
          </a:xfrm>
          <a:prstGeom prst="rect">
            <a:avLst/>
          </a:prstGeom>
          <a:solidFill>
            <a:srgbClr val="DEDAFF"/>
          </a:solidFill>
          <a:ln w="15875">
            <a:solidFill>
              <a:srgbClr val="111111"/>
            </a:solidFill>
            <a:prstDash val="solid"/>
          </a:ln>
        </p:spPr>
        <p:txBody>
          <a:bodyPr/>
          <a:lstStyle/>
          <a:p>
            <a:endParaRPr lang="it-IT"/>
          </a:p>
        </p:txBody>
      </p:sp>
      <p:sp>
        <p:nvSpPr>
          <p:cNvPr id="29" name="Shape 26"/>
          <p:cNvSpPr/>
          <p:nvPr/>
        </p:nvSpPr>
        <p:spPr>
          <a:xfrm>
            <a:off x="6492240" y="4041648"/>
            <a:ext cx="2148840" cy="530352"/>
          </a:xfrm>
          <a:prstGeom prst="rect">
            <a:avLst/>
          </a:prstGeom>
          <a:solidFill>
            <a:srgbClr val="F1EFFF"/>
          </a:solidFill>
          <a:ln w="15875">
            <a:solidFill>
              <a:srgbClr val="111111"/>
            </a:solidFill>
            <a:prstDash val="solid"/>
          </a:ln>
        </p:spPr>
        <p:txBody>
          <a:bodyPr/>
          <a:lstStyle/>
          <a:p>
            <a:endParaRPr lang="it-IT"/>
          </a:p>
        </p:txBody>
      </p:sp>
      <p:sp>
        <p:nvSpPr>
          <p:cNvPr id="30" name="Text 27"/>
          <p:cNvSpPr txBox="1"/>
          <p:nvPr/>
        </p:nvSpPr>
        <p:spPr>
          <a:xfrm>
            <a:off x="6583679" y="4087368"/>
            <a:ext cx="1965960" cy="457200"/>
          </a:xfrm>
          <a:prstGeom prst="rect">
            <a:avLst/>
          </a:prstGeom>
          <a:noFill/>
          <a:ln/>
        </p:spPr>
        <p:txBody>
          <a:bodyPr wrap="square" lIns="0" tIns="0" rIns="0" bIns="0" rtlCol="0" anchor="ctr"/>
          <a:lstStyle/>
          <a:p>
            <a:pPr marL="0" indent="0" algn="just">
              <a:buNone/>
            </a:pPr>
            <a:r>
              <a:rPr lang="en-US" sz="780" b="1" i="1">
                <a:solidFill>
                  <a:srgbClr val="1700E8"/>
                </a:solidFill>
                <a:latin typeface="Plus Jakarta Sans" pitchFamily="34" charset="0"/>
                <a:ea typeface="Plus Jakarta Sans" pitchFamily="34" charset="-122"/>
                <a:cs typeface="Plus Jakarta Sans" pitchFamily="34" charset="-120"/>
              </a:rPr>
              <a:t>«non avere più la libertà di prima»</a:t>
            </a:r>
            <a:endParaRPr lang="en-US" sz="780">
              <a:latin typeface="Plus Jakarta Sans"/>
              <a:ea typeface="Plus Jakarta Sans"/>
              <a:cs typeface="Plus Jakarta Sans"/>
            </a:endParaRPr>
          </a:p>
          <a:p>
            <a:pPr marL="0" indent="0" algn="just">
              <a:buNone/>
            </a:pPr>
            <a:r>
              <a:rPr lang="en-US" sz="700">
                <a:solidFill>
                  <a:srgbClr val="6B6B78"/>
                </a:solidFill>
                <a:latin typeface="Plus Jakarta Sans" pitchFamily="34" charset="0"/>
                <a:ea typeface="Plus Jakarta Sans" pitchFamily="34" charset="-122"/>
                <a:cs typeface="Plus Jakarta Sans" pitchFamily="34" charset="-120"/>
              </a:rPr>
              <a:t>Biscotto, TR4</a:t>
            </a:r>
            <a:endParaRPr lang="en-US" sz="780">
              <a:latin typeface="Plus Jakarta Sans"/>
              <a:ea typeface="Plus Jakarta Sans"/>
              <a:cs typeface="Plus Jakarta Sans"/>
            </a:endParaRPr>
          </a:p>
        </p:txBody>
      </p:sp>
      <p:sp>
        <p:nvSpPr>
          <p:cNvPr id="31" name="Slide Number Placeholder 0"/>
          <p:cNvSpPr>
            <a:spLocks noGrp="1"/>
          </p:cNvSpPr>
          <p:nvPr>
            <p:ph type="sldNum" sz="quarter" idx="4294967295"/>
          </p:nvPr>
        </p:nvSpPr>
        <p:spPr>
          <a:xfrm>
            <a:off x="365760" y="91440"/>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1700E8"/>
                </a:solidFill>
                <a:latin typeface="Space Mono"/>
                <a:ea typeface="Space Mono"/>
                <a:cs typeface="Space Mono"/>
              </a:defRPr>
            </a:lvl1pPr>
          </a:lstStyle>
          <a:p>
            <a:pPr algn="l"/>
            <a:fld id="{F7021451-1387-4CA6-816F-3879F97B5CBC}" type="slidenum">
              <a:rPr lang="en-US" b="0"/>
              <a:t>11</a:t>
            </a:fld>
            <a:endParaRPr lang="en-US"/>
          </a:p>
        </p:txBody>
      </p:sp>
      <p:sp>
        <p:nvSpPr>
          <p:cNvPr id="32" name="CasellaDiTesto 31">
            <a:extLst>
              <a:ext uri="{FF2B5EF4-FFF2-40B4-BE49-F238E27FC236}">
                <a16:creationId xmlns:a16="http://schemas.microsoft.com/office/drawing/2014/main" id="{FE5EAA9F-93EC-A94A-861C-5AF807DC0736}"/>
              </a:ext>
            </a:extLst>
          </p:cNvPr>
          <p:cNvSpPr txBox="1"/>
          <p:nvPr/>
        </p:nvSpPr>
        <p:spPr>
          <a:xfrm>
            <a:off x="5732085" y="1179361"/>
            <a:ext cx="2247900" cy="307777"/>
          </a:xfrm>
          <a:prstGeom prst="rect">
            <a:avLst/>
          </a:prstGeom>
          <a:noFill/>
        </p:spPr>
        <p:txBody>
          <a:bodyPr wrap="square" rtlCol="0">
            <a:spAutoFit/>
          </a:bodyPr>
          <a:lstStyle/>
          <a:p>
            <a:r>
              <a:rPr lang="it-IT" sz="1400" b="1">
                <a:solidFill>
                  <a:schemeClr val="tx2"/>
                </a:solidFill>
                <a:latin typeface="Space Mono"/>
                <a:ea typeface="Space Mono"/>
                <a:cs typeface="Space Mono"/>
                <a:hlinkClick r:id="rId2"/>
              </a:rPr>
              <a:t>Board </a:t>
            </a:r>
            <a:r>
              <a:rPr lang="it-IT" sz="1400" b="1" err="1">
                <a:solidFill>
                  <a:schemeClr val="tx2"/>
                </a:solidFill>
                <a:latin typeface="Space Mono"/>
                <a:ea typeface="Space Mono"/>
                <a:cs typeface="Space Mono"/>
                <a:hlinkClick r:id="rId2"/>
              </a:rPr>
              <a:t>FigJam</a:t>
            </a:r>
            <a:endParaRPr lang="it-IT" sz="1400" b="1">
              <a:solidFill>
                <a:schemeClr val="tx2"/>
              </a:solidFill>
              <a:latin typeface="Space Mono"/>
              <a:ea typeface="Space Mono"/>
              <a:cs typeface="Space Mono"/>
            </a:endParaRPr>
          </a:p>
        </p:txBody>
      </p:sp>
      <mc:AlternateContent xmlns:mc="http://schemas.openxmlformats.org/markup-compatibility/2006" xmlns:p14="http://schemas.microsoft.com/office/powerpoint/2010/main">
        <mc:Choice Requires="p14">
          <p:contentPart p14:bwMode="auto" r:id="rId3">
            <p14:nvContentPartPr>
              <p14:cNvPr id="40" name="Input penna 39">
                <a:extLst>
                  <a:ext uri="{FF2B5EF4-FFF2-40B4-BE49-F238E27FC236}">
                    <a16:creationId xmlns:a16="http://schemas.microsoft.com/office/drawing/2014/main" id="{6C9CE032-1BF5-6750-4D30-72BAAAA43525}"/>
                  </a:ext>
                </a:extLst>
              </p14:cNvPr>
              <p14:cNvContentPartPr/>
              <p14:nvPr/>
            </p14:nvContentPartPr>
            <p14:xfrm>
              <a:off x="5745490" y="1005947"/>
              <a:ext cx="132480" cy="142200"/>
            </p14:xfrm>
          </p:contentPart>
        </mc:Choice>
        <mc:Fallback xmlns="">
          <p:pic>
            <p:nvPicPr>
              <p:cNvPr id="40" name="Input penna 39">
                <a:extLst>
                  <a:ext uri="{FF2B5EF4-FFF2-40B4-BE49-F238E27FC236}">
                    <a16:creationId xmlns:a16="http://schemas.microsoft.com/office/drawing/2014/main" id="{6C9CE032-1BF5-6750-4D30-72BAAAA43525}"/>
                  </a:ext>
                </a:extLst>
              </p:cNvPr>
              <p:cNvPicPr/>
              <p:nvPr/>
            </p:nvPicPr>
            <p:blipFill>
              <a:blip r:embed="rId4"/>
              <a:stretch>
                <a:fillRect/>
              </a:stretch>
            </p:blipFill>
            <p:spPr>
              <a:xfrm>
                <a:off x="5727490" y="987947"/>
                <a:ext cx="168120" cy="177840"/>
              </a:xfrm>
              <a:prstGeom prst="rect">
                <a:avLst/>
              </a:prstGeom>
            </p:spPr>
          </p:pic>
        </mc:Fallback>
      </mc:AlternateContent>
      <p:sp>
        <p:nvSpPr>
          <p:cNvPr id="41" name="Text 17">
            <a:extLst>
              <a:ext uri="{FF2B5EF4-FFF2-40B4-BE49-F238E27FC236}">
                <a16:creationId xmlns:a16="http://schemas.microsoft.com/office/drawing/2014/main" id="{C12FE8C5-BDD0-DB65-68AD-50C9AA4D55F2}"/>
              </a:ext>
            </a:extLst>
          </p:cNvPr>
          <p:cNvSpPr txBox="1"/>
          <p:nvPr/>
        </p:nvSpPr>
        <p:spPr>
          <a:xfrm>
            <a:off x="6007608" y="1061749"/>
            <a:ext cx="5120640" cy="182880"/>
          </a:xfrm>
          <a:prstGeom prst="rect">
            <a:avLst/>
          </a:prstGeom>
          <a:noFill/>
          <a:ln/>
        </p:spPr>
        <p:txBody>
          <a:bodyPr wrap="square" lIns="0" tIns="0" rIns="0" bIns="0" rtlCol="0" anchor="t"/>
          <a:lstStyle/>
          <a:p>
            <a:pPr marL="0" indent="0" algn="just">
              <a:buNone/>
            </a:pPr>
            <a:r>
              <a:rPr lang="en-US" sz="800" err="1">
                <a:solidFill>
                  <a:srgbClr val="6B6B78"/>
                </a:solidFill>
                <a:latin typeface="Plus Jakarta Sans"/>
                <a:ea typeface="Plus Jakarta Sans"/>
                <a:cs typeface="Plus Jakarta Sans"/>
              </a:rPr>
              <a:t>Cliccare</a:t>
            </a:r>
            <a:r>
              <a:rPr lang="en-US" sz="800">
                <a:solidFill>
                  <a:srgbClr val="6B6B78"/>
                </a:solidFill>
                <a:latin typeface="Plus Jakarta Sans"/>
                <a:ea typeface="Plus Jakarta Sans"/>
                <a:cs typeface="Plus Jakarta Sans"/>
              </a:rPr>
              <a:t> qui per </a:t>
            </a:r>
            <a:r>
              <a:rPr lang="en-US" sz="800" err="1">
                <a:solidFill>
                  <a:srgbClr val="6B6B78"/>
                </a:solidFill>
                <a:latin typeface="Plus Jakarta Sans"/>
                <a:ea typeface="Plus Jakarta Sans"/>
                <a:cs typeface="Plus Jakarta Sans"/>
              </a:rPr>
              <a:t>visualizzare</a:t>
            </a:r>
            <a:r>
              <a:rPr lang="en-US" sz="800">
                <a:solidFill>
                  <a:srgbClr val="6B6B78"/>
                </a:solidFill>
                <a:latin typeface="Plus Jakarta Sans"/>
                <a:ea typeface="Plus Jakarta Sans"/>
                <a:cs typeface="Plus Jakarta Sans"/>
              </a:rPr>
              <a:t> la </a:t>
            </a:r>
            <a:r>
              <a:rPr lang="en-US" sz="800" err="1">
                <a:solidFill>
                  <a:srgbClr val="6B6B78"/>
                </a:solidFill>
                <a:latin typeface="Plus Jakarta Sans"/>
                <a:ea typeface="Plus Jakarta Sans"/>
                <a:cs typeface="Plus Jakarta Sans"/>
              </a:rPr>
              <a:t>FigJam</a:t>
            </a:r>
            <a:r>
              <a:rPr lang="en-US" sz="800">
                <a:solidFill>
                  <a:srgbClr val="6B6B78"/>
                </a:solidFill>
                <a:latin typeface="Plus Jakarta Sans"/>
                <a:ea typeface="Plus Jakarta Sans"/>
                <a:cs typeface="Plus Jakarta Sans"/>
              </a:rPr>
              <a:t>!</a:t>
            </a:r>
            <a:endParaRPr lang="en-US" sz="800">
              <a:latin typeface="Plus Jakarta Sans"/>
              <a:ea typeface="Plus Jakarta Sans"/>
              <a:cs typeface="Plus Jakarta Sans"/>
            </a:endParaRPr>
          </a:p>
        </p:txBody>
      </p:sp>
      <mc:AlternateContent xmlns:mc="http://schemas.openxmlformats.org/markup-compatibility/2006" xmlns:p14="http://schemas.microsoft.com/office/powerpoint/2010/main">
        <mc:Choice Requires="p14">
          <p:contentPart p14:bwMode="auto" r:id="rId5">
            <p14:nvContentPartPr>
              <p14:cNvPr id="49" name="Input penna 48">
                <a:extLst>
                  <a:ext uri="{FF2B5EF4-FFF2-40B4-BE49-F238E27FC236}">
                    <a16:creationId xmlns:a16="http://schemas.microsoft.com/office/drawing/2014/main" id="{F2B236A8-1325-E3C1-9443-44659B5151B7}"/>
                  </a:ext>
                </a:extLst>
              </p14:cNvPr>
              <p14:cNvContentPartPr/>
              <p14:nvPr/>
            </p14:nvContentPartPr>
            <p14:xfrm>
              <a:off x="2656291" y="882981"/>
              <a:ext cx="3220200" cy="638640"/>
            </p14:xfrm>
          </p:contentPart>
        </mc:Choice>
        <mc:Fallback xmlns="">
          <p:pic>
            <p:nvPicPr>
              <p:cNvPr id="49" name="Input penna 48">
                <a:extLst>
                  <a:ext uri="{FF2B5EF4-FFF2-40B4-BE49-F238E27FC236}">
                    <a16:creationId xmlns:a16="http://schemas.microsoft.com/office/drawing/2014/main" id="{F2B236A8-1325-E3C1-9443-44659B5151B7}"/>
                  </a:ext>
                </a:extLst>
              </p:cNvPr>
              <p:cNvPicPr/>
              <p:nvPr/>
            </p:nvPicPr>
            <p:blipFill>
              <a:blip r:embed="rId6"/>
              <a:stretch>
                <a:fillRect/>
              </a:stretch>
            </p:blipFill>
            <p:spPr>
              <a:xfrm>
                <a:off x="2638291" y="864981"/>
                <a:ext cx="3255840" cy="6742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2E3198-49BE-CE11-D95C-F9C709CC7389}"/>
              </a:ext>
            </a:extLst>
          </p:cNvPr>
          <p:cNvSpPr txBox="1"/>
          <p:nvPr/>
        </p:nvSpPr>
        <p:spPr>
          <a:xfrm>
            <a:off x="502920" y="310896"/>
            <a:ext cx="411480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prima lettura delle schede</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43BD0B61-C807-76A9-7A2B-7BDC42F21683}"/>
              </a:ext>
            </a:extLst>
          </p:cNvPr>
          <p:cNvSpPr txBox="1"/>
          <p:nvPr/>
        </p:nvSpPr>
        <p:spPr>
          <a:xfrm>
            <a:off x="502920" y="502920"/>
            <a:ext cx="3657600" cy="8686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a:ea typeface="Space Mono"/>
                <a:cs typeface="Space Mono" pitchFamily="34"/>
              </a:rPr>
              <a:t>I bisogni</a:t>
            </a:r>
            <a:endParaRPr lang="en-US" sz="2600" b="0" i="0" u="none" strike="noStrike" kern="1200" cap="none" spc="0" baseline="0">
              <a:solidFill>
                <a:srgbClr val="111111"/>
              </a:solidFill>
              <a:uFillTx/>
              <a:latin typeface="Space Mono"/>
              <a:ea typeface="Space Mono"/>
              <a:cs typeface="Space Mono"/>
            </a:endParaRPr>
          </a:p>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a:ea typeface="Space Mono"/>
                <a:cs typeface="Space Mono" pitchFamily="34"/>
              </a:rPr>
              <a:t>iniziali</a:t>
            </a:r>
            <a:endParaRPr lang="en-US" sz="2600" b="0" i="0" u="none" strike="noStrike" kern="1200" cap="none" spc="0" baseline="0">
              <a:solidFill>
                <a:srgbClr val="111111"/>
              </a:solidFill>
              <a:uFillTx/>
              <a:latin typeface="Space Mono"/>
              <a:ea typeface="Space Mono"/>
              <a:cs typeface="Space Mono"/>
            </a:endParaRPr>
          </a:p>
        </p:txBody>
      </p:sp>
      <p:sp>
        <p:nvSpPr>
          <p:cNvPr id="4" name="Text 2">
            <a:extLst>
              <a:ext uri="{FF2B5EF4-FFF2-40B4-BE49-F238E27FC236}">
                <a16:creationId xmlns:a16="http://schemas.microsoft.com/office/drawing/2014/main" id="{5828ED27-34B8-68A2-53C2-034E1050F85A}"/>
              </a:ext>
            </a:extLst>
          </p:cNvPr>
          <p:cNvSpPr txBox="1"/>
          <p:nvPr/>
        </p:nvSpPr>
        <p:spPr>
          <a:xfrm>
            <a:off x="502920" y="1508760"/>
            <a:ext cx="320040" cy="38404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700" b="1" i="0" u="none" strike="noStrike" kern="1200" cap="none" spc="0" baseline="0">
                <a:solidFill>
                  <a:srgbClr val="1700E8"/>
                </a:solidFill>
                <a:uFillTx/>
                <a:latin typeface="Space Mono" pitchFamily="34"/>
                <a:ea typeface="Space Mono" pitchFamily="34"/>
                <a:cs typeface="Space Mono" pitchFamily="34"/>
              </a:rPr>
              <a:t>1</a:t>
            </a:r>
            <a:endParaRPr lang="en-US" sz="1700" b="0" i="0" u="none" strike="noStrike" kern="1200" cap="none" spc="0" baseline="0">
              <a:solidFill>
                <a:srgbClr val="111111"/>
              </a:solidFill>
              <a:uFillTx/>
              <a:latin typeface="Space Mono"/>
              <a:ea typeface="Space Mono"/>
              <a:cs typeface="Space Mono"/>
            </a:endParaRPr>
          </a:p>
        </p:txBody>
      </p:sp>
      <p:sp>
        <p:nvSpPr>
          <p:cNvPr id="5" name="Text 3">
            <a:extLst>
              <a:ext uri="{FF2B5EF4-FFF2-40B4-BE49-F238E27FC236}">
                <a16:creationId xmlns:a16="http://schemas.microsoft.com/office/drawing/2014/main" id="{9E053BF0-3194-B70D-7FCC-C3759FD2A1ED}"/>
              </a:ext>
            </a:extLst>
          </p:cNvPr>
          <p:cNvSpPr txBox="1"/>
          <p:nvPr/>
        </p:nvSpPr>
        <p:spPr>
          <a:xfrm>
            <a:off x="896112" y="1508760"/>
            <a:ext cx="2331720" cy="38404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30" b="0" i="0" u="none" strike="noStrike" kern="1200" cap="none" spc="0" baseline="0">
                <a:solidFill>
                  <a:srgbClr val="111111"/>
                </a:solidFill>
                <a:uFillTx/>
                <a:latin typeface="Plus Jakarta Sans" pitchFamily="34"/>
                <a:ea typeface="Plus Jakarta Sans" pitchFamily="34"/>
                <a:cs typeface="Plus Jakarta Sans" pitchFamily="34"/>
              </a:rPr>
              <a:t>Gamification: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imparare</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in modo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interattivo</a:t>
            </a:r>
            <a:endParaRPr lang="en-US" sz="930" b="0" i="0" u="none" strike="noStrike" kern="1200" cap="none" spc="0" baseline="0">
              <a:solidFill>
                <a:srgbClr val="111111"/>
              </a:solidFill>
              <a:uFillTx/>
              <a:latin typeface="Plus Jakarta Sans"/>
              <a:ea typeface="Plus Jakarta Sans"/>
              <a:cs typeface="Plus Jakarta Sans"/>
            </a:endParaRPr>
          </a:p>
        </p:txBody>
      </p:sp>
      <p:sp>
        <p:nvSpPr>
          <p:cNvPr id="6" name="Text 4">
            <a:extLst>
              <a:ext uri="{FF2B5EF4-FFF2-40B4-BE49-F238E27FC236}">
                <a16:creationId xmlns:a16="http://schemas.microsoft.com/office/drawing/2014/main" id="{67119221-496D-5EC5-C1FF-0E512DE654FD}"/>
              </a:ext>
            </a:extLst>
          </p:cNvPr>
          <p:cNvSpPr txBox="1"/>
          <p:nvPr/>
        </p:nvSpPr>
        <p:spPr>
          <a:xfrm>
            <a:off x="502920" y="2057400"/>
            <a:ext cx="320040" cy="38404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700" b="1" i="0" u="none" strike="noStrike" kern="1200" cap="none" spc="0" baseline="0">
                <a:solidFill>
                  <a:srgbClr val="E71224"/>
                </a:solidFill>
                <a:uFillTx/>
                <a:latin typeface="Space Mono" pitchFamily="34"/>
                <a:ea typeface="Space Mono" pitchFamily="34"/>
                <a:cs typeface="Space Mono" pitchFamily="34"/>
              </a:rPr>
              <a:t>2</a:t>
            </a:r>
            <a:endParaRPr lang="en-US" sz="1700" b="0" i="0" u="none" strike="noStrike" kern="1200" cap="none" spc="0" baseline="0">
              <a:solidFill>
                <a:srgbClr val="111111"/>
              </a:solidFill>
              <a:uFillTx/>
              <a:latin typeface="Space Mono"/>
              <a:ea typeface="Space Mono"/>
              <a:cs typeface="Space Mono"/>
            </a:endParaRPr>
          </a:p>
        </p:txBody>
      </p:sp>
      <p:sp>
        <p:nvSpPr>
          <p:cNvPr id="7" name="Text 5">
            <a:extLst>
              <a:ext uri="{FF2B5EF4-FFF2-40B4-BE49-F238E27FC236}">
                <a16:creationId xmlns:a16="http://schemas.microsoft.com/office/drawing/2014/main" id="{6C6195D1-9B3D-0E67-E5D8-D3190C54E19E}"/>
              </a:ext>
            </a:extLst>
          </p:cNvPr>
          <p:cNvSpPr txBox="1"/>
          <p:nvPr/>
        </p:nvSpPr>
        <p:spPr>
          <a:xfrm>
            <a:off x="896112" y="2057400"/>
            <a:ext cx="2331720" cy="38404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Confronto</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con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i</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coetanei</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e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testimonianze</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anonime</a:t>
            </a:r>
            <a:endParaRPr lang="en-US" sz="930" b="0" i="0" u="none" strike="noStrike" kern="1200" cap="none" spc="0" baseline="0">
              <a:solidFill>
                <a:srgbClr val="111111"/>
              </a:solidFill>
              <a:uFillTx/>
              <a:latin typeface="Plus Jakarta Sans"/>
              <a:ea typeface="Plus Jakarta Sans"/>
              <a:cs typeface="Plus Jakarta Sans"/>
            </a:endParaRPr>
          </a:p>
        </p:txBody>
      </p:sp>
      <p:sp>
        <p:nvSpPr>
          <p:cNvPr id="8" name="Text 6">
            <a:extLst>
              <a:ext uri="{FF2B5EF4-FFF2-40B4-BE49-F238E27FC236}">
                <a16:creationId xmlns:a16="http://schemas.microsoft.com/office/drawing/2014/main" id="{F3C9FE9A-CF34-A4DB-0E02-3F69C9A03461}"/>
              </a:ext>
            </a:extLst>
          </p:cNvPr>
          <p:cNvSpPr txBox="1"/>
          <p:nvPr/>
        </p:nvSpPr>
        <p:spPr>
          <a:xfrm>
            <a:off x="502920" y="2606039"/>
            <a:ext cx="320040" cy="38404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700" b="1" i="0" u="none" strike="noStrike" kern="1200" cap="none" spc="0" baseline="0">
                <a:solidFill>
                  <a:srgbClr val="1700E8"/>
                </a:solidFill>
                <a:uFillTx/>
                <a:latin typeface="Space Mono" pitchFamily="34"/>
                <a:ea typeface="Space Mono" pitchFamily="34"/>
                <a:cs typeface="Space Mono" pitchFamily="34"/>
              </a:rPr>
              <a:t>3</a:t>
            </a:r>
            <a:endParaRPr lang="en-US" sz="1700" b="0" i="0" u="none" strike="noStrike" kern="1200" cap="none" spc="0" baseline="0">
              <a:solidFill>
                <a:srgbClr val="111111"/>
              </a:solidFill>
              <a:uFillTx/>
              <a:latin typeface="Space Mono"/>
              <a:ea typeface="Space Mono"/>
              <a:cs typeface="Space Mono"/>
            </a:endParaRPr>
          </a:p>
        </p:txBody>
      </p:sp>
      <p:sp>
        <p:nvSpPr>
          <p:cNvPr id="9" name="Text 7">
            <a:extLst>
              <a:ext uri="{FF2B5EF4-FFF2-40B4-BE49-F238E27FC236}">
                <a16:creationId xmlns:a16="http://schemas.microsoft.com/office/drawing/2014/main" id="{1AEE8305-BF32-C948-B7CE-849C7F97D49C}"/>
              </a:ext>
            </a:extLst>
          </p:cNvPr>
          <p:cNvSpPr txBox="1"/>
          <p:nvPr/>
        </p:nvSpPr>
        <p:spPr>
          <a:xfrm>
            <a:off x="896112" y="2606039"/>
            <a:ext cx="2331720" cy="38404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Conoscenza</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dei</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temi</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e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consapevolezza</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dei</a:t>
            </a:r>
            <a:r>
              <a:rPr lang="en-US" sz="930" b="0" i="0" u="none" strike="noStrike" kern="1200" cap="none" spc="0" baseline="0">
                <a:solidFill>
                  <a:srgbClr val="111111"/>
                </a:solidFill>
                <a:uFillTx/>
                <a:latin typeface="Plus Jakarta Sans" pitchFamily="34"/>
                <a:ea typeface="Plus Jakarta Sans" pitchFamily="34"/>
                <a:cs typeface="Plus Jakarta Sans" pitchFamily="34"/>
              </a:rPr>
              <a:t> </a:t>
            </a:r>
            <a:r>
              <a:rPr lang="en-US" sz="930" b="0" i="0" u="none" strike="noStrike" kern="1200" cap="none" spc="0" baseline="0" err="1">
                <a:solidFill>
                  <a:srgbClr val="111111"/>
                </a:solidFill>
                <a:uFillTx/>
                <a:latin typeface="Plus Jakarta Sans" pitchFamily="34"/>
                <a:ea typeface="Plus Jakarta Sans" pitchFamily="34"/>
                <a:cs typeface="Plus Jakarta Sans" pitchFamily="34"/>
              </a:rPr>
              <a:t>rischi</a:t>
            </a:r>
            <a:endParaRPr lang="en-US" sz="930" b="0" i="0" u="none" strike="noStrike" kern="1200" cap="none" spc="0" baseline="0">
              <a:solidFill>
                <a:srgbClr val="111111"/>
              </a:solidFill>
              <a:uFillTx/>
              <a:latin typeface="Plus Jakarta Sans"/>
              <a:ea typeface="Plus Jakarta Sans"/>
              <a:cs typeface="Plus Jakarta Sans"/>
            </a:endParaRPr>
          </a:p>
        </p:txBody>
      </p:sp>
      <p:sp>
        <p:nvSpPr>
          <p:cNvPr id="10" name="Text 8">
            <a:extLst>
              <a:ext uri="{FF2B5EF4-FFF2-40B4-BE49-F238E27FC236}">
                <a16:creationId xmlns:a16="http://schemas.microsoft.com/office/drawing/2014/main" id="{1F8DFF59-CD2F-94CC-6DAF-6FF2FDA323BF}"/>
              </a:ext>
            </a:extLst>
          </p:cNvPr>
          <p:cNvSpPr txBox="1"/>
          <p:nvPr/>
        </p:nvSpPr>
        <p:spPr>
          <a:xfrm>
            <a:off x="502920" y="3154679"/>
            <a:ext cx="320040" cy="38404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700" b="1" i="0" u="none" strike="noStrike" kern="1200" cap="none" spc="0" baseline="0">
                <a:solidFill>
                  <a:srgbClr val="E71224"/>
                </a:solidFill>
                <a:uFillTx/>
                <a:latin typeface="Space Mono" pitchFamily="34"/>
                <a:ea typeface="Space Mono" pitchFamily="34"/>
                <a:cs typeface="Space Mono" pitchFamily="34"/>
              </a:rPr>
              <a:t>4</a:t>
            </a:r>
            <a:endParaRPr lang="en-US" sz="1700" b="0" i="0" u="none" strike="noStrike" kern="1200" cap="none" spc="0" baseline="0">
              <a:solidFill>
                <a:srgbClr val="111111"/>
              </a:solidFill>
              <a:uFillTx/>
              <a:latin typeface="Space Mono"/>
              <a:ea typeface="Space Mono"/>
              <a:cs typeface="Space Mono"/>
            </a:endParaRPr>
          </a:p>
        </p:txBody>
      </p:sp>
      <p:sp>
        <p:nvSpPr>
          <p:cNvPr id="11" name="Text 9">
            <a:extLst>
              <a:ext uri="{FF2B5EF4-FFF2-40B4-BE49-F238E27FC236}">
                <a16:creationId xmlns:a16="http://schemas.microsoft.com/office/drawing/2014/main" id="{C429CCFA-CE4B-8367-115B-C46966A5DE6D}"/>
              </a:ext>
            </a:extLst>
          </p:cNvPr>
          <p:cNvSpPr txBox="1"/>
          <p:nvPr/>
        </p:nvSpPr>
        <p:spPr>
          <a:xfrm>
            <a:off x="896112" y="3154679"/>
            <a:ext cx="2331720" cy="38404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30" b="0" i="0" u="none" strike="noStrike" kern="1200" cap="none" spc="0" baseline="0">
                <a:solidFill>
                  <a:srgbClr val="111111"/>
                </a:solidFill>
                <a:uFillTx/>
                <a:latin typeface="Plus Jakarta Sans" pitchFamily="34"/>
                <a:ea typeface="Plus Jakarta Sans" pitchFamily="34"/>
                <a:cs typeface="Plus Jakarta Sans" pitchFamily="34"/>
              </a:rPr>
              <a:t>Più consapevolezza delle proprie capacità</a:t>
            </a:r>
            <a:endParaRPr lang="en-US" sz="930" b="0" i="0" u="none" strike="noStrike" kern="1200" cap="none" spc="0" baseline="0">
              <a:solidFill>
                <a:srgbClr val="111111"/>
              </a:solidFill>
              <a:uFillTx/>
              <a:latin typeface="Plus Jakarta Sans"/>
              <a:ea typeface="Plus Jakarta Sans"/>
              <a:cs typeface="Plus Jakarta Sans"/>
            </a:endParaRPr>
          </a:p>
        </p:txBody>
      </p:sp>
      <p:sp>
        <p:nvSpPr>
          <p:cNvPr id="12" name="Text 10">
            <a:extLst>
              <a:ext uri="{FF2B5EF4-FFF2-40B4-BE49-F238E27FC236}">
                <a16:creationId xmlns:a16="http://schemas.microsoft.com/office/drawing/2014/main" id="{DE38BAE7-1947-F98B-AD08-F0B2E509C568}"/>
              </a:ext>
            </a:extLst>
          </p:cNvPr>
          <p:cNvSpPr txBox="1"/>
          <p:nvPr/>
        </p:nvSpPr>
        <p:spPr>
          <a:xfrm>
            <a:off x="502920" y="3703320"/>
            <a:ext cx="320040" cy="38404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700" b="1" i="0" u="none" strike="noStrike" kern="1200" cap="none" spc="0" baseline="0">
                <a:solidFill>
                  <a:srgbClr val="1700E8"/>
                </a:solidFill>
                <a:uFillTx/>
                <a:latin typeface="Space Mono" pitchFamily="34"/>
                <a:ea typeface="Space Mono" pitchFamily="34"/>
                <a:cs typeface="Space Mono" pitchFamily="34"/>
              </a:rPr>
              <a:t>5</a:t>
            </a:r>
            <a:endParaRPr lang="en-US" sz="1700" b="0" i="0" u="none" strike="noStrike" kern="1200" cap="none" spc="0" baseline="0">
              <a:solidFill>
                <a:srgbClr val="111111"/>
              </a:solidFill>
              <a:uFillTx/>
              <a:latin typeface="Space Mono"/>
              <a:ea typeface="Space Mono"/>
              <a:cs typeface="Space Mono"/>
            </a:endParaRPr>
          </a:p>
        </p:txBody>
      </p:sp>
      <p:sp>
        <p:nvSpPr>
          <p:cNvPr id="13" name="Text 11">
            <a:extLst>
              <a:ext uri="{FF2B5EF4-FFF2-40B4-BE49-F238E27FC236}">
                <a16:creationId xmlns:a16="http://schemas.microsoft.com/office/drawing/2014/main" id="{62E28AC9-43B9-09C5-BF20-FFFF5CA7C70A}"/>
              </a:ext>
            </a:extLst>
          </p:cNvPr>
          <p:cNvSpPr txBox="1"/>
          <p:nvPr/>
        </p:nvSpPr>
        <p:spPr>
          <a:xfrm>
            <a:off x="896112" y="3703320"/>
            <a:ext cx="2331720" cy="38404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30" b="0" i="0" u="none" strike="noStrike" kern="1200" cap="none" spc="0" baseline="0">
                <a:solidFill>
                  <a:srgbClr val="111111"/>
                </a:solidFill>
                <a:uFillTx/>
                <a:latin typeface="Plus Jakarta Sans" pitchFamily="34"/>
                <a:ea typeface="Plus Jakarta Sans" pitchFamily="34"/>
                <a:cs typeface="Plus Jakarta Sans" pitchFamily="34"/>
              </a:rPr>
              <a:t>Aiuto: supporto e contatti</a:t>
            </a:r>
            <a:endParaRPr lang="en-US" sz="930" b="0" i="0" u="none" strike="noStrike" kern="1200" cap="none" spc="0" baseline="0">
              <a:solidFill>
                <a:srgbClr val="111111"/>
              </a:solidFill>
              <a:uFillTx/>
              <a:latin typeface="Plus Jakarta Sans"/>
              <a:ea typeface="Plus Jakarta Sans"/>
              <a:cs typeface="Plus Jakarta Sans"/>
            </a:endParaRPr>
          </a:p>
        </p:txBody>
      </p:sp>
      <p:sp>
        <p:nvSpPr>
          <p:cNvPr id="14" name="Text 12">
            <a:extLst>
              <a:ext uri="{FF2B5EF4-FFF2-40B4-BE49-F238E27FC236}">
                <a16:creationId xmlns:a16="http://schemas.microsoft.com/office/drawing/2014/main" id="{A89F5997-6E5E-0087-0F63-CB6BE2253DEB}"/>
              </a:ext>
            </a:extLst>
          </p:cNvPr>
          <p:cNvSpPr txBox="1"/>
          <p:nvPr/>
        </p:nvSpPr>
        <p:spPr>
          <a:xfrm>
            <a:off x="502920" y="4297680"/>
            <a:ext cx="2834640" cy="36576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6B6B78"/>
                </a:solidFill>
                <a:uFillTx/>
                <a:latin typeface="Plus Jakarta Sans" pitchFamily="34"/>
                <a:ea typeface="Plus Jakarta Sans" pitchFamily="34"/>
                <a:cs typeface="Plus Jakarta Sans" pitchFamily="34"/>
              </a:rPr>
              <a:t>Poi ognuno ha scritto i suoi tre bisogni su FigJam, a partire dalle evidenze.</a:t>
            </a:r>
            <a:endParaRPr lang="en-US" sz="800" b="0" i="0" u="none" strike="noStrike" kern="1200" cap="none" spc="0" baseline="0">
              <a:solidFill>
                <a:srgbClr val="111111"/>
              </a:solidFill>
              <a:uFillTx/>
              <a:latin typeface="Plus Jakarta Sans"/>
              <a:ea typeface="Plus Jakarta Sans"/>
              <a:cs typeface="Plus Jakarta Sans"/>
            </a:endParaRPr>
          </a:p>
        </p:txBody>
      </p:sp>
      <p:sp>
        <p:nvSpPr>
          <p:cNvPr id="15" name="Shape 13">
            <a:extLst>
              <a:ext uri="{FF2B5EF4-FFF2-40B4-BE49-F238E27FC236}">
                <a16:creationId xmlns:a16="http://schemas.microsoft.com/office/drawing/2014/main" id="{2C666543-58A9-5C72-B330-A6BAB644D3E9}"/>
              </a:ext>
            </a:extLst>
          </p:cNvPr>
          <p:cNvSpPr/>
          <p:nvPr/>
        </p:nvSpPr>
        <p:spPr>
          <a:xfrm rot="59989">
            <a:off x="3602736" y="585216"/>
            <a:ext cx="5120640" cy="2743200"/>
          </a:xfrm>
          <a:prstGeom prst="rect">
            <a:avLst/>
          </a:pr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6" name="Shape 14">
            <a:extLst>
              <a:ext uri="{FF2B5EF4-FFF2-40B4-BE49-F238E27FC236}">
                <a16:creationId xmlns:a16="http://schemas.microsoft.com/office/drawing/2014/main" id="{65609DA9-5970-A255-4FD5-7483D2D3A276}"/>
              </a:ext>
            </a:extLst>
          </p:cNvPr>
          <p:cNvSpPr/>
          <p:nvPr/>
        </p:nvSpPr>
        <p:spPr>
          <a:xfrm rot="59989">
            <a:off x="3520439" y="502919"/>
            <a:ext cx="5120640" cy="274320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7" name="Image 0" descr="membri2col.png">
            <a:extLst>
              <a:ext uri="{FF2B5EF4-FFF2-40B4-BE49-F238E27FC236}">
                <a16:creationId xmlns:a16="http://schemas.microsoft.com/office/drawing/2014/main" id="{29BFBD5F-C36B-8F56-053C-2A45FD48FCFA}"/>
              </a:ext>
            </a:extLst>
          </p:cNvPr>
          <p:cNvPicPr>
            <a:picLocks noChangeAspect="1"/>
          </p:cNvPicPr>
          <p:nvPr/>
        </p:nvPicPr>
        <p:blipFill>
          <a:blip r:embed="rId2"/>
          <a:srcRect/>
          <a:stretch>
            <a:fillRect/>
          </a:stretch>
        </p:blipFill>
        <p:spPr>
          <a:xfrm rot="59989">
            <a:off x="3575303" y="557784"/>
            <a:ext cx="5010912" cy="2340864"/>
          </a:xfrm>
          <a:prstGeom prst="rect">
            <a:avLst/>
          </a:prstGeom>
          <a:noFill/>
          <a:ln>
            <a:noFill/>
          </a:ln>
        </p:spPr>
      </p:pic>
      <p:sp>
        <p:nvSpPr>
          <p:cNvPr id="18" name="Text 15">
            <a:extLst>
              <a:ext uri="{FF2B5EF4-FFF2-40B4-BE49-F238E27FC236}">
                <a16:creationId xmlns:a16="http://schemas.microsoft.com/office/drawing/2014/main" id="{191DF7D2-B946-5820-A2AD-5581E1EEBE06}"/>
              </a:ext>
            </a:extLst>
          </p:cNvPr>
          <p:cNvSpPr txBox="1"/>
          <p:nvPr/>
        </p:nvSpPr>
        <p:spPr>
          <a:xfrm rot="59989">
            <a:off x="3575303" y="2935223"/>
            <a:ext cx="5010912" cy="29260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1" i="0" u="none" strike="noStrike" kern="1200" cap="none" spc="0" baseline="0">
                <a:solidFill>
                  <a:srgbClr val="1700E8"/>
                </a:solidFill>
                <a:uFillTx/>
                <a:latin typeface="Space Mono" pitchFamily="34"/>
                <a:ea typeface="Space Mono" pitchFamily="34"/>
                <a:cs typeface="Space Mono" pitchFamily="34"/>
              </a:rPr>
              <a:t>brainstorming individuale · 3 post-it a testa</a:t>
            </a:r>
            <a:endParaRPr lang="en-US" sz="850" b="0" i="0" u="none" strike="noStrike" kern="1200" cap="none" spc="0" baseline="0">
              <a:solidFill>
                <a:srgbClr val="111111"/>
              </a:solidFill>
              <a:uFillTx/>
              <a:latin typeface="Space Mono"/>
              <a:ea typeface="Space Mono"/>
              <a:cs typeface="Space Mono"/>
            </a:endParaRPr>
          </a:p>
        </p:txBody>
      </p:sp>
      <p:sp>
        <p:nvSpPr>
          <p:cNvPr id="19" name="Shape 16">
            <a:extLst>
              <a:ext uri="{FF2B5EF4-FFF2-40B4-BE49-F238E27FC236}">
                <a16:creationId xmlns:a16="http://schemas.microsoft.com/office/drawing/2014/main" id="{F57A21B6-B90A-8336-7840-472B893B3A07}"/>
              </a:ext>
            </a:extLst>
          </p:cNvPr>
          <p:cNvSpPr/>
          <p:nvPr/>
        </p:nvSpPr>
        <p:spPr>
          <a:xfrm rot="21480004">
            <a:off x="5696711" y="420624"/>
            <a:ext cx="777240" cy="164592"/>
          </a:xfrm>
          <a:prstGeom prst="rect">
            <a:avLst/>
          </a:prstGeom>
          <a:solidFill>
            <a:srgbClr val="1700E8">
              <a:alpha val="75000"/>
            </a:srgbClr>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0" name="Text 17">
            <a:extLst>
              <a:ext uri="{FF2B5EF4-FFF2-40B4-BE49-F238E27FC236}">
                <a16:creationId xmlns:a16="http://schemas.microsoft.com/office/drawing/2014/main" id="{9AA76513-23C7-4A1A-F7A3-12FB97CD1E82}"/>
              </a:ext>
            </a:extLst>
          </p:cNvPr>
          <p:cNvSpPr txBox="1"/>
          <p:nvPr/>
        </p:nvSpPr>
        <p:spPr>
          <a:xfrm>
            <a:off x="3520439" y="3611879"/>
            <a:ext cx="5120640" cy="54864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1" i="0" u="none" strike="noStrike" kern="1200" cap="none" spc="0" baseline="0">
                <a:solidFill>
                  <a:srgbClr val="111111"/>
                </a:solidFill>
                <a:uFillTx/>
                <a:latin typeface="Plus Jakarta Sans" pitchFamily="34"/>
                <a:ea typeface="Plus Jakarta Sans" pitchFamily="34"/>
                <a:cs typeface="Plus Jakarta Sans" pitchFamily="34"/>
              </a:rPr>
              <a:t>Le idee deboli si sono scartate da sole: </a:t>
            </a:r>
            <a:r>
              <a:rPr lang="en-US" sz="850" b="0" i="0" u="none" strike="noStrike" kern="1200" cap="none" spc="0" baseline="0">
                <a:solidFill>
                  <a:srgbClr val="111111"/>
                </a:solidFill>
                <a:uFillTx/>
                <a:latin typeface="Plus Jakarta Sans" pitchFamily="34"/>
                <a:ea typeface="Plus Jakarta Sans" pitchFamily="34"/>
                <a:cs typeface="Plus Jakarta Sans" pitchFamily="34"/>
              </a:rPr>
              <a:t>un rilevatore automatico di foto IA o un avviso in chat sono soluzioni, non bisogni; proteggere i propri dati i ragazzi lo fanno già.</a:t>
            </a:r>
            <a:endParaRPr lang="en-US" sz="850" b="0" i="0" u="none" strike="noStrike" kern="1200" cap="none" spc="0" baseline="0">
              <a:solidFill>
                <a:srgbClr val="111111"/>
              </a:solidFill>
              <a:uFillTx/>
              <a:latin typeface="Plus Jakarta Sans"/>
              <a:ea typeface="Plus Jakarta Sans"/>
              <a:cs typeface="Plus Jakarta Sans"/>
            </a:endParaRPr>
          </a:p>
        </p:txBody>
      </p:sp>
      <p:sp>
        <p:nvSpPr>
          <p:cNvPr id="21" name="Slide Number Placeholder 0">
            <a:extLst>
              <a:ext uri="{FF2B5EF4-FFF2-40B4-BE49-F238E27FC236}">
                <a16:creationId xmlns:a16="http://schemas.microsoft.com/office/drawing/2014/main" id="{C6CD1257-8A4F-E860-AE81-34B29B8329DB}"/>
              </a:ext>
            </a:extLst>
          </p:cNvPr>
          <p:cNvSpPr txBox="1">
            <a:spLocks noGrp="1"/>
          </p:cNvSpPr>
          <p:nvPr>
            <p:ph type="sldNum" sz="quarter" idx="8"/>
          </p:nvPr>
        </p:nvSpPr>
        <p:spPr/>
        <p:txBody>
          <a:bodyPr lIns="0" tIns="0" rIns="0" bIns="0"/>
          <a:lstStyle/>
          <a:p>
            <a:pPr lvl="0"/>
            <a:fld id="{95DC4B95-9AB8-4054-B2E5-CE488F22E6A9}" type="slidenum">
              <a:rPr lang="en-US"/>
              <a:t>12</a:t>
            </a:fld>
            <a:endParaRPr lang="en-US"/>
          </a:p>
        </p:txBody>
      </p:sp>
      <p:sp>
        <p:nvSpPr>
          <p:cNvPr id="22" name="CasellaDiTesto 21">
            <a:extLst>
              <a:ext uri="{FF2B5EF4-FFF2-40B4-BE49-F238E27FC236}">
                <a16:creationId xmlns:a16="http://schemas.microsoft.com/office/drawing/2014/main" id="{50F6C2B7-6985-D685-EC56-B671D3374112}"/>
              </a:ext>
            </a:extLst>
          </p:cNvPr>
          <p:cNvSpPr txBox="1"/>
          <p:nvPr/>
        </p:nvSpPr>
        <p:spPr>
          <a:xfrm rot="167109">
            <a:off x="7505340" y="232440"/>
            <a:ext cx="2247896" cy="276999"/>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200" b="1" i="0" u="none" strike="noStrike" kern="1200" cap="none" spc="0" baseline="0">
                <a:solidFill>
                  <a:srgbClr val="1700E8"/>
                </a:solidFill>
                <a:uFillTx/>
                <a:latin typeface="Space Mono"/>
                <a:ea typeface="Space Mono"/>
                <a:cs typeface="Space Mono"/>
                <a:hlinkClick r:id="rId3">
                  <a:extLst>
                    <a:ext uri="{A12FA001-AC4F-418D-AE19-62706E023703}">
                      <ahyp:hlinkClr xmlns:ahyp="http://schemas.microsoft.com/office/drawing/2018/hyperlinkcolor" val="tx"/>
                    </a:ext>
                  </a:extLst>
                </a:hlinkClick>
              </a:rPr>
              <a:t>Board FigJam</a:t>
            </a:r>
            <a:endParaRPr lang="it-IT" sz="1200" b="1" i="0" u="none" strike="noStrike" kern="1200" cap="none" spc="0" baseline="0">
              <a:solidFill>
                <a:srgbClr val="1700E8"/>
              </a:solidFill>
              <a:uFillTx/>
              <a:latin typeface="Space Mono"/>
              <a:ea typeface="Space Mono"/>
              <a:cs typeface="Space Mono"/>
            </a:endParaRPr>
          </a:p>
        </p:txBody>
      </p:sp>
    </p:spTree>
    <p:extLst>
      <p:ext uri="{BB962C8B-B14F-4D97-AF65-F5344CB8AC3E}">
        <p14:creationId xmlns:p14="http://schemas.microsoft.com/office/powerpoint/2010/main" val="2391791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849E0EA-BEAA-4CF1-E54F-B27F5A394CDE}"/>
              </a:ext>
            </a:extLst>
          </p:cNvPr>
          <p:cNvSpPr txBox="1"/>
          <p:nvPr/>
        </p:nvSpPr>
        <p:spPr>
          <a:xfrm>
            <a:off x="502920" y="310896"/>
            <a:ext cx="411480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brainstorming bisogni su FigJam</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9598D0DC-F86A-D54D-98D4-F22FC9320065}"/>
              </a:ext>
            </a:extLst>
          </p:cNvPr>
          <p:cNvSpPr txBox="1"/>
          <p:nvPr/>
        </p:nvSpPr>
        <p:spPr>
          <a:xfrm>
            <a:off x="502920" y="502920"/>
            <a:ext cx="5486400" cy="45720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pitchFamily="34"/>
                <a:ea typeface="Space Mono"/>
                <a:cs typeface="Space Mono" pitchFamily="34"/>
              </a:rPr>
              <a:t>Votare</a:t>
            </a:r>
            <a:r>
              <a:rPr lang="en-US" sz="2600" b="1" i="0" u="none" strike="noStrike" kern="1200" cap="none" spc="0" baseline="0">
                <a:solidFill>
                  <a:srgbClr val="1700E8"/>
                </a:solidFill>
                <a:uFillTx/>
                <a:latin typeface="Space Mono"/>
                <a:ea typeface="Space Mono"/>
                <a:cs typeface="Space Mono" pitchFamily="34"/>
              </a:rPr>
              <a:t> e accorpare</a:t>
            </a:r>
            <a:endParaRPr lang="en-US" sz="26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D73781C8-21C4-3DD7-145B-A00D9D138894}"/>
              </a:ext>
            </a:extLst>
          </p:cNvPr>
          <p:cNvSpPr/>
          <p:nvPr/>
        </p:nvSpPr>
        <p:spPr>
          <a:xfrm>
            <a:off x="585216" y="1220724"/>
            <a:ext cx="8260076" cy="3268979"/>
          </a:xfrm>
          <a:prstGeom prst="rect">
            <a:avLst/>
          </a:pr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5" name="Shape 3">
            <a:extLst>
              <a:ext uri="{FF2B5EF4-FFF2-40B4-BE49-F238E27FC236}">
                <a16:creationId xmlns:a16="http://schemas.microsoft.com/office/drawing/2014/main" id="{4DA121F4-8BFB-6F25-EEC4-AC9D7540DE5C}"/>
              </a:ext>
            </a:extLst>
          </p:cNvPr>
          <p:cNvSpPr/>
          <p:nvPr/>
        </p:nvSpPr>
        <p:spPr>
          <a:xfrm>
            <a:off x="396236" y="1016511"/>
            <a:ext cx="8214356" cy="3268979"/>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Text 5">
            <a:extLst>
              <a:ext uri="{FF2B5EF4-FFF2-40B4-BE49-F238E27FC236}">
                <a16:creationId xmlns:a16="http://schemas.microsoft.com/office/drawing/2014/main" id="{BB10E986-B7D9-B6B7-FC95-F3BE9607A44C}"/>
              </a:ext>
            </a:extLst>
          </p:cNvPr>
          <p:cNvSpPr txBox="1"/>
          <p:nvPr/>
        </p:nvSpPr>
        <p:spPr>
          <a:xfrm>
            <a:off x="464816" y="4559811"/>
            <a:ext cx="128016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3 voti a testa</a:t>
            </a:r>
            <a:endParaRPr lang="en-US" sz="800" b="0" i="0" u="none" strike="noStrike" kern="1200" cap="none" spc="0" baseline="0">
              <a:solidFill>
                <a:srgbClr val="111111"/>
              </a:solidFill>
              <a:uFillTx/>
              <a:latin typeface="Space Mono"/>
              <a:ea typeface="Space Mono"/>
              <a:cs typeface="Space Mono"/>
            </a:endParaRPr>
          </a:p>
        </p:txBody>
      </p:sp>
      <p:sp>
        <p:nvSpPr>
          <p:cNvPr id="7" name="Shape 6">
            <a:extLst>
              <a:ext uri="{FF2B5EF4-FFF2-40B4-BE49-F238E27FC236}">
                <a16:creationId xmlns:a16="http://schemas.microsoft.com/office/drawing/2014/main" id="{D3A145C8-A84B-DA38-B28A-C005E3B826ED}"/>
              </a:ext>
            </a:extLst>
          </p:cNvPr>
          <p:cNvSpPr/>
          <p:nvPr/>
        </p:nvSpPr>
        <p:spPr>
          <a:xfrm>
            <a:off x="1790696" y="4559811"/>
            <a:ext cx="68580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8" name="Text 7">
            <a:extLst>
              <a:ext uri="{FF2B5EF4-FFF2-40B4-BE49-F238E27FC236}">
                <a16:creationId xmlns:a16="http://schemas.microsoft.com/office/drawing/2014/main" id="{079568F0-0D3F-243D-60F3-885C71158851}"/>
              </a:ext>
            </a:extLst>
          </p:cNvPr>
          <p:cNvSpPr txBox="1"/>
          <p:nvPr/>
        </p:nvSpPr>
        <p:spPr>
          <a:xfrm>
            <a:off x="1790696" y="4559811"/>
            <a:ext cx="68580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FFFFFF"/>
                </a:solidFill>
                <a:uFillTx/>
                <a:latin typeface="Space Mono" pitchFamily="34"/>
                <a:ea typeface="Space Mono" pitchFamily="34"/>
                <a:cs typeface="Space Mono" pitchFamily="34"/>
              </a:rPr>
              <a:t>B3+B6</a:t>
            </a:r>
            <a:endParaRPr lang="en-US" sz="750" b="0" i="0" u="none" strike="noStrike" kern="1200" cap="none" spc="0" baseline="0">
              <a:solidFill>
                <a:srgbClr val="111111"/>
              </a:solidFill>
              <a:uFillTx/>
              <a:latin typeface="Space Mono"/>
              <a:ea typeface="Space Mono"/>
              <a:cs typeface="Space Mono"/>
            </a:endParaRPr>
          </a:p>
        </p:txBody>
      </p:sp>
      <p:sp>
        <p:nvSpPr>
          <p:cNvPr id="9" name="Shape 8">
            <a:extLst>
              <a:ext uri="{FF2B5EF4-FFF2-40B4-BE49-F238E27FC236}">
                <a16:creationId xmlns:a16="http://schemas.microsoft.com/office/drawing/2014/main" id="{C089A927-49F4-59AD-79BC-959E16AA0329}"/>
              </a:ext>
            </a:extLst>
          </p:cNvPr>
          <p:cNvSpPr/>
          <p:nvPr/>
        </p:nvSpPr>
        <p:spPr>
          <a:xfrm>
            <a:off x="2567936" y="4559811"/>
            <a:ext cx="68580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0" name="Text 9">
            <a:extLst>
              <a:ext uri="{FF2B5EF4-FFF2-40B4-BE49-F238E27FC236}">
                <a16:creationId xmlns:a16="http://schemas.microsoft.com/office/drawing/2014/main" id="{63010EEB-0FD2-317D-CF55-845307B110C3}"/>
              </a:ext>
            </a:extLst>
          </p:cNvPr>
          <p:cNvSpPr txBox="1"/>
          <p:nvPr/>
        </p:nvSpPr>
        <p:spPr>
          <a:xfrm>
            <a:off x="2567936" y="4559811"/>
            <a:ext cx="68580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FFFFFF"/>
                </a:solidFill>
                <a:uFillTx/>
                <a:latin typeface="Space Mono" pitchFamily="34"/>
                <a:ea typeface="Space Mono" pitchFamily="34"/>
                <a:cs typeface="Space Mono" pitchFamily="34"/>
              </a:rPr>
              <a:t>B4+B9</a:t>
            </a:r>
            <a:endParaRPr lang="en-US" sz="750" b="0" i="0" u="none" strike="noStrike" kern="1200" cap="none" spc="0" baseline="0">
              <a:solidFill>
                <a:srgbClr val="111111"/>
              </a:solidFill>
              <a:uFillTx/>
              <a:latin typeface="Space Mono"/>
              <a:ea typeface="Space Mono"/>
              <a:cs typeface="Space Mono"/>
            </a:endParaRPr>
          </a:p>
        </p:txBody>
      </p:sp>
      <p:sp>
        <p:nvSpPr>
          <p:cNvPr id="11" name="Shape 10">
            <a:extLst>
              <a:ext uri="{FF2B5EF4-FFF2-40B4-BE49-F238E27FC236}">
                <a16:creationId xmlns:a16="http://schemas.microsoft.com/office/drawing/2014/main" id="{1872C2EA-0E9F-98A9-7371-7CF930369C23}"/>
              </a:ext>
            </a:extLst>
          </p:cNvPr>
          <p:cNvSpPr/>
          <p:nvPr/>
        </p:nvSpPr>
        <p:spPr>
          <a:xfrm>
            <a:off x="3345176" y="4559811"/>
            <a:ext cx="68580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2" name="Text 11">
            <a:extLst>
              <a:ext uri="{FF2B5EF4-FFF2-40B4-BE49-F238E27FC236}">
                <a16:creationId xmlns:a16="http://schemas.microsoft.com/office/drawing/2014/main" id="{00C1B58F-8857-2C56-E7F0-F04E975567C3}"/>
              </a:ext>
            </a:extLst>
          </p:cNvPr>
          <p:cNvSpPr txBox="1"/>
          <p:nvPr/>
        </p:nvSpPr>
        <p:spPr>
          <a:xfrm>
            <a:off x="3345176" y="4559811"/>
            <a:ext cx="68580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FFFFFF"/>
                </a:solidFill>
                <a:uFillTx/>
                <a:latin typeface="Space Mono" pitchFamily="34"/>
                <a:ea typeface="Space Mono" pitchFamily="34"/>
                <a:cs typeface="Space Mono" pitchFamily="34"/>
              </a:rPr>
              <a:t>B5+B7</a:t>
            </a:r>
            <a:endParaRPr lang="en-US" sz="750" b="0" i="0" u="none" strike="noStrike" kern="1200" cap="none" spc="0" baseline="0">
              <a:solidFill>
                <a:srgbClr val="111111"/>
              </a:solidFill>
              <a:uFillTx/>
              <a:latin typeface="Space Mono"/>
              <a:ea typeface="Space Mono"/>
              <a:cs typeface="Space Mono"/>
            </a:endParaRPr>
          </a:p>
        </p:txBody>
      </p:sp>
      <p:sp>
        <p:nvSpPr>
          <p:cNvPr id="13" name="Text 12">
            <a:extLst>
              <a:ext uri="{FF2B5EF4-FFF2-40B4-BE49-F238E27FC236}">
                <a16:creationId xmlns:a16="http://schemas.microsoft.com/office/drawing/2014/main" id="{3C6B7069-C86F-0D27-E914-97DC74776C39}"/>
              </a:ext>
            </a:extLst>
          </p:cNvPr>
          <p:cNvSpPr txBox="1"/>
          <p:nvPr/>
        </p:nvSpPr>
        <p:spPr>
          <a:xfrm>
            <a:off x="4094984" y="4559811"/>
            <a:ext cx="822960" cy="20116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pitchFamily="34"/>
                <a:ea typeface="Plus Jakarta Sans" pitchFamily="34"/>
                <a:cs typeface="Plus Jakarta Sans" pitchFamily="34"/>
              </a:rPr>
              <a:t>principali</a:t>
            </a:r>
            <a:endParaRPr lang="en-US" sz="800" b="0" i="0" u="none" strike="noStrike" kern="1200" cap="none" spc="0" baseline="0">
              <a:solidFill>
                <a:srgbClr val="111111"/>
              </a:solidFill>
              <a:uFillTx/>
              <a:latin typeface="Plus Jakarta Sans"/>
              <a:ea typeface="Plus Jakarta Sans"/>
              <a:cs typeface="Plus Jakarta Sans"/>
            </a:endParaRPr>
          </a:p>
        </p:txBody>
      </p:sp>
      <p:sp>
        <p:nvSpPr>
          <p:cNvPr id="14" name="Shape 13">
            <a:extLst>
              <a:ext uri="{FF2B5EF4-FFF2-40B4-BE49-F238E27FC236}">
                <a16:creationId xmlns:a16="http://schemas.microsoft.com/office/drawing/2014/main" id="{AFC77DEE-7432-DCC4-77D7-5F1BF1EBAF18}"/>
              </a:ext>
            </a:extLst>
          </p:cNvPr>
          <p:cNvSpPr/>
          <p:nvPr/>
        </p:nvSpPr>
        <p:spPr>
          <a:xfrm>
            <a:off x="4945376" y="4559811"/>
            <a:ext cx="68580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5" name="Text 14">
            <a:extLst>
              <a:ext uri="{FF2B5EF4-FFF2-40B4-BE49-F238E27FC236}">
                <a16:creationId xmlns:a16="http://schemas.microsoft.com/office/drawing/2014/main" id="{101AFC1C-39A2-61D5-8716-5C0B30B45F5A}"/>
              </a:ext>
            </a:extLst>
          </p:cNvPr>
          <p:cNvSpPr txBox="1"/>
          <p:nvPr/>
        </p:nvSpPr>
        <p:spPr>
          <a:xfrm>
            <a:off x="4945376" y="4559811"/>
            <a:ext cx="68580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1700E8"/>
                </a:solidFill>
                <a:uFillTx/>
                <a:latin typeface="Space Mono" pitchFamily="34"/>
                <a:ea typeface="Space Mono" pitchFamily="34"/>
                <a:cs typeface="Space Mono" pitchFamily="34"/>
              </a:rPr>
              <a:t>B1 · B2</a:t>
            </a:r>
            <a:endParaRPr lang="en-US" sz="750" b="0" i="0" u="none" strike="noStrike" kern="1200" cap="none" spc="0" baseline="0">
              <a:solidFill>
                <a:srgbClr val="111111"/>
              </a:solidFill>
              <a:uFillTx/>
              <a:latin typeface="Space Mono"/>
              <a:ea typeface="Space Mono"/>
              <a:cs typeface="Space Mono"/>
            </a:endParaRPr>
          </a:p>
        </p:txBody>
      </p:sp>
      <p:sp>
        <p:nvSpPr>
          <p:cNvPr id="16" name="Text 15">
            <a:extLst>
              <a:ext uri="{FF2B5EF4-FFF2-40B4-BE49-F238E27FC236}">
                <a16:creationId xmlns:a16="http://schemas.microsoft.com/office/drawing/2014/main" id="{7A4C614D-F281-D1FF-6666-95E756AD6DFD}"/>
              </a:ext>
            </a:extLst>
          </p:cNvPr>
          <p:cNvSpPr txBox="1"/>
          <p:nvPr/>
        </p:nvSpPr>
        <p:spPr>
          <a:xfrm>
            <a:off x="5704328" y="4559811"/>
            <a:ext cx="1234440" cy="20116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pitchFamily="34"/>
                <a:ea typeface="Plus Jakarta Sans" pitchFamily="34"/>
                <a:cs typeface="Plus Jakarta Sans" pitchFamily="34"/>
              </a:rPr>
              <a:t>requisiti trasversali</a:t>
            </a:r>
            <a:endParaRPr lang="en-US" sz="800" b="0" i="0" u="none" strike="noStrike" kern="1200" cap="none" spc="0" baseline="0">
              <a:solidFill>
                <a:srgbClr val="111111"/>
              </a:solidFill>
              <a:uFillTx/>
              <a:latin typeface="Plus Jakarta Sans"/>
              <a:ea typeface="Plus Jakarta Sans"/>
              <a:cs typeface="Plus Jakarta Sans"/>
            </a:endParaRPr>
          </a:p>
        </p:txBody>
      </p:sp>
      <p:sp>
        <p:nvSpPr>
          <p:cNvPr id="17" name="Shape 16">
            <a:extLst>
              <a:ext uri="{FF2B5EF4-FFF2-40B4-BE49-F238E27FC236}">
                <a16:creationId xmlns:a16="http://schemas.microsoft.com/office/drawing/2014/main" id="{08EAEAFC-ED0A-6A06-E419-461ED4245D77}"/>
              </a:ext>
            </a:extLst>
          </p:cNvPr>
          <p:cNvSpPr/>
          <p:nvPr/>
        </p:nvSpPr>
        <p:spPr>
          <a:xfrm>
            <a:off x="7002776" y="4559811"/>
            <a:ext cx="41148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8" name="Text 17">
            <a:extLst>
              <a:ext uri="{FF2B5EF4-FFF2-40B4-BE49-F238E27FC236}">
                <a16:creationId xmlns:a16="http://schemas.microsoft.com/office/drawing/2014/main" id="{808FD79D-CFD4-A0CA-1DBC-7B4A196B5410}"/>
              </a:ext>
            </a:extLst>
          </p:cNvPr>
          <p:cNvSpPr txBox="1"/>
          <p:nvPr/>
        </p:nvSpPr>
        <p:spPr>
          <a:xfrm>
            <a:off x="7002776" y="4559811"/>
            <a:ext cx="41148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E71224"/>
                </a:solidFill>
                <a:uFillTx/>
                <a:latin typeface="Space Mono" pitchFamily="34"/>
                <a:ea typeface="Space Mono" pitchFamily="34"/>
                <a:cs typeface="Space Mono" pitchFamily="34"/>
              </a:rPr>
              <a:t>B8</a:t>
            </a:r>
            <a:endParaRPr lang="en-US" sz="750" b="0" i="0" u="none" strike="noStrike" kern="1200" cap="none" spc="0" baseline="0">
              <a:solidFill>
                <a:srgbClr val="111111"/>
              </a:solidFill>
              <a:uFillTx/>
              <a:latin typeface="Space Mono"/>
              <a:ea typeface="Space Mono"/>
              <a:cs typeface="Space Mono"/>
            </a:endParaRPr>
          </a:p>
        </p:txBody>
      </p:sp>
      <p:sp>
        <p:nvSpPr>
          <p:cNvPr id="19" name="Text 18">
            <a:extLst>
              <a:ext uri="{FF2B5EF4-FFF2-40B4-BE49-F238E27FC236}">
                <a16:creationId xmlns:a16="http://schemas.microsoft.com/office/drawing/2014/main" id="{205FFD84-07F0-0075-4944-14DD3334C697}"/>
              </a:ext>
            </a:extLst>
          </p:cNvPr>
          <p:cNvSpPr txBox="1"/>
          <p:nvPr/>
        </p:nvSpPr>
        <p:spPr>
          <a:xfrm>
            <a:off x="7478264" y="4559811"/>
            <a:ext cx="1097280" cy="201168"/>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pitchFamily="34"/>
                <a:ea typeface="Plus Jakarta Sans" pitchFamily="34"/>
                <a:cs typeface="Plus Jakarta Sans" pitchFamily="34"/>
              </a:rPr>
              <a:t>da approfondire</a:t>
            </a:r>
            <a:endParaRPr lang="en-US" sz="800" b="0" i="0" u="none" strike="noStrike" kern="1200" cap="none" spc="0" baseline="0">
              <a:solidFill>
                <a:srgbClr val="111111"/>
              </a:solidFill>
              <a:uFillTx/>
              <a:latin typeface="Plus Jakarta Sans"/>
              <a:ea typeface="Plus Jakarta Sans"/>
              <a:cs typeface="Plus Jakarta Sans"/>
            </a:endParaRPr>
          </a:p>
        </p:txBody>
      </p:sp>
      <p:sp>
        <p:nvSpPr>
          <p:cNvPr id="20" name="Slide Number Placeholder 0">
            <a:extLst>
              <a:ext uri="{FF2B5EF4-FFF2-40B4-BE49-F238E27FC236}">
                <a16:creationId xmlns:a16="http://schemas.microsoft.com/office/drawing/2014/main" id="{EA116129-7D07-1EE0-22C9-B9A43D82E53E}"/>
              </a:ext>
            </a:extLst>
          </p:cNvPr>
          <p:cNvSpPr txBox="1">
            <a:spLocks noGrp="1"/>
          </p:cNvSpPr>
          <p:nvPr>
            <p:ph type="sldNum" sz="quarter" idx="8"/>
          </p:nvPr>
        </p:nvSpPr>
        <p:spPr/>
        <p:txBody>
          <a:bodyPr lIns="0" tIns="0" rIns="0" bIns="0"/>
          <a:lstStyle/>
          <a:p>
            <a:pPr lvl="0"/>
            <a:fld id="{FB459C4D-22A5-4E35-AE5F-1DC50EE30D7D}" type="slidenum">
              <a:t>13</a:t>
            </a:fld>
            <a:endParaRPr lang="en-US"/>
          </a:p>
        </p:txBody>
      </p:sp>
      <p:sp>
        <p:nvSpPr>
          <p:cNvPr id="21" name="CasellaDiTesto 22">
            <a:extLst>
              <a:ext uri="{FF2B5EF4-FFF2-40B4-BE49-F238E27FC236}">
                <a16:creationId xmlns:a16="http://schemas.microsoft.com/office/drawing/2014/main" id="{C201EC14-0101-44A8-A97B-7A7FA693A972}"/>
              </a:ext>
            </a:extLst>
          </p:cNvPr>
          <p:cNvSpPr txBox="1"/>
          <p:nvPr/>
        </p:nvSpPr>
        <p:spPr>
          <a:xfrm>
            <a:off x="7208516" y="579153"/>
            <a:ext cx="2247896"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400" b="1" i="0" u="none" strike="noStrike" kern="1200" cap="none" spc="0" baseline="0">
                <a:solidFill>
                  <a:srgbClr val="1700E8"/>
                </a:solidFill>
                <a:uFillTx/>
                <a:latin typeface="Space Mono"/>
                <a:ea typeface="Space Mono"/>
                <a:cs typeface="Space Mono"/>
                <a:hlinkClick r:id="rId2">
                  <a:extLst>
                    <a:ext uri="{A12FA001-AC4F-418D-AE19-62706E023703}">
                      <ahyp:hlinkClr xmlns:ahyp="http://schemas.microsoft.com/office/drawing/2018/hyperlinkcolor" val="tx"/>
                    </a:ext>
                  </a:extLst>
                </a:hlinkClick>
              </a:rPr>
              <a:t>Board FigJam</a:t>
            </a:r>
            <a:endParaRPr lang="it-IT" sz="1400" b="1" i="0" u="none" strike="noStrike" kern="1200" cap="none" spc="0" baseline="0">
              <a:solidFill>
                <a:srgbClr val="1700E8"/>
              </a:solidFill>
              <a:uFillTx/>
              <a:latin typeface="Space Mono"/>
              <a:ea typeface="Space Mono"/>
              <a:cs typeface="Space Mono"/>
            </a:endParaRPr>
          </a:p>
        </p:txBody>
      </p:sp>
      <p:pic>
        <p:nvPicPr>
          <p:cNvPr id="22" name="Immagine 25">
            <a:extLst>
              <a:ext uri="{FF2B5EF4-FFF2-40B4-BE49-F238E27FC236}">
                <a16:creationId xmlns:a16="http://schemas.microsoft.com/office/drawing/2014/main" id="{EF57FF98-2D98-9DA1-A685-132AE8E582EE}"/>
              </a:ext>
            </a:extLst>
          </p:cNvPr>
          <p:cNvPicPr>
            <a:picLocks noChangeAspect="1"/>
          </p:cNvPicPr>
          <p:nvPr/>
        </p:nvPicPr>
        <p:blipFill>
          <a:blip r:embed="rId3"/>
          <a:stretch>
            <a:fillRect/>
          </a:stretch>
        </p:blipFill>
        <p:spPr>
          <a:xfrm>
            <a:off x="396236" y="1039764"/>
            <a:ext cx="8221983" cy="3178280"/>
          </a:xfrm>
          <a:prstGeom prst="rect">
            <a:avLst/>
          </a:prstGeom>
          <a:noFill/>
          <a:ln>
            <a:noFill/>
          </a:ln>
        </p:spPr>
      </p:pic>
    </p:spTree>
    <p:extLst>
      <p:ext uri="{BB962C8B-B14F-4D97-AF65-F5344CB8AC3E}">
        <p14:creationId xmlns:p14="http://schemas.microsoft.com/office/powerpoint/2010/main" val="111697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27E00D3-DD30-DB06-C15C-AEA6573146D8}"/>
              </a:ext>
            </a:extLst>
          </p:cNvPr>
          <p:cNvSpPr txBox="1"/>
          <p:nvPr/>
        </p:nvSpPr>
        <p:spPr>
          <a:xfrm>
            <a:off x="274320" y="109728"/>
            <a:ext cx="3657600" cy="18288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3202B"/>
                </a:solidFill>
                <a:uFillTx/>
                <a:latin typeface="Space Mono" pitchFamily="34"/>
                <a:ea typeface="Space Mono" pitchFamily="34"/>
                <a:cs typeface="Space Mono" pitchFamily="34"/>
              </a:rPr>
              <a:t>dopo gli accorpamenti</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FE4A38D3-3158-D75B-4C60-440B379B497F}"/>
              </a:ext>
            </a:extLst>
          </p:cNvPr>
          <p:cNvSpPr txBox="1"/>
          <p:nvPr/>
        </p:nvSpPr>
        <p:spPr>
          <a:xfrm>
            <a:off x="274320" y="274320"/>
            <a:ext cx="7315200" cy="54864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000" b="1" i="0" u="none" strike="noStrike" kern="1200" cap="none" spc="0" baseline="0">
                <a:solidFill>
                  <a:srgbClr val="1C14E6"/>
                </a:solidFill>
                <a:uFillTx/>
                <a:latin typeface="Space Mono" pitchFamily="34"/>
                <a:ea typeface="Space Mono" pitchFamily="34"/>
                <a:cs typeface="Space Mono" pitchFamily="34"/>
              </a:rPr>
              <a:t>I bisogni definitivi</a:t>
            </a:r>
            <a:endParaRPr lang="en-US" sz="30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0B9D5A8E-78CB-7D7E-6585-E189C8076263}"/>
              </a:ext>
            </a:extLst>
          </p:cNvPr>
          <p:cNvSpPr/>
          <p:nvPr/>
        </p:nvSpPr>
        <p:spPr>
          <a:xfrm>
            <a:off x="347472" y="1033272"/>
            <a:ext cx="2011680" cy="2971800"/>
          </a:xfrm>
          <a:prstGeom prst="rect">
            <a:avLst/>
          </a:prstGeom>
          <a:solidFill>
            <a:srgbClr val="DCDAFB"/>
          </a:solidFill>
          <a:ln w="12701">
            <a:solidFill>
              <a:srgbClr val="DCDAFB"/>
            </a:solidFill>
            <a:prstDash val="solid"/>
          </a:ln>
        </p:spPr>
        <p:txBody>
          <a:bodyPr lIns="0" tIns="0" rIns="0" bIns="0"/>
          <a:lstStyle/>
          <a:p>
            <a:endParaRPr lang="it-IT"/>
          </a:p>
        </p:txBody>
      </p:sp>
      <p:sp>
        <p:nvSpPr>
          <p:cNvPr id="5" name="Shape 3">
            <a:extLst>
              <a:ext uri="{FF2B5EF4-FFF2-40B4-BE49-F238E27FC236}">
                <a16:creationId xmlns:a16="http://schemas.microsoft.com/office/drawing/2014/main" id="{71E9320E-BF81-FEE1-CEDB-52E89DAB13BB}"/>
              </a:ext>
            </a:extLst>
          </p:cNvPr>
          <p:cNvSpPr/>
          <p:nvPr/>
        </p:nvSpPr>
        <p:spPr>
          <a:xfrm>
            <a:off x="274320" y="960120"/>
            <a:ext cx="2011680" cy="2971800"/>
          </a:xfrm>
          <a:prstGeom prst="rect">
            <a:avLst/>
          </a:prstGeom>
          <a:solidFill>
            <a:srgbClr val="FFFFFF"/>
          </a:solidFill>
          <a:ln w="15873">
            <a:solidFill>
              <a:srgbClr val="111111"/>
            </a:solidFill>
            <a:prstDash val="solid"/>
          </a:ln>
        </p:spPr>
        <p:txBody>
          <a:bodyPr lIns="0" tIns="0" rIns="0" bIns="0"/>
          <a:lstStyle/>
          <a:p>
            <a:endParaRPr lang="it-IT"/>
          </a:p>
        </p:txBody>
      </p:sp>
      <p:sp>
        <p:nvSpPr>
          <p:cNvPr id="6" name="Shape 4">
            <a:extLst>
              <a:ext uri="{FF2B5EF4-FFF2-40B4-BE49-F238E27FC236}">
                <a16:creationId xmlns:a16="http://schemas.microsoft.com/office/drawing/2014/main" id="{54037F42-4BF9-4229-C538-2299D3BC5642}"/>
              </a:ext>
            </a:extLst>
          </p:cNvPr>
          <p:cNvSpPr/>
          <p:nvPr/>
        </p:nvSpPr>
        <p:spPr>
          <a:xfrm>
            <a:off x="411480" y="1097280"/>
            <a:ext cx="777240"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C14E6"/>
            </a:solidFill>
            <a:prstDash val="solid"/>
          </a:ln>
        </p:spPr>
        <p:txBody>
          <a:bodyPr lIns="0" tIns="0" rIns="0" bIns="0"/>
          <a:lstStyle/>
          <a:p>
            <a:endParaRPr lang="it-IT"/>
          </a:p>
        </p:txBody>
      </p:sp>
      <p:sp>
        <p:nvSpPr>
          <p:cNvPr id="7" name="Text 5">
            <a:extLst>
              <a:ext uri="{FF2B5EF4-FFF2-40B4-BE49-F238E27FC236}">
                <a16:creationId xmlns:a16="http://schemas.microsoft.com/office/drawing/2014/main" id="{4649A91C-02AD-8C29-DC5C-6AEFC7550D9E}"/>
              </a:ext>
            </a:extLst>
          </p:cNvPr>
          <p:cNvSpPr txBox="1"/>
          <p:nvPr/>
        </p:nvSpPr>
        <p:spPr>
          <a:xfrm>
            <a:off x="411480" y="1097280"/>
            <a:ext cx="777240"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B3+B6</a:t>
            </a:r>
            <a:endParaRPr lang="en-US" sz="800" b="0" i="0" u="none" strike="noStrike" kern="1200" cap="none" spc="0" baseline="0">
              <a:solidFill>
                <a:srgbClr val="111111"/>
              </a:solidFill>
              <a:uFillTx/>
              <a:latin typeface="Space Mono"/>
              <a:ea typeface="Space Mono"/>
              <a:cs typeface="Space Mono"/>
            </a:endParaRPr>
          </a:p>
        </p:txBody>
      </p:sp>
      <p:sp>
        <p:nvSpPr>
          <p:cNvPr id="8" name="Text 6">
            <a:extLst>
              <a:ext uri="{FF2B5EF4-FFF2-40B4-BE49-F238E27FC236}">
                <a16:creationId xmlns:a16="http://schemas.microsoft.com/office/drawing/2014/main" id="{F2381F33-F3A8-1640-1093-38C2340D7931}"/>
              </a:ext>
            </a:extLst>
          </p:cNvPr>
          <p:cNvSpPr txBox="1"/>
          <p:nvPr/>
        </p:nvSpPr>
        <p:spPr>
          <a:xfrm>
            <a:off x="411480" y="1417320"/>
            <a:ext cx="1737360" cy="73152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C14E6"/>
                </a:solidFill>
                <a:uFillTx/>
                <a:latin typeface="Space Mono" pitchFamily="34"/>
                <a:ea typeface="Space Mono" pitchFamily="34"/>
                <a:cs typeface="Space Mono" pitchFamily="34"/>
              </a:rPr>
              <a:t>Capire chi c'è davvero dall'altra parte</a:t>
            </a:r>
            <a:endParaRPr lang="en-US" sz="1000" b="0" i="0" u="none" strike="noStrike" kern="1200" cap="none" spc="0" baseline="0">
              <a:solidFill>
                <a:srgbClr val="111111"/>
              </a:solidFill>
              <a:uFillTx/>
              <a:latin typeface="Space Mono"/>
              <a:ea typeface="Space Mono"/>
              <a:cs typeface="Space Mono"/>
            </a:endParaRPr>
          </a:p>
        </p:txBody>
      </p:sp>
      <p:sp>
        <p:nvSpPr>
          <p:cNvPr id="9" name="Text 7">
            <a:extLst>
              <a:ext uri="{FF2B5EF4-FFF2-40B4-BE49-F238E27FC236}">
                <a16:creationId xmlns:a16="http://schemas.microsoft.com/office/drawing/2014/main" id="{EABD3EA4-437D-9892-6FEE-C8533C2672CD}"/>
              </a:ext>
            </a:extLst>
          </p:cNvPr>
          <p:cNvSpPr txBox="1"/>
          <p:nvPr/>
        </p:nvSpPr>
        <p:spPr>
          <a:xfrm>
            <a:off x="411480" y="2194560"/>
            <a:ext cx="1737360" cy="1325880"/>
          </a:xfrm>
          <a:prstGeom prst="rect">
            <a:avLst/>
          </a:prstGeom>
          <a:noFill/>
          <a:ln>
            <a:noFill/>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si fidano per amici in comune, storie, «l'ho visto a scuola»</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«se lo conosco da un po' ci può stare»: nessuno chiede prove</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i segnali graduali si notano solo a fine chat</a:t>
            </a:r>
          </a:p>
        </p:txBody>
      </p:sp>
      <p:sp>
        <p:nvSpPr>
          <p:cNvPr id="10" name="Text 8">
            <a:extLst>
              <a:ext uri="{FF2B5EF4-FFF2-40B4-BE49-F238E27FC236}">
                <a16:creationId xmlns:a16="http://schemas.microsoft.com/office/drawing/2014/main" id="{6B0F3F6E-AF5B-8B74-03DB-DD31587D4674}"/>
              </a:ext>
            </a:extLst>
          </p:cNvPr>
          <p:cNvSpPr txBox="1"/>
          <p:nvPr/>
        </p:nvSpPr>
        <p:spPr>
          <a:xfrm>
            <a:off x="411480" y="3611879"/>
            <a:ext cx="173736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3202B"/>
                </a:solidFill>
                <a:uFillTx/>
                <a:latin typeface="Space Mono"/>
                <a:ea typeface="Space Mono"/>
                <a:cs typeface="Space Mono" pitchFamily="34"/>
              </a:rPr>
              <a:t>persona → Sofia</a:t>
            </a:r>
            <a:endParaRPr lang="en-US" sz="800" b="0" i="0" u="none" strike="noStrike" kern="1200" cap="none" spc="0" baseline="0">
              <a:solidFill>
                <a:srgbClr val="111111"/>
              </a:solidFill>
              <a:uFillTx/>
              <a:latin typeface="Space Mono"/>
              <a:ea typeface="Space Mono"/>
              <a:cs typeface="Space Mono"/>
            </a:endParaRPr>
          </a:p>
        </p:txBody>
      </p:sp>
      <p:sp>
        <p:nvSpPr>
          <p:cNvPr id="11" name="Shape 9">
            <a:extLst>
              <a:ext uri="{FF2B5EF4-FFF2-40B4-BE49-F238E27FC236}">
                <a16:creationId xmlns:a16="http://schemas.microsoft.com/office/drawing/2014/main" id="{B0A7276D-DFF8-BC3B-4478-E8D6294EA437}"/>
              </a:ext>
            </a:extLst>
          </p:cNvPr>
          <p:cNvSpPr/>
          <p:nvPr/>
        </p:nvSpPr>
        <p:spPr>
          <a:xfrm>
            <a:off x="2478024" y="1033272"/>
            <a:ext cx="2011680" cy="2971800"/>
          </a:xfrm>
          <a:prstGeom prst="rect">
            <a:avLst/>
          </a:prstGeom>
          <a:solidFill>
            <a:srgbClr val="111111"/>
          </a:solidFill>
          <a:ln w="12701">
            <a:solidFill>
              <a:srgbClr val="111111"/>
            </a:solidFill>
            <a:prstDash val="solid"/>
          </a:ln>
        </p:spPr>
        <p:txBody>
          <a:bodyPr lIns="0" tIns="0" rIns="0" bIns="0"/>
          <a:lstStyle/>
          <a:p>
            <a:endParaRPr lang="it-IT"/>
          </a:p>
        </p:txBody>
      </p:sp>
      <p:sp>
        <p:nvSpPr>
          <p:cNvPr id="12" name="Shape 10">
            <a:extLst>
              <a:ext uri="{FF2B5EF4-FFF2-40B4-BE49-F238E27FC236}">
                <a16:creationId xmlns:a16="http://schemas.microsoft.com/office/drawing/2014/main" id="{3A2D01D1-2800-542C-452E-4B4ED212CB06}"/>
              </a:ext>
            </a:extLst>
          </p:cNvPr>
          <p:cNvSpPr/>
          <p:nvPr/>
        </p:nvSpPr>
        <p:spPr>
          <a:xfrm>
            <a:off x="2404872" y="960120"/>
            <a:ext cx="2011680" cy="2971800"/>
          </a:xfrm>
          <a:prstGeom prst="rect">
            <a:avLst/>
          </a:prstGeom>
          <a:solidFill>
            <a:srgbClr val="1C14E6"/>
          </a:solidFill>
          <a:ln w="15873">
            <a:solidFill>
              <a:srgbClr val="111111"/>
            </a:solidFill>
            <a:prstDash val="solid"/>
          </a:ln>
        </p:spPr>
        <p:txBody>
          <a:bodyPr lIns="0" tIns="0" rIns="0" bIns="0"/>
          <a:lstStyle/>
          <a:p>
            <a:endParaRPr lang="it-IT"/>
          </a:p>
        </p:txBody>
      </p:sp>
      <p:sp>
        <p:nvSpPr>
          <p:cNvPr id="13" name="Shape 11">
            <a:extLst>
              <a:ext uri="{FF2B5EF4-FFF2-40B4-BE49-F238E27FC236}">
                <a16:creationId xmlns:a16="http://schemas.microsoft.com/office/drawing/2014/main" id="{3D571D60-544B-EE47-1014-730D31A95F88}"/>
              </a:ext>
            </a:extLst>
          </p:cNvPr>
          <p:cNvSpPr/>
          <p:nvPr/>
        </p:nvSpPr>
        <p:spPr>
          <a:xfrm>
            <a:off x="2542032" y="1097280"/>
            <a:ext cx="777240"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a:solidFill>
              <a:srgbClr val="FFFFFF"/>
            </a:solidFill>
            <a:prstDash val="solid"/>
          </a:ln>
        </p:spPr>
        <p:txBody>
          <a:bodyPr lIns="0" tIns="0" rIns="0" bIns="0"/>
          <a:lstStyle/>
          <a:p>
            <a:endParaRPr lang="it-IT"/>
          </a:p>
        </p:txBody>
      </p:sp>
      <p:sp>
        <p:nvSpPr>
          <p:cNvPr id="14" name="Text 12">
            <a:extLst>
              <a:ext uri="{FF2B5EF4-FFF2-40B4-BE49-F238E27FC236}">
                <a16:creationId xmlns:a16="http://schemas.microsoft.com/office/drawing/2014/main" id="{99F9FF98-5C4C-8CEF-AD09-5DB15572F298}"/>
              </a:ext>
            </a:extLst>
          </p:cNvPr>
          <p:cNvSpPr txBox="1"/>
          <p:nvPr/>
        </p:nvSpPr>
        <p:spPr>
          <a:xfrm>
            <a:off x="2542032" y="1097280"/>
            <a:ext cx="777240"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1C14E6"/>
                </a:solidFill>
                <a:uFillTx/>
                <a:latin typeface="Space Mono" pitchFamily="34"/>
                <a:ea typeface="Space Mono" pitchFamily="34"/>
                <a:cs typeface="Space Mono" pitchFamily="34"/>
              </a:rPr>
              <a:t>B4+B9</a:t>
            </a:r>
            <a:endParaRPr lang="en-US" sz="800" b="0" i="0" u="none" strike="noStrike" kern="1200" cap="none" spc="0" baseline="0">
              <a:solidFill>
                <a:srgbClr val="111111"/>
              </a:solidFill>
              <a:uFillTx/>
              <a:latin typeface="Space Mono"/>
              <a:ea typeface="Space Mono"/>
              <a:cs typeface="Space Mono"/>
            </a:endParaRPr>
          </a:p>
        </p:txBody>
      </p:sp>
      <p:sp>
        <p:nvSpPr>
          <p:cNvPr id="15" name="Text 13">
            <a:extLst>
              <a:ext uri="{FF2B5EF4-FFF2-40B4-BE49-F238E27FC236}">
                <a16:creationId xmlns:a16="http://schemas.microsoft.com/office/drawing/2014/main" id="{6CD17026-6DF9-FCBC-9FE9-0DCEB51AEB70}"/>
              </a:ext>
            </a:extLst>
          </p:cNvPr>
          <p:cNvSpPr txBox="1"/>
          <p:nvPr/>
        </p:nvSpPr>
        <p:spPr>
          <a:xfrm>
            <a:off x="2542032" y="1417320"/>
            <a:ext cx="1737360" cy="73152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Space Mono" pitchFamily="34"/>
                <a:ea typeface="Space Mono" pitchFamily="34"/>
                <a:cs typeface="Space Mono" pitchFamily="34"/>
              </a:rPr>
              <a:t>Avere un'idea realistica di quanto si è capaci di riconoscere un falso</a:t>
            </a:r>
            <a:endParaRPr lang="en-US" sz="1000" b="0" i="0" u="none" strike="noStrike" kern="1200" cap="none" spc="0" baseline="0">
              <a:solidFill>
                <a:srgbClr val="111111"/>
              </a:solidFill>
              <a:uFillTx/>
              <a:latin typeface="Space Mono"/>
              <a:ea typeface="Space Mono"/>
              <a:cs typeface="Space Mono"/>
            </a:endParaRPr>
          </a:p>
        </p:txBody>
      </p:sp>
      <p:sp>
        <p:nvSpPr>
          <p:cNvPr id="16" name="Text 14">
            <a:extLst>
              <a:ext uri="{FF2B5EF4-FFF2-40B4-BE49-F238E27FC236}">
                <a16:creationId xmlns:a16="http://schemas.microsoft.com/office/drawing/2014/main" id="{CEE6B51C-5EA0-7339-50C8-703DA80092A1}"/>
              </a:ext>
            </a:extLst>
          </p:cNvPr>
          <p:cNvSpPr txBox="1"/>
          <p:nvPr/>
        </p:nvSpPr>
        <p:spPr>
          <a:xfrm>
            <a:off x="2542032" y="2194560"/>
            <a:ext cx="1737360" cy="1325880"/>
          </a:xfrm>
          <a:prstGeom prst="rect">
            <a:avLst/>
          </a:prstGeom>
          <a:noFill/>
          <a:ln>
            <a:noFill/>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6,6/10 dichiarato, 53% al livello 4</a:t>
            </a:r>
            <a:endParaRPr lang="en-US" sz="900" b="0" i="0" u="none" strike="noStrike" kern="1200" cap="none" spc="0" baseline="0">
              <a:solidFill>
                <a:srgbClr val="111111"/>
              </a:solidFill>
              <a:uFillTx/>
              <a:latin typeface="Plus Jakarta Sans"/>
              <a:ea typeface="Plus Jakarta Sans"/>
              <a:cs typeface="Plus Jakarta Sans"/>
            </a:endParaRP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confondono filtro, ritocco e generazione</a:t>
            </a:r>
            <a:endParaRPr lang="en-US" sz="900" b="0" i="0" u="none" strike="noStrike" kern="1200" cap="none" spc="0" baseline="0">
              <a:solidFill>
                <a:srgbClr val="111111"/>
              </a:solidFill>
              <a:uFillTx/>
              <a:latin typeface="Plus Jakarta Sans"/>
              <a:ea typeface="Plus Jakarta Sans"/>
              <a:cs typeface="Plus Jakarta Sans"/>
            </a:endParaRP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«alle volte è molto facile cadere nelle trappole dell'IA» (Tontony)</a:t>
            </a:r>
            <a:endParaRPr lang="en-US" sz="900" b="0" i="0" u="none" strike="noStrike" kern="1200" cap="none" spc="0" baseline="0">
              <a:solidFill>
                <a:srgbClr val="111111"/>
              </a:solidFill>
              <a:uFillTx/>
              <a:latin typeface="Plus Jakarta Sans"/>
              <a:ea typeface="Plus Jakarta Sans"/>
              <a:cs typeface="Plus Jakarta Sans"/>
            </a:endParaRPr>
          </a:p>
        </p:txBody>
      </p:sp>
      <p:sp>
        <p:nvSpPr>
          <p:cNvPr id="17" name="Text 15">
            <a:extLst>
              <a:ext uri="{FF2B5EF4-FFF2-40B4-BE49-F238E27FC236}">
                <a16:creationId xmlns:a16="http://schemas.microsoft.com/office/drawing/2014/main" id="{39EB9CB8-51A5-8195-A5E7-B450CA4DD7EE}"/>
              </a:ext>
            </a:extLst>
          </p:cNvPr>
          <p:cNvSpPr txBox="1"/>
          <p:nvPr/>
        </p:nvSpPr>
        <p:spPr>
          <a:xfrm>
            <a:off x="2542032" y="3611879"/>
            <a:ext cx="173736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a:ea typeface="Space Mono"/>
                <a:cs typeface="Space Mono" pitchFamily="34"/>
              </a:rPr>
              <a:t>persona → Tommaso</a:t>
            </a:r>
            <a:endParaRPr lang="en-US" sz="800" b="0" i="0" u="none" strike="noStrike" kern="1200" cap="none" spc="0" baseline="0">
              <a:solidFill>
                <a:srgbClr val="111111"/>
              </a:solidFill>
              <a:uFillTx/>
              <a:latin typeface="Space Mono"/>
              <a:ea typeface="Space Mono"/>
              <a:cs typeface="Space Mono"/>
            </a:endParaRPr>
          </a:p>
        </p:txBody>
      </p:sp>
      <p:sp>
        <p:nvSpPr>
          <p:cNvPr id="18" name="Shape 16">
            <a:extLst>
              <a:ext uri="{FF2B5EF4-FFF2-40B4-BE49-F238E27FC236}">
                <a16:creationId xmlns:a16="http://schemas.microsoft.com/office/drawing/2014/main" id="{B0019242-AB4B-B13C-8625-B4749179B353}"/>
              </a:ext>
            </a:extLst>
          </p:cNvPr>
          <p:cNvSpPr/>
          <p:nvPr/>
        </p:nvSpPr>
        <p:spPr>
          <a:xfrm>
            <a:off x="4608576" y="1033272"/>
            <a:ext cx="2011680" cy="2971800"/>
          </a:xfrm>
          <a:prstGeom prst="rect">
            <a:avLst/>
          </a:prstGeom>
          <a:solidFill>
            <a:srgbClr val="DCDAFB"/>
          </a:solidFill>
          <a:ln w="12701">
            <a:solidFill>
              <a:srgbClr val="DCDAFB"/>
            </a:solidFill>
            <a:prstDash val="solid"/>
          </a:ln>
        </p:spPr>
        <p:txBody>
          <a:bodyPr lIns="0" tIns="0" rIns="0" bIns="0"/>
          <a:lstStyle/>
          <a:p>
            <a:endParaRPr lang="it-IT"/>
          </a:p>
        </p:txBody>
      </p:sp>
      <p:sp>
        <p:nvSpPr>
          <p:cNvPr id="19" name="Shape 17">
            <a:extLst>
              <a:ext uri="{FF2B5EF4-FFF2-40B4-BE49-F238E27FC236}">
                <a16:creationId xmlns:a16="http://schemas.microsoft.com/office/drawing/2014/main" id="{779C45AE-54B9-D285-7561-BE7B308F218D}"/>
              </a:ext>
            </a:extLst>
          </p:cNvPr>
          <p:cNvSpPr/>
          <p:nvPr/>
        </p:nvSpPr>
        <p:spPr>
          <a:xfrm>
            <a:off x="4535424" y="960120"/>
            <a:ext cx="2011680" cy="2971800"/>
          </a:xfrm>
          <a:prstGeom prst="rect">
            <a:avLst/>
          </a:prstGeom>
          <a:solidFill>
            <a:srgbClr val="FFFFFF"/>
          </a:solidFill>
          <a:ln w="15873">
            <a:solidFill>
              <a:srgbClr val="111111"/>
            </a:solidFill>
            <a:prstDash val="solid"/>
          </a:ln>
        </p:spPr>
        <p:txBody>
          <a:bodyPr lIns="0" tIns="0" rIns="0" bIns="0"/>
          <a:lstStyle/>
          <a:p>
            <a:endParaRPr lang="it-IT"/>
          </a:p>
        </p:txBody>
      </p:sp>
      <p:sp>
        <p:nvSpPr>
          <p:cNvPr id="20" name="Shape 18">
            <a:extLst>
              <a:ext uri="{FF2B5EF4-FFF2-40B4-BE49-F238E27FC236}">
                <a16:creationId xmlns:a16="http://schemas.microsoft.com/office/drawing/2014/main" id="{6C24E10E-74CD-9794-2A90-26F3FC27E2F0}"/>
              </a:ext>
            </a:extLst>
          </p:cNvPr>
          <p:cNvSpPr/>
          <p:nvPr/>
        </p:nvSpPr>
        <p:spPr>
          <a:xfrm>
            <a:off x="4672583" y="1097280"/>
            <a:ext cx="777240"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C14E6"/>
            </a:solidFill>
            <a:prstDash val="solid"/>
          </a:ln>
        </p:spPr>
        <p:txBody>
          <a:bodyPr lIns="0" tIns="0" rIns="0" bIns="0"/>
          <a:lstStyle/>
          <a:p>
            <a:endParaRPr lang="it-IT"/>
          </a:p>
        </p:txBody>
      </p:sp>
      <p:sp>
        <p:nvSpPr>
          <p:cNvPr id="21" name="Text 19">
            <a:extLst>
              <a:ext uri="{FF2B5EF4-FFF2-40B4-BE49-F238E27FC236}">
                <a16:creationId xmlns:a16="http://schemas.microsoft.com/office/drawing/2014/main" id="{37AF5101-F549-2242-294D-890F1C7756C4}"/>
              </a:ext>
            </a:extLst>
          </p:cNvPr>
          <p:cNvSpPr txBox="1"/>
          <p:nvPr/>
        </p:nvSpPr>
        <p:spPr>
          <a:xfrm>
            <a:off x="4672583" y="1097280"/>
            <a:ext cx="777240"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B5+B7</a:t>
            </a:r>
            <a:endParaRPr lang="en-US" sz="800" b="0" i="0" u="none" strike="noStrike" kern="1200" cap="none" spc="0" baseline="0">
              <a:solidFill>
                <a:srgbClr val="111111"/>
              </a:solidFill>
              <a:uFillTx/>
              <a:latin typeface="Space Mono"/>
              <a:ea typeface="Space Mono"/>
              <a:cs typeface="Space Mono"/>
            </a:endParaRPr>
          </a:p>
        </p:txBody>
      </p:sp>
      <p:sp>
        <p:nvSpPr>
          <p:cNvPr id="22" name="Text 20">
            <a:extLst>
              <a:ext uri="{FF2B5EF4-FFF2-40B4-BE49-F238E27FC236}">
                <a16:creationId xmlns:a16="http://schemas.microsoft.com/office/drawing/2014/main" id="{8D775D60-7E03-F6CF-9518-478734C2E26B}"/>
              </a:ext>
            </a:extLst>
          </p:cNvPr>
          <p:cNvSpPr txBox="1"/>
          <p:nvPr/>
        </p:nvSpPr>
        <p:spPr>
          <a:xfrm>
            <a:off x="4672583" y="1417320"/>
            <a:ext cx="1737360" cy="73152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C14E6"/>
                </a:solidFill>
                <a:uFillTx/>
                <a:latin typeface="Space Mono" pitchFamily="34"/>
                <a:ea typeface="Space Mono" pitchFamily="34"/>
                <a:cs typeface="Space Mono" pitchFamily="34"/>
              </a:rPr>
              <a:t>Chiedere aiuto senza paura</a:t>
            </a:r>
            <a:endParaRPr lang="en-US" sz="1000" b="0" i="0" u="none" strike="noStrike" kern="1200" cap="none" spc="0" baseline="0">
              <a:solidFill>
                <a:srgbClr val="111111"/>
              </a:solidFill>
              <a:uFillTx/>
              <a:latin typeface="Space Mono"/>
              <a:ea typeface="Space Mono"/>
              <a:cs typeface="Space Mono"/>
            </a:endParaRPr>
          </a:p>
        </p:txBody>
      </p:sp>
      <p:sp>
        <p:nvSpPr>
          <p:cNvPr id="23" name="Text 21">
            <a:extLst>
              <a:ext uri="{FF2B5EF4-FFF2-40B4-BE49-F238E27FC236}">
                <a16:creationId xmlns:a16="http://schemas.microsoft.com/office/drawing/2014/main" id="{5E841C40-C09F-D9AB-3C12-AB8BB6B276C1}"/>
              </a:ext>
            </a:extLst>
          </p:cNvPr>
          <p:cNvSpPr txBox="1"/>
          <p:nvPr/>
        </p:nvSpPr>
        <p:spPr>
          <a:xfrm>
            <a:off x="4672583" y="2194560"/>
            <a:ext cx="1737360" cy="1325880"/>
          </a:xfrm>
          <a:prstGeom prst="rect">
            <a:avLst/>
          </a:prstGeom>
          <a:noFill/>
          <a:ln>
            <a:noFill/>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tutte le squadre: paura di giudizio, conseguenze, perdere libertà</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i genitori vengono «saltati»</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62% non saprebbe come agire (compito 1)</a:t>
            </a:r>
          </a:p>
        </p:txBody>
      </p:sp>
      <p:sp>
        <p:nvSpPr>
          <p:cNvPr id="24" name="Text 22">
            <a:extLst>
              <a:ext uri="{FF2B5EF4-FFF2-40B4-BE49-F238E27FC236}">
                <a16:creationId xmlns:a16="http://schemas.microsoft.com/office/drawing/2014/main" id="{1FE44618-D05A-6F10-EA98-1A4178BE7DA3}"/>
              </a:ext>
            </a:extLst>
          </p:cNvPr>
          <p:cNvSpPr txBox="1"/>
          <p:nvPr/>
        </p:nvSpPr>
        <p:spPr>
          <a:xfrm>
            <a:off x="4672583" y="3611879"/>
            <a:ext cx="173736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3202B"/>
                </a:solidFill>
                <a:uFillTx/>
                <a:latin typeface="Space Mono" pitchFamily="34"/>
                <a:ea typeface="Space Mono"/>
                <a:cs typeface="Space Mono" pitchFamily="34"/>
              </a:rPr>
              <a:t>persona → Chiara</a:t>
            </a:r>
            <a:endParaRPr lang="en-US" sz="800" b="0" i="0" u="none" strike="noStrike" kern="1200" cap="none" spc="0" baseline="0">
              <a:solidFill>
                <a:srgbClr val="111111"/>
              </a:solidFill>
              <a:uFillTx/>
              <a:latin typeface="Space Mono"/>
              <a:ea typeface="Space Mono"/>
              <a:cs typeface="Space Mono"/>
            </a:endParaRPr>
          </a:p>
        </p:txBody>
      </p:sp>
      <p:sp>
        <p:nvSpPr>
          <p:cNvPr id="25" name="Shape 23">
            <a:extLst>
              <a:ext uri="{FF2B5EF4-FFF2-40B4-BE49-F238E27FC236}">
                <a16:creationId xmlns:a16="http://schemas.microsoft.com/office/drawing/2014/main" id="{6757275F-5C8A-6D62-5854-FBE884437BEC}"/>
              </a:ext>
            </a:extLst>
          </p:cNvPr>
          <p:cNvSpPr/>
          <p:nvPr/>
        </p:nvSpPr>
        <p:spPr>
          <a:xfrm>
            <a:off x="6739128" y="1033272"/>
            <a:ext cx="2011680" cy="2971800"/>
          </a:xfrm>
          <a:prstGeom prst="rect">
            <a:avLst/>
          </a:prstGeom>
          <a:solidFill>
            <a:srgbClr val="111111"/>
          </a:solidFill>
          <a:ln w="12701">
            <a:solidFill>
              <a:srgbClr val="111111"/>
            </a:solidFill>
            <a:prstDash val="solid"/>
          </a:ln>
        </p:spPr>
        <p:txBody>
          <a:bodyPr lIns="0" tIns="0" rIns="0" bIns="0"/>
          <a:lstStyle/>
          <a:p>
            <a:endParaRPr lang="it-IT"/>
          </a:p>
        </p:txBody>
      </p:sp>
      <p:sp>
        <p:nvSpPr>
          <p:cNvPr id="26" name="Shape 24">
            <a:extLst>
              <a:ext uri="{FF2B5EF4-FFF2-40B4-BE49-F238E27FC236}">
                <a16:creationId xmlns:a16="http://schemas.microsoft.com/office/drawing/2014/main" id="{7405BB99-C34B-18F4-61DF-AA055614E1C9}"/>
              </a:ext>
            </a:extLst>
          </p:cNvPr>
          <p:cNvSpPr/>
          <p:nvPr/>
        </p:nvSpPr>
        <p:spPr>
          <a:xfrm>
            <a:off x="6665976" y="960120"/>
            <a:ext cx="2011680" cy="2971800"/>
          </a:xfrm>
          <a:prstGeom prst="rect">
            <a:avLst/>
          </a:prstGeom>
          <a:solidFill>
            <a:srgbClr val="1C14E6"/>
          </a:solidFill>
          <a:ln w="15873">
            <a:solidFill>
              <a:srgbClr val="111111"/>
            </a:solidFill>
            <a:prstDash val="solid"/>
          </a:ln>
        </p:spPr>
        <p:txBody>
          <a:bodyPr lIns="0" tIns="0" rIns="0" bIns="0"/>
          <a:lstStyle/>
          <a:p>
            <a:endParaRPr lang="it-IT"/>
          </a:p>
        </p:txBody>
      </p:sp>
      <p:sp>
        <p:nvSpPr>
          <p:cNvPr id="27" name="Shape 25">
            <a:extLst>
              <a:ext uri="{FF2B5EF4-FFF2-40B4-BE49-F238E27FC236}">
                <a16:creationId xmlns:a16="http://schemas.microsoft.com/office/drawing/2014/main" id="{DB891A12-4BFC-14F8-6B08-FE254B35DCFD}"/>
              </a:ext>
            </a:extLst>
          </p:cNvPr>
          <p:cNvSpPr/>
          <p:nvPr/>
        </p:nvSpPr>
        <p:spPr>
          <a:xfrm>
            <a:off x="6803136" y="1097280"/>
            <a:ext cx="777240"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12701">
            <a:solidFill>
              <a:srgbClr val="FFFFFF"/>
            </a:solidFill>
            <a:prstDash val="solid"/>
          </a:ln>
        </p:spPr>
        <p:txBody>
          <a:bodyPr lIns="0" tIns="0" rIns="0" bIns="0"/>
          <a:lstStyle/>
          <a:p>
            <a:endParaRPr lang="it-IT"/>
          </a:p>
        </p:txBody>
      </p:sp>
      <p:sp>
        <p:nvSpPr>
          <p:cNvPr id="28" name="Text 26">
            <a:extLst>
              <a:ext uri="{FF2B5EF4-FFF2-40B4-BE49-F238E27FC236}">
                <a16:creationId xmlns:a16="http://schemas.microsoft.com/office/drawing/2014/main" id="{120463E7-2360-25EC-F195-DBC05299BA66}"/>
              </a:ext>
            </a:extLst>
          </p:cNvPr>
          <p:cNvSpPr txBox="1"/>
          <p:nvPr/>
        </p:nvSpPr>
        <p:spPr>
          <a:xfrm>
            <a:off x="6803136" y="1097280"/>
            <a:ext cx="777240"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1C14E6"/>
                </a:solidFill>
                <a:uFillTx/>
                <a:latin typeface="Space Mono" pitchFamily="34"/>
                <a:ea typeface="Space Mono" pitchFamily="34"/>
                <a:cs typeface="Space Mono" pitchFamily="34"/>
              </a:rPr>
              <a:t>B8</a:t>
            </a:r>
            <a:endParaRPr lang="en-US" sz="800" b="0" i="0" u="none" strike="noStrike" kern="1200" cap="none" spc="0" baseline="0">
              <a:solidFill>
                <a:srgbClr val="111111"/>
              </a:solidFill>
              <a:uFillTx/>
              <a:latin typeface="Space Mono"/>
              <a:ea typeface="Space Mono"/>
              <a:cs typeface="Space Mono"/>
            </a:endParaRPr>
          </a:p>
        </p:txBody>
      </p:sp>
      <p:sp>
        <p:nvSpPr>
          <p:cNvPr id="29" name="Text 27">
            <a:extLst>
              <a:ext uri="{FF2B5EF4-FFF2-40B4-BE49-F238E27FC236}">
                <a16:creationId xmlns:a16="http://schemas.microsoft.com/office/drawing/2014/main" id="{567ABCB9-4050-7A32-C909-5F465294C895}"/>
              </a:ext>
            </a:extLst>
          </p:cNvPr>
          <p:cNvSpPr txBox="1"/>
          <p:nvPr/>
        </p:nvSpPr>
        <p:spPr>
          <a:xfrm>
            <a:off x="6803136" y="1417320"/>
            <a:ext cx="1737360" cy="73152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Space Mono" pitchFamily="34"/>
                <a:ea typeface="Space Mono" pitchFamily="34"/>
                <a:cs typeface="Space Mono" pitchFamily="34"/>
              </a:rPr>
              <a:t>Capire quando una foto modificata con l'IA smette di essere uno scherzo</a:t>
            </a:r>
            <a:endParaRPr lang="en-US" sz="1000" b="0" i="0" u="none" strike="noStrike" kern="1200" cap="none" spc="0" baseline="0">
              <a:solidFill>
                <a:srgbClr val="111111"/>
              </a:solidFill>
              <a:uFillTx/>
              <a:latin typeface="Space Mono"/>
              <a:ea typeface="Space Mono"/>
              <a:cs typeface="Space Mono"/>
            </a:endParaRPr>
          </a:p>
        </p:txBody>
      </p:sp>
      <p:sp>
        <p:nvSpPr>
          <p:cNvPr id="30" name="Text 28">
            <a:extLst>
              <a:ext uri="{FF2B5EF4-FFF2-40B4-BE49-F238E27FC236}">
                <a16:creationId xmlns:a16="http://schemas.microsoft.com/office/drawing/2014/main" id="{B26ADEA9-AA77-D3EE-75B5-F524BB61B3D4}"/>
              </a:ext>
            </a:extLst>
          </p:cNvPr>
          <p:cNvSpPr txBox="1"/>
          <p:nvPr/>
        </p:nvSpPr>
        <p:spPr>
          <a:xfrm>
            <a:off x="6803136" y="2194560"/>
            <a:ext cx="1737360" cy="1325880"/>
          </a:xfrm>
          <a:prstGeom prst="rect">
            <a:avLst/>
          </a:prstGeom>
          <a:noFill/>
          <a:ln>
            <a:noFill/>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chat 5.1: per alcuni è uno scherzo anche se Matteo esce dal gruppo</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«scherzo» sale dal 9% a 14 anni al 50% a 17</a:t>
            </a:r>
          </a:p>
          <a:p>
            <a:pPr marL="127001" marR="0" lvl="0" indent="-127001" algn="just" defTabSz="914400" rtl="0" fontAlgn="auto" hangingPunct="1">
              <a:lnSpc>
                <a:spcPct val="100000"/>
              </a:lnSpc>
              <a:spcBef>
                <a:spcPts val="0"/>
              </a:spcBef>
              <a:spcAft>
                <a:spcPts val="3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Plus Jakarta Sans"/>
                <a:ea typeface="Plus Jakarta Sans"/>
                <a:cs typeface="Plus Jakarta Sans"/>
              </a:rPr>
              <a:t>la gravità si giudica dalla risata della vittima</a:t>
            </a:r>
          </a:p>
        </p:txBody>
      </p:sp>
      <p:sp>
        <p:nvSpPr>
          <p:cNvPr id="31" name="Text 29">
            <a:extLst>
              <a:ext uri="{FF2B5EF4-FFF2-40B4-BE49-F238E27FC236}">
                <a16:creationId xmlns:a16="http://schemas.microsoft.com/office/drawing/2014/main" id="{E299779F-F48D-473F-03DB-51C144D5FC61}"/>
              </a:ext>
            </a:extLst>
          </p:cNvPr>
          <p:cNvSpPr txBox="1"/>
          <p:nvPr/>
        </p:nvSpPr>
        <p:spPr>
          <a:xfrm>
            <a:off x="6803136" y="3611879"/>
            <a:ext cx="173736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a:cs typeface="Space Mono" pitchFamily="34"/>
              </a:rPr>
              <a:t>persona → Lorenzo</a:t>
            </a:r>
            <a:endParaRPr lang="en-US" sz="800" b="0" i="0" u="none" strike="noStrike" kern="1200" cap="none" spc="0" baseline="0">
              <a:solidFill>
                <a:srgbClr val="111111"/>
              </a:solidFill>
              <a:uFillTx/>
              <a:latin typeface="Space Mono"/>
              <a:ea typeface="Space Mono"/>
              <a:cs typeface="Space Mono"/>
            </a:endParaRPr>
          </a:p>
        </p:txBody>
      </p:sp>
      <p:sp>
        <p:nvSpPr>
          <p:cNvPr id="32" name="Text 30">
            <a:extLst>
              <a:ext uri="{FF2B5EF4-FFF2-40B4-BE49-F238E27FC236}">
                <a16:creationId xmlns:a16="http://schemas.microsoft.com/office/drawing/2014/main" id="{1CAB7015-A660-C724-AA11-BDAAFC452B67}"/>
              </a:ext>
            </a:extLst>
          </p:cNvPr>
          <p:cNvSpPr txBox="1"/>
          <p:nvPr/>
        </p:nvSpPr>
        <p:spPr>
          <a:xfrm>
            <a:off x="274320" y="4160520"/>
            <a:ext cx="8595360" cy="274320"/>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3202B"/>
                </a:solidFill>
                <a:uFillTx/>
                <a:latin typeface="Plus Jakarta Sans"/>
                <a:ea typeface="Plus Jakarta Sans"/>
                <a:cs typeface="Plus Jakarta Sans"/>
              </a:rPr>
              <a:t>B1 e B2</a:t>
            </a:r>
            <a:r>
              <a:rPr lang="en-US" sz="1000" b="0" i="0" u="none" strike="noStrike" kern="1200" cap="none" spc="0" baseline="0">
                <a:solidFill>
                  <a:srgbClr val="111111"/>
                </a:solidFill>
                <a:uFillTx/>
                <a:latin typeface="Plus Jakarta Sans"/>
                <a:ea typeface="Plus Jakarta Sans"/>
                <a:cs typeface="Plus Jakarta Sans"/>
              </a:rPr>
              <a:t> diventano requisiti trasversali: imparare facendo, leggere le storie dei coetanei in anonimato.</a:t>
            </a:r>
          </a:p>
        </p:txBody>
      </p:sp>
      <p:sp>
        <p:nvSpPr>
          <p:cNvPr id="33" name="Text 31">
            <a:extLst>
              <a:ext uri="{FF2B5EF4-FFF2-40B4-BE49-F238E27FC236}">
                <a16:creationId xmlns:a16="http://schemas.microsoft.com/office/drawing/2014/main" id="{B8D21D17-3DDA-A262-2DB5-90AFBEE181CF}"/>
              </a:ext>
            </a:extLst>
          </p:cNvPr>
          <p:cNvSpPr txBox="1"/>
          <p:nvPr/>
        </p:nvSpPr>
        <p:spPr>
          <a:xfrm>
            <a:off x="274320" y="4846320"/>
            <a:ext cx="365760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C14E6"/>
                </a:solidFill>
                <a:uFillTx/>
                <a:latin typeface="Space Mono" pitchFamily="34"/>
                <a:ea typeface="Space Mono" pitchFamily="34"/>
                <a:cs typeface="Space Mono" pitchFamily="34"/>
              </a:rPr>
              <a:t>2026-27 ° polimi – Fondamenti di HCI</a:t>
            </a:r>
            <a:endParaRPr lang="en-US" sz="800" b="0" i="0" u="none" strike="noStrike" kern="1200" cap="none" spc="0" baseline="0">
              <a:solidFill>
                <a:srgbClr val="111111"/>
              </a:solidFill>
              <a:uFillTx/>
              <a:latin typeface="Space Mono"/>
              <a:ea typeface="Space Mono"/>
              <a:cs typeface="Space Mono"/>
            </a:endParaRPr>
          </a:p>
        </p:txBody>
      </p:sp>
    </p:spTree>
    <p:extLst>
      <p:ext uri="{BB962C8B-B14F-4D97-AF65-F5344CB8AC3E}">
        <p14:creationId xmlns:p14="http://schemas.microsoft.com/office/powerpoint/2010/main" val="171416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615F464-9B73-7DC5-8060-EB5F990FEA9A}"/>
              </a:ext>
            </a:extLst>
          </p:cNvPr>
          <p:cNvSpPr txBox="1"/>
          <p:nvPr/>
        </p:nvSpPr>
        <p:spPr>
          <a:xfrm>
            <a:off x="274320" y="73152"/>
            <a:ext cx="54864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1C14E6"/>
                </a:solidFill>
                <a:uFillTx/>
                <a:latin typeface="Space Mono" pitchFamily="34"/>
                <a:ea typeface="Space Mono" pitchFamily="34"/>
                <a:cs typeface="Space Mono" pitchFamily="34"/>
              </a:rPr>
              <a:t>15</a:t>
            </a:r>
            <a:endParaRPr lang="en-US" sz="9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9543EA3E-FCE2-DC86-B936-63F62C37D203}"/>
              </a:ext>
            </a:extLst>
          </p:cNvPr>
          <p:cNvSpPr txBox="1"/>
          <p:nvPr/>
        </p:nvSpPr>
        <p:spPr>
          <a:xfrm>
            <a:off x="274320" y="4846320"/>
            <a:ext cx="36576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C14E6"/>
                </a:solidFill>
                <a:uFillTx/>
                <a:latin typeface="Space Mono"/>
                <a:ea typeface="Space Mono"/>
                <a:cs typeface="Space Mono"/>
              </a:rPr>
              <a:t>2026-27 ° polimi – Fondamenti di HCI</a:t>
            </a:r>
            <a:endParaRPr lang="en-US" sz="800" b="0" i="0" u="none" strike="noStrike" kern="1200" cap="none" spc="0" baseline="0">
              <a:solidFill>
                <a:srgbClr val="111111"/>
              </a:solidFill>
              <a:uFillTx/>
              <a:latin typeface="Space Mono"/>
              <a:ea typeface="Space Mono"/>
              <a:cs typeface="Space Mono"/>
            </a:endParaRPr>
          </a:p>
        </p:txBody>
      </p:sp>
      <p:sp>
        <p:nvSpPr>
          <p:cNvPr id="4" name="Text 2">
            <a:extLst>
              <a:ext uri="{FF2B5EF4-FFF2-40B4-BE49-F238E27FC236}">
                <a16:creationId xmlns:a16="http://schemas.microsoft.com/office/drawing/2014/main" id="{DF619D01-C68F-76A9-2E22-E4206BFB45F8}"/>
              </a:ext>
            </a:extLst>
          </p:cNvPr>
          <p:cNvSpPr txBox="1"/>
          <p:nvPr/>
        </p:nvSpPr>
        <p:spPr>
          <a:xfrm>
            <a:off x="274320" y="320040"/>
            <a:ext cx="4754880" cy="59436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1C14E6"/>
                </a:solidFill>
                <a:uFillTx/>
                <a:latin typeface="Space Mono" pitchFamily="34"/>
                <a:ea typeface="Space Mono" pitchFamily="34"/>
                <a:cs typeface="Space Mono" pitchFamily="34"/>
              </a:rPr>
              <a:t>Le nostre</a:t>
            </a:r>
            <a:endParaRPr lang="en-US" sz="3600" b="0" i="0" u="none" strike="noStrike" kern="1200" cap="none" spc="0" baseline="0">
              <a:solidFill>
                <a:srgbClr val="111111"/>
              </a:solidFill>
              <a:uFillTx/>
              <a:latin typeface="Space Mono"/>
              <a:ea typeface="Space Mono"/>
              <a:cs typeface="Space Mono"/>
            </a:endParaRPr>
          </a:p>
        </p:txBody>
      </p:sp>
      <p:sp>
        <p:nvSpPr>
          <p:cNvPr id="5" name="Shape 3">
            <a:extLst>
              <a:ext uri="{FF2B5EF4-FFF2-40B4-BE49-F238E27FC236}">
                <a16:creationId xmlns:a16="http://schemas.microsoft.com/office/drawing/2014/main" id="{370E9758-F8FD-19AF-855B-5C12A335F9BC}"/>
              </a:ext>
            </a:extLst>
          </p:cNvPr>
          <p:cNvSpPr/>
          <p:nvPr/>
        </p:nvSpPr>
        <p:spPr>
          <a:xfrm rot="21480004">
            <a:off x="164592" y="896112"/>
            <a:ext cx="2514600" cy="62179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a:solidFill>
              <a:srgbClr val="1C14E6"/>
            </a:solidFill>
            <a:prstDash val="solid"/>
          </a:ln>
        </p:spPr>
        <p:txBody>
          <a:bodyPr lIns="0" tIns="0" rIns="0" bIns="0"/>
          <a:lstStyle/>
          <a:p>
            <a:endParaRPr lang="it-IT"/>
          </a:p>
        </p:txBody>
      </p:sp>
      <p:sp>
        <p:nvSpPr>
          <p:cNvPr id="6" name="Text 4">
            <a:extLst>
              <a:ext uri="{FF2B5EF4-FFF2-40B4-BE49-F238E27FC236}">
                <a16:creationId xmlns:a16="http://schemas.microsoft.com/office/drawing/2014/main" id="{1A915DA2-0D3A-6A51-5903-DA511FABC105}"/>
              </a:ext>
            </a:extLst>
          </p:cNvPr>
          <p:cNvSpPr txBox="1"/>
          <p:nvPr/>
        </p:nvSpPr>
        <p:spPr>
          <a:xfrm>
            <a:off x="274320" y="896112"/>
            <a:ext cx="2743200" cy="59436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1" u="none" strike="noStrike" kern="1200" cap="none" spc="0" baseline="0">
                <a:solidFill>
                  <a:srgbClr val="1C14E6"/>
                </a:solidFill>
                <a:uFillTx/>
                <a:latin typeface="Space Mono" pitchFamily="34"/>
                <a:ea typeface="Space Mono" pitchFamily="34"/>
                <a:cs typeface="Space Mono" pitchFamily="34"/>
              </a:rPr>
              <a:t>personas</a:t>
            </a:r>
            <a:endParaRPr lang="en-US" sz="3600" b="0" i="0" u="none" strike="noStrike" kern="1200" cap="none" spc="0" baseline="0">
              <a:solidFill>
                <a:srgbClr val="111111"/>
              </a:solidFill>
              <a:uFillTx/>
              <a:latin typeface="Space Mono"/>
              <a:ea typeface="Space Mono"/>
              <a:cs typeface="Space Mono"/>
            </a:endParaRPr>
          </a:p>
        </p:txBody>
      </p:sp>
      <p:sp>
        <p:nvSpPr>
          <p:cNvPr id="7" name="Text 5">
            <a:extLst>
              <a:ext uri="{FF2B5EF4-FFF2-40B4-BE49-F238E27FC236}">
                <a16:creationId xmlns:a16="http://schemas.microsoft.com/office/drawing/2014/main" id="{81FA6303-6D5A-BFB0-F8B0-6E9441D0ABF3}"/>
              </a:ext>
            </a:extLst>
          </p:cNvPr>
          <p:cNvSpPr txBox="1"/>
          <p:nvPr/>
        </p:nvSpPr>
        <p:spPr>
          <a:xfrm>
            <a:off x="274320" y="1463040"/>
            <a:ext cx="4846320" cy="59436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1C14E6"/>
                </a:solidFill>
                <a:uFillTx/>
                <a:latin typeface="Space Mono" pitchFamily="34"/>
                <a:ea typeface="Space Mono" pitchFamily="34"/>
                <a:cs typeface="Space Mono" pitchFamily="34"/>
              </a:rPr>
              <a:t>e i loro scenari</a:t>
            </a:r>
            <a:endParaRPr lang="en-US" sz="3600" b="0" i="0" u="none" strike="noStrike" kern="1200" cap="none" spc="0" baseline="0">
              <a:solidFill>
                <a:srgbClr val="111111"/>
              </a:solidFill>
              <a:uFillTx/>
              <a:latin typeface="Space Mono"/>
              <a:ea typeface="Space Mono"/>
              <a:cs typeface="Space Mono"/>
            </a:endParaRPr>
          </a:p>
        </p:txBody>
      </p:sp>
      <p:sp>
        <p:nvSpPr>
          <p:cNvPr id="8" name="Text 6">
            <a:extLst>
              <a:ext uri="{FF2B5EF4-FFF2-40B4-BE49-F238E27FC236}">
                <a16:creationId xmlns:a16="http://schemas.microsoft.com/office/drawing/2014/main" id="{B6D97BC2-3311-28FE-CACF-1837DA186852}"/>
              </a:ext>
            </a:extLst>
          </p:cNvPr>
          <p:cNvSpPr txBox="1"/>
          <p:nvPr/>
        </p:nvSpPr>
        <p:spPr>
          <a:xfrm>
            <a:off x="274320" y="2286000"/>
            <a:ext cx="4480560" cy="45720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Quattro archetipi dal </a:t>
            </a:r>
            <a:r>
              <a:rPr lang="en-US" sz="1100" b="1" i="0" u="none" strike="noStrike" kern="1200" cap="none" spc="0" baseline="0">
                <a:solidFill>
                  <a:srgbClr val="111111"/>
                </a:solidFill>
                <a:uFillTx/>
                <a:latin typeface="Plus Jakarta Sans"/>
                <a:ea typeface="Plus Jakarta Sans"/>
                <a:cs typeface="Plus Jakarta Sans"/>
              </a:rPr>
              <a:t>focus group</a:t>
            </a:r>
            <a:r>
              <a:rPr lang="en-US" sz="1100" b="0" i="0" u="none" strike="noStrike" kern="1200" cap="none" spc="0" baseline="0">
                <a:solidFill>
                  <a:srgbClr val="111111"/>
                </a:solidFill>
                <a:uFillTx/>
                <a:latin typeface="Plus Jakarta Sans"/>
                <a:ea typeface="Plus Jakarta Sans"/>
                <a:cs typeface="Plus Jakarta Sans"/>
              </a:rPr>
              <a:t> e dal </a:t>
            </a:r>
            <a:r>
              <a:rPr lang="en-US" sz="1100" b="1" i="0" u="none" strike="noStrike" kern="1200" cap="none" spc="0" baseline="0">
                <a:solidFill>
                  <a:srgbClr val="111111"/>
                </a:solidFill>
                <a:uFillTx/>
                <a:latin typeface="Plus Jakarta Sans"/>
                <a:ea typeface="Plus Jakarta Sans"/>
                <a:cs typeface="Plus Jakarta Sans"/>
              </a:rPr>
              <a:t>co-design</a:t>
            </a:r>
            <a:r>
              <a:rPr lang="en-US" sz="1100" b="0" i="0" u="none" strike="noStrike" kern="1200" cap="none" spc="0" baseline="0">
                <a:solidFill>
                  <a:srgbClr val="111111"/>
                </a:solidFill>
                <a:uFillTx/>
                <a:latin typeface="Plus Jakarta Sans"/>
                <a:ea typeface="Plus Jakarta Sans"/>
                <a:cs typeface="Plus Jakarta Sans"/>
              </a:rPr>
              <a:t>. Ognuno rappresenta un solo bisogno principale e uno scenario coerente.</a:t>
            </a:r>
          </a:p>
        </p:txBody>
      </p:sp>
      <p:sp>
        <p:nvSpPr>
          <p:cNvPr id="9" name="Text 7">
            <a:extLst>
              <a:ext uri="{FF2B5EF4-FFF2-40B4-BE49-F238E27FC236}">
                <a16:creationId xmlns:a16="http://schemas.microsoft.com/office/drawing/2014/main" id="{F1EF47BD-A6C6-4D23-5C7D-B39BDCAA98FC}"/>
              </a:ext>
            </a:extLst>
          </p:cNvPr>
          <p:cNvSpPr txBox="1"/>
          <p:nvPr/>
        </p:nvSpPr>
        <p:spPr>
          <a:xfrm>
            <a:off x="274320" y="3017520"/>
            <a:ext cx="18288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3202B"/>
                </a:solidFill>
                <a:uFillTx/>
                <a:latin typeface="Space Mono" pitchFamily="34"/>
                <a:ea typeface="Space Mono" pitchFamily="34"/>
                <a:cs typeface="Space Mono" pitchFamily="34"/>
              </a:rPr>
              <a:t>I bisogni</a:t>
            </a:r>
            <a:endParaRPr lang="en-US" sz="1000" b="0" i="0" u="none" strike="noStrike" kern="1200" cap="none" spc="0" baseline="0">
              <a:solidFill>
                <a:srgbClr val="111111"/>
              </a:solidFill>
              <a:uFillTx/>
              <a:latin typeface="Space Mono"/>
              <a:ea typeface="Space Mono"/>
              <a:cs typeface="Space Mono"/>
            </a:endParaRPr>
          </a:p>
        </p:txBody>
      </p:sp>
      <p:sp>
        <p:nvSpPr>
          <p:cNvPr id="10" name="Shape 8">
            <a:extLst>
              <a:ext uri="{FF2B5EF4-FFF2-40B4-BE49-F238E27FC236}">
                <a16:creationId xmlns:a16="http://schemas.microsoft.com/office/drawing/2014/main" id="{ADBE5885-9E6A-2876-129E-8311562F4BA9}"/>
              </a:ext>
            </a:extLst>
          </p:cNvPr>
          <p:cNvSpPr/>
          <p:nvPr/>
        </p:nvSpPr>
        <p:spPr>
          <a:xfrm>
            <a:off x="274320" y="3310128"/>
            <a:ext cx="713232"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11111"/>
            </a:solidFill>
            <a:prstDash val="solid"/>
          </a:ln>
        </p:spPr>
        <p:txBody>
          <a:bodyPr lIns="0" tIns="0" rIns="0" bIns="0"/>
          <a:lstStyle/>
          <a:p>
            <a:endParaRPr lang="it-IT"/>
          </a:p>
        </p:txBody>
      </p:sp>
      <p:sp>
        <p:nvSpPr>
          <p:cNvPr id="11" name="Text 9">
            <a:extLst>
              <a:ext uri="{FF2B5EF4-FFF2-40B4-BE49-F238E27FC236}">
                <a16:creationId xmlns:a16="http://schemas.microsoft.com/office/drawing/2014/main" id="{E3DA233D-79E0-3B22-E62C-8D6E4D18613D}"/>
              </a:ext>
            </a:extLst>
          </p:cNvPr>
          <p:cNvSpPr txBox="1"/>
          <p:nvPr/>
        </p:nvSpPr>
        <p:spPr>
          <a:xfrm>
            <a:off x="274320" y="3310128"/>
            <a:ext cx="713232"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B3+B6</a:t>
            </a:r>
            <a:endParaRPr lang="en-US" sz="800" b="0" i="0" u="none" strike="noStrike" kern="1200" cap="none" spc="0" baseline="0">
              <a:solidFill>
                <a:srgbClr val="111111"/>
              </a:solidFill>
              <a:uFillTx/>
              <a:latin typeface="Space Mono"/>
              <a:ea typeface="Space Mono"/>
              <a:cs typeface="Space Mono"/>
            </a:endParaRPr>
          </a:p>
        </p:txBody>
      </p:sp>
      <p:sp>
        <p:nvSpPr>
          <p:cNvPr id="12" name="Text 10">
            <a:extLst>
              <a:ext uri="{FF2B5EF4-FFF2-40B4-BE49-F238E27FC236}">
                <a16:creationId xmlns:a16="http://schemas.microsoft.com/office/drawing/2014/main" id="{285A8AEB-0E5A-BF70-46FC-7F289DFEFD68}"/>
              </a:ext>
            </a:extLst>
          </p:cNvPr>
          <p:cNvSpPr txBox="1"/>
          <p:nvPr/>
        </p:nvSpPr>
        <p:spPr>
          <a:xfrm>
            <a:off x="1097280" y="3291840"/>
            <a:ext cx="3566160" cy="274320"/>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capire chi c'è davvero dall'altra parte</a:t>
            </a:r>
          </a:p>
        </p:txBody>
      </p:sp>
      <p:sp>
        <p:nvSpPr>
          <p:cNvPr id="13" name="Shape 11">
            <a:extLst>
              <a:ext uri="{FF2B5EF4-FFF2-40B4-BE49-F238E27FC236}">
                <a16:creationId xmlns:a16="http://schemas.microsoft.com/office/drawing/2014/main" id="{6629518D-550D-8606-86AF-DB0941E66DAF}"/>
              </a:ext>
            </a:extLst>
          </p:cNvPr>
          <p:cNvSpPr/>
          <p:nvPr/>
        </p:nvSpPr>
        <p:spPr>
          <a:xfrm>
            <a:off x="274320" y="3657600"/>
            <a:ext cx="713232"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11111"/>
            </a:solidFill>
            <a:prstDash val="solid"/>
          </a:ln>
        </p:spPr>
        <p:txBody>
          <a:bodyPr lIns="0" tIns="0" rIns="0" bIns="0"/>
          <a:lstStyle/>
          <a:p>
            <a:endParaRPr lang="it-IT"/>
          </a:p>
        </p:txBody>
      </p:sp>
      <p:sp>
        <p:nvSpPr>
          <p:cNvPr id="14" name="Text 12">
            <a:extLst>
              <a:ext uri="{FF2B5EF4-FFF2-40B4-BE49-F238E27FC236}">
                <a16:creationId xmlns:a16="http://schemas.microsoft.com/office/drawing/2014/main" id="{EB799E43-935E-3D1A-FF0D-61D0FBBE0B6C}"/>
              </a:ext>
            </a:extLst>
          </p:cNvPr>
          <p:cNvSpPr txBox="1"/>
          <p:nvPr/>
        </p:nvSpPr>
        <p:spPr>
          <a:xfrm>
            <a:off x="274320" y="3657600"/>
            <a:ext cx="713232"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B4+B9</a:t>
            </a:r>
            <a:endParaRPr lang="en-US" sz="800" b="0" i="0" u="none" strike="noStrike" kern="1200" cap="none" spc="0" baseline="0">
              <a:solidFill>
                <a:srgbClr val="111111"/>
              </a:solidFill>
              <a:uFillTx/>
              <a:latin typeface="Space Mono"/>
              <a:ea typeface="Space Mono"/>
              <a:cs typeface="Space Mono"/>
            </a:endParaRPr>
          </a:p>
        </p:txBody>
      </p:sp>
      <p:sp>
        <p:nvSpPr>
          <p:cNvPr id="15" name="Text 13">
            <a:extLst>
              <a:ext uri="{FF2B5EF4-FFF2-40B4-BE49-F238E27FC236}">
                <a16:creationId xmlns:a16="http://schemas.microsoft.com/office/drawing/2014/main" id="{D451B953-0AF2-C86A-7845-FFBFC114C3AB}"/>
              </a:ext>
            </a:extLst>
          </p:cNvPr>
          <p:cNvSpPr txBox="1"/>
          <p:nvPr/>
        </p:nvSpPr>
        <p:spPr>
          <a:xfrm>
            <a:off x="1097280" y="3639312"/>
            <a:ext cx="3566160" cy="274320"/>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avere un'idea realistica di quanto si è capaci di riconoscere un falso</a:t>
            </a:r>
          </a:p>
        </p:txBody>
      </p:sp>
      <p:sp>
        <p:nvSpPr>
          <p:cNvPr id="16" name="Shape 14">
            <a:extLst>
              <a:ext uri="{FF2B5EF4-FFF2-40B4-BE49-F238E27FC236}">
                <a16:creationId xmlns:a16="http://schemas.microsoft.com/office/drawing/2014/main" id="{16B4275C-9A6C-BB41-1FBC-75BC34674D53}"/>
              </a:ext>
            </a:extLst>
          </p:cNvPr>
          <p:cNvSpPr/>
          <p:nvPr/>
        </p:nvSpPr>
        <p:spPr>
          <a:xfrm>
            <a:off x="274320" y="4005072"/>
            <a:ext cx="713232"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11111"/>
            </a:solidFill>
            <a:prstDash val="solid"/>
          </a:ln>
        </p:spPr>
        <p:txBody>
          <a:bodyPr lIns="0" tIns="0" rIns="0" bIns="0"/>
          <a:lstStyle/>
          <a:p>
            <a:endParaRPr lang="it-IT"/>
          </a:p>
        </p:txBody>
      </p:sp>
      <p:sp>
        <p:nvSpPr>
          <p:cNvPr id="17" name="Text 15">
            <a:extLst>
              <a:ext uri="{FF2B5EF4-FFF2-40B4-BE49-F238E27FC236}">
                <a16:creationId xmlns:a16="http://schemas.microsoft.com/office/drawing/2014/main" id="{A0D4F10C-8C07-0A9C-F0F4-358445AFBA27}"/>
              </a:ext>
            </a:extLst>
          </p:cNvPr>
          <p:cNvSpPr txBox="1"/>
          <p:nvPr/>
        </p:nvSpPr>
        <p:spPr>
          <a:xfrm>
            <a:off x="274320" y="4005072"/>
            <a:ext cx="713232"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B5+B7</a:t>
            </a:r>
            <a:endParaRPr lang="en-US" sz="800" b="0" i="0" u="none" strike="noStrike" kern="1200" cap="none" spc="0" baseline="0">
              <a:solidFill>
                <a:srgbClr val="111111"/>
              </a:solidFill>
              <a:uFillTx/>
              <a:latin typeface="Space Mono"/>
              <a:ea typeface="Space Mono"/>
              <a:cs typeface="Space Mono"/>
            </a:endParaRPr>
          </a:p>
        </p:txBody>
      </p:sp>
      <p:sp>
        <p:nvSpPr>
          <p:cNvPr id="18" name="Text 16">
            <a:extLst>
              <a:ext uri="{FF2B5EF4-FFF2-40B4-BE49-F238E27FC236}">
                <a16:creationId xmlns:a16="http://schemas.microsoft.com/office/drawing/2014/main" id="{F057B130-555F-A2F5-3105-A258D06EE28A}"/>
              </a:ext>
            </a:extLst>
          </p:cNvPr>
          <p:cNvSpPr txBox="1"/>
          <p:nvPr/>
        </p:nvSpPr>
        <p:spPr>
          <a:xfrm>
            <a:off x="1097280" y="3986783"/>
            <a:ext cx="3566160" cy="274320"/>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chiedere aiuto senza paura</a:t>
            </a:r>
          </a:p>
        </p:txBody>
      </p:sp>
      <p:sp>
        <p:nvSpPr>
          <p:cNvPr id="19" name="Shape 17">
            <a:extLst>
              <a:ext uri="{FF2B5EF4-FFF2-40B4-BE49-F238E27FC236}">
                <a16:creationId xmlns:a16="http://schemas.microsoft.com/office/drawing/2014/main" id="{A56B4D0C-33F7-AEB7-DAB3-4BDCB91DF336}"/>
              </a:ext>
            </a:extLst>
          </p:cNvPr>
          <p:cNvSpPr/>
          <p:nvPr/>
        </p:nvSpPr>
        <p:spPr>
          <a:xfrm>
            <a:off x="274320" y="4352544"/>
            <a:ext cx="713232"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11111"/>
            </a:solidFill>
            <a:prstDash val="solid"/>
          </a:ln>
        </p:spPr>
        <p:txBody>
          <a:bodyPr lIns="0" tIns="0" rIns="0" bIns="0"/>
          <a:lstStyle/>
          <a:p>
            <a:endParaRPr lang="it-IT"/>
          </a:p>
        </p:txBody>
      </p:sp>
      <p:sp>
        <p:nvSpPr>
          <p:cNvPr id="20" name="Text 18">
            <a:extLst>
              <a:ext uri="{FF2B5EF4-FFF2-40B4-BE49-F238E27FC236}">
                <a16:creationId xmlns:a16="http://schemas.microsoft.com/office/drawing/2014/main" id="{F0EAD2DB-DCAF-D334-477D-24F5A2BCABCC}"/>
              </a:ext>
            </a:extLst>
          </p:cNvPr>
          <p:cNvSpPr txBox="1"/>
          <p:nvPr/>
        </p:nvSpPr>
        <p:spPr>
          <a:xfrm>
            <a:off x="274320" y="4352544"/>
            <a:ext cx="713232" cy="219456"/>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B8</a:t>
            </a:r>
            <a:endParaRPr lang="en-US" sz="800" b="0" i="0" u="none" strike="noStrike" kern="1200" cap="none" spc="0" baseline="0">
              <a:solidFill>
                <a:srgbClr val="111111"/>
              </a:solidFill>
              <a:uFillTx/>
              <a:latin typeface="Space Mono"/>
              <a:ea typeface="Space Mono"/>
              <a:cs typeface="Space Mono"/>
            </a:endParaRPr>
          </a:p>
        </p:txBody>
      </p:sp>
      <p:sp>
        <p:nvSpPr>
          <p:cNvPr id="21" name="Text 19">
            <a:extLst>
              <a:ext uri="{FF2B5EF4-FFF2-40B4-BE49-F238E27FC236}">
                <a16:creationId xmlns:a16="http://schemas.microsoft.com/office/drawing/2014/main" id="{A7F105E6-391D-D7B0-FBFA-7DD5C1519973}"/>
              </a:ext>
            </a:extLst>
          </p:cNvPr>
          <p:cNvSpPr txBox="1"/>
          <p:nvPr/>
        </p:nvSpPr>
        <p:spPr>
          <a:xfrm>
            <a:off x="1097280" y="4334256"/>
            <a:ext cx="3566160" cy="274320"/>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capire quando una foto modificata smette di essere uno scherzo</a:t>
            </a:r>
          </a:p>
        </p:txBody>
      </p:sp>
      <p:pic>
        <p:nvPicPr>
          <p:cNvPr id="22" name="Image 0" descr="preencoded.png">
            <a:extLst>
              <a:ext uri="{FF2B5EF4-FFF2-40B4-BE49-F238E27FC236}">
                <a16:creationId xmlns:a16="http://schemas.microsoft.com/office/drawing/2014/main" id="{647825FA-C6E3-9F36-3132-EA0AB971EC31}"/>
              </a:ext>
            </a:extLst>
          </p:cNvPr>
          <p:cNvPicPr>
            <a:picLocks noChangeAspect="1"/>
          </p:cNvPicPr>
          <p:nvPr/>
        </p:nvPicPr>
        <p:blipFill>
          <a:blip r:embed="rId3"/>
          <a:stretch>
            <a:fillRect/>
          </a:stretch>
        </p:blipFill>
        <p:spPr>
          <a:xfrm>
            <a:off x="4709159" y="548640"/>
            <a:ext cx="4023360" cy="4526280"/>
          </a:xfrm>
          <a:prstGeom prst="rect">
            <a:avLst/>
          </a:prstGeom>
          <a:noFill/>
          <a:ln>
            <a:noFill/>
          </a:ln>
        </p:spPr>
      </p:pic>
      <p:sp>
        <p:nvSpPr>
          <p:cNvPr id="23" name="Shape 20">
            <a:extLst>
              <a:ext uri="{FF2B5EF4-FFF2-40B4-BE49-F238E27FC236}">
                <a16:creationId xmlns:a16="http://schemas.microsoft.com/office/drawing/2014/main" id="{1BA835E5-080C-E34C-C2EC-02BF06D7D25F}"/>
              </a:ext>
            </a:extLst>
          </p:cNvPr>
          <p:cNvSpPr/>
          <p:nvPr/>
        </p:nvSpPr>
        <p:spPr>
          <a:xfrm rot="21420016">
            <a:off x="5065776" y="310896"/>
            <a:ext cx="1737360" cy="2011680"/>
          </a:xfrm>
          <a:prstGeom prst="rect">
            <a:avLst/>
          </a:prstGeom>
          <a:solidFill>
            <a:srgbClr val="1C14E6"/>
          </a:solidFill>
          <a:ln w="12701">
            <a:solidFill>
              <a:srgbClr val="1C14E6"/>
            </a:solidFill>
            <a:prstDash val="solid"/>
          </a:ln>
        </p:spPr>
        <p:txBody>
          <a:bodyPr lIns="0" tIns="0" rIns="0" bIns="0"/>
          <a:lstStyle/>
          <a:p>
            <a:endParaRPr lang="it-IT"/>
          </a:p>
        </p:txBody>
      </p:sp>
      <p:sp>
        <p:nvSpPr>
          <p:cNvPr id="24" name="Shape 21">
            <a:extLst>
              <a:ext uri="{FF2B5EF4-FFF2-40B4-BE49-F238E27FC236}">
                <a16:creationId xmlns:a16="http://schemas.microsoft.com/office/drawing/2014/main" id="{4C7D0CF5-0FD8-83C9-7046-61681C173D3A}"/>
              </a:ext>
            </a:extLst>
          </p:cNvPr>
          <p:cNvSpPr/>
          <p:nvPr/>
        </p:nvSpPr>
        <p:spPr>
          <a:xfrm rot="21420016">
            <a:off x="4983480" y="228600"/>
            <a:ext cx="1737360" cy="2011680"/>
          </a:xfrm>
          <a:prstGeom prst="rect">
            <a:avLst/>
          </a:prstGeom>
          <a:solidFill>
            <a:srgbClr val="FFFFFF"/>
          </a:solidFill>
          <a:ln w="15873">
            <a:solidFill>
              <a:srgbClr val="111111"/>
            </a:solidFill>
            <a:prstDash val="solid"/>
          </a:ln>
        </p:spPr>
        <p:txBody>
          <a:bodyPr lIns="0" tIns="0" rIns="0" bIns="0"/>
          <a:lstStyle/>
          <a:p>
            <a:endParaRPr lang="it-IT"/>
          </a:p>
        </p:txBody>
      </p:sp>
      <p:pic>
        <p:nvPicPr>
          <p:cNvPr id="25" name="Image 1" descr="preencoded.png">
            <a:extLst>
              <a:ext uri="{FF2B5EF4-FFF2-40B4-BE49-F238E27FC236}">
                <a16:creationId xmlns:a16="http://schemas.microsoft.com/office/drawing/2014/main" id="{160BBB42-EF4D-9428-0BA8-2251560D9932}"/>
              </a:ext>
            </a:extLst>
          </p:cNvPr>
          <p:cNvPicPr>
            <a:picLocks noChangeAspect="1"/>
          </p:cNvPicPr>
          <p:nvPr/>
        </p:nvPicPr>
        <p:blipFill>
          <a:blip r:embed="rId4"/>
          <a:stretch>
            <a:fillRect/>
          </a:stretch>
        </p:blipFill>
        <p:spPr>
          <a:xfrm rot="21420016">
            <a:off x="5120640" y="365760"/>
            <a:ext cx="1463040" cy="1463040"/>
          </a:xfrm>
          <a:prstGeom prst="rect">
            <a:avLst/>
          </a:prstGeom>
          <a:noFill/>
          <a:ln>
            <a:noFill/>
          </a:ln>
        </p:spPr>
      </p:pic>
      <p:sp>
        <p:nvSpPr>
          <p:cNvPr id="26" name="Shape 22">
            <a:extLst>
              <a:ext uri="{FF2B5EF4-FFF2-40B4-BE49-F238E27FC236}">
                <a16:creationId xmlns:a16="http://schemas.microsoft.com/office/drawing/2014/main" id="{4CE3C605-4ECC-3364-DF53-D270C18E1013}"/>
              </a:ext>
            </a:extLst>
          </p:cNvPr>
          <p:cNvSpPr/>
          <p:nvPr/>
        </p:nvSpPr>
        <p:spPr>
          <a:xfrm rot="21420016">
            <a:off x="5486400" y="155448"/>
            <a:ext cx="731520" cy="155448"/>
          </a:xfrm>
          <a:prstGeom prst="rect">
            <a:avLst/>
          </a:prstGeom>
          <a:solidFill>
            <a:srgbClr val="E3202B">
              <a:alpha val="80000"/>
            </a:srgbClr>
          </a:solidFill>
          <a:ln w="12701">
            <a:solidFill>
              <a:srgbClr val="E3202B"/>
            </a:solidFill>
            <a:prstDash val="solid"/>
          </a:ln>
        </p:spPr>
        <p:txBody>
          <a:bodyPr lIns="0" tIns="0" rIns="0" bIns="0"/>
          <a:lstStyle/>
          <a:p>
            <a:endParaRPr lang="it-IT"/>
          </a:p>
        </p:txBody>
      </p:sp>
      <p:sp>
        <p:nvSpPr>
          <p:cNvPr id="27" name="Text 23">
            <a:extLst>
              <a:ext uri="{FF2B5EF4-FFF2-40B4-BE49-F238E27FC236}">
                <a16:creationId xmlns:a16="http://schemas.microsoft.com/office/drawing/2014/main" id="{2657C2BD-2C0B-9F72-DC89-EFF7ACB0A3E2}"/>
              </a:ext>
            </a:extLst>
          </p:cNvPr>
          <p:cNvSpPr txBox="1"/>
          <p:nvPr/>
        </p:nvSpPr>
        <p:spPr>
          <a:xfrm rot="21420016">
            <a:off x="4983480" y="1856232"/>
            <a:ext cx="1737360" cy="347472"/>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a:solidFill>
                  <a:srgbClr val="1C14E6"/>
                </a:solidFill>
                <a:uFillTx/>
                <a:latin typeface="Space Mono"/>
                <a:ea typeface="Space Mono"/>
                <a:cs typeface="Space Mono"/>
              </a:rPr>
              <a:t>Sofia</a:t>
            </a:r>
            <a:endParaRPr lang="en-US" sz="1300" b="0" i="0" u="none" strike="noStrike" kern="1200" cap="none" spc="0" baseline="0">
              <a:solidFill>
                <a:srgbClr val="111111"/>
              </a:solidFill>
              <a:uFillTx/>
              <a:latin typeface="Space Mono"/>
              <a:ea typeface="Space Mono"/>
              <a:cs typeface="Space Mono"/>
            </a:endParaRPr>
          </a:p>
        </p:txBody>
      </p:sp>
      <p:sp>
        <p:nvSpPr>
          <p:cNvPr id="28" name="Shape 24">
            <a:extLst>
              <a:ext uri="{FF2B5EF4-FFF2-40B4-BE49-F238E27FC236}">
                <a16:creationId xmlns:a16="http://schemas.microsoft.com/office/drawing/2014/main" id="{62534DE5-09D0-B770-04CC-B3119D43C183}"/>
              </a:ext>
            </a:extLst>
          </p:cNvPr>
          <p:cNvSpPr/>
          <p:nvPr/>
        </p:nvSpPr>
        <p:spPr>
          <a:xfrm rot="180000">
            <a:off x="7168895" y="585216"/>
            <a:ext cx="1737360" cy="2011680"/>
          </a:xfrm>
          <a:prstGeom prst="rect">
            <a:avLst/>
          </a:prstGeom>
          <a:solidFill>
            <a:srgbClr val="E3202B"/>
          </a:solidFill>
          <a:ln w="12701">
            <a:solidFill>
              <a:srgbClr val="E3202B"/>
            </a:solidFill>
            <a:prstDash val="solid"/>
          </a:ln>
        </p:spPr>
        <p:txBody>
          <a:bodyPr lIns="0" tIns="0" rIns="0" bIns="0"/>
          <a:lstStyle/>
          <a:p>
            <a:endParaRPr lang="it-IT"/>
          </a:p>
        </p:txBody>
      </p:sp>
      <p:sp>
        <p:nvSpPr>
          <p:cNvPr id="29" name="Shape 25">
            <a:extLst>
              <a:ext uri="{FF2B5EF4-FFF2-40B4-BE49-F238E27FC236}">
                <a16:creationId xmlns:a16="http://schemas.microsoft.com/office/drawing/2014/main" id="{433A57A9-8782-BD38-FBC7-F111D2870D0B}"/>
              </a:ext>
            </a:extLst>
          </p:cNvPr>
          <p:cNvSpPr/>
          <p:nvPr/>
        </p:nvSpPr>
        <p:spPr>
          <a:xfrm rot="180000">
            <a:off x="7086599" y="502920"/>
            <a:ext cx="1737360" cy="2011680"/>
          </a:xfrm>
          <a:prstGeom prst="rect">
            <a:avLst/>
          </a:prstGeom>
          <a:solidFill>
            <a:srgbClr val="FFFFFF"/>
          </a:solidFill>
          <a:ln w="15873">
            <a:solidFill>
              <a:srgbClr val="111111"/>
            </a:solidFill>
            <a:prstDash val="solid"/>
          </a:ln>
        </p:spPr>
        <p:txBody>
          <a:bodyPr lIns="0" tIns="0" rIns="0" bIns="0"/>
          <a:lstStyle/>
          <a:p>
            <a:endParaRPr lang="it-IT"/>
          </a:p>
        </p:txBody>
      </p:sp>
      <p:pic>
        <p:nvPicPr>
          <p:cNvPr id="30" name="Image 2" descr="preencoded.png">
            <a:extLst>
              <a:ext uri="{FF2B5EF4-FFF2-40B4-BE49-F238E27FC236}">
                <a16:creationId xmlns:a16="http://schemas.microsoft.com/office/drawing/2014/main" id="{3D8FCEAE-F940-0627-232C-8712D2F963A6}"/>
              </a:ext>
            </a:extLst>
          </p:cNvPr>
          <p:cNvPicPr>
            <a:picLocks noChangeAspect="1"/>
          </p:cNvPicPr>
          <p:nvPr/>
        </p:nvPicPr>
        <p:blipFill>
          <a:blip r:embed="rId5"/>
          <a:stretch>
            <a:fillRect/>
          </a:stretch>
        </p:blipFill>
        <p:spPr>
          <a:xfrm rot="180000">
            <a:off x="7223759" y="640080"/>
            <a:ext cx="1463040" cy="1463040"/>
          </a:xfrm>
          <a:prstGeom prst="rect">
            <a:avLst/>
          </a:prstGeom>
          <a:noFill/>
          <a:ln>
            <a:noFill/>
          </a:ln>
        </p:spPr>
      </p:pic>
      <p:sp>
        <p:nvSpPr>
          <p:cNvPr id="31" name="Shape 26">
            <a:extLst>
              <a:ext uri="{FF2B5EF4-FFF2-40B4-BE49-F238E27FC236}">
                <a16:creationId xmlns:a16="http://schemas.microsoft.com/office/drawing/2014/main" id="{1719BA0F-C22E-867E-1C08-B43B50078D56}"/>
              </a:ext>
            </a:extLst>
          </p:cNvPr>
          <p:cNvSpPr/>
          <p:nvPr/>
        </p:nvSpPr>
        <p:spPr>
          <a:xfrm rot="180000">
            <a:off x="7589519" y="429768"/>
            <a:ext cx="731520" cy="155448"/>
          </a:xfrm>
          <a:prstGeom prst="rect">
            <a:avLst/>
          </a:prstGeom>
          <a:solidFill>
            <a:srgbClr val="1C14E6">
              <a:alpha val="80000"/>
            </a:srgbClr>
          </a:solidFill>
          <a:ln w="12701">
            <a:solidFill>
              <a:srgbClr val="1C14E6"/>
            </a:solidFill>
            <a:prstDash val="solid"/>
          </a:ln>
        </p:spPr>
        <p:txBody>
          <a:bodyPr lIns="0" tIns="0" rIns="0" bIns="0"/>
          <a:lstStyle/>
          <a:p>
            <a:endParaRPr lang="it-IT"/>
          </a:p>
        </p:txBody>
      </p:sp>
      <p:sp>
        <p:nvSpPr>
          <p:cNvPr id="32" name="Text 27">
            <a:extLst>
              <a:ext uri="{FF2B5EF4-FFF2-40B4-BE49-F238E27FC236}">
                <a16:creationId xmlns:a16="http://schemas.microsoft.com/office/drawing/2014/main" id="{FAD33D06-2589-14BE-2E3F-D8B5E369F9FD}"/>
              </a:ext>
            </a:extLst>
          </p:cNvPr>
          <p:cNvSpPr txBox="1"/>
          <p:nvPr/>
        </p:nvSpPr>
        <p:spPr>
          <a:xfrm rot="180000">
            <a:off x="7086599" y="2130552"/>
            <a:ext cx="1737360" cy="347472"/>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a:solidFill>
                  <a:srgbClr val="E3202B"/>
                </a:solidFill>
                <a:uFillTx/>
                <a:latin typeface="Space Mono"/>
                <a:ea typeface="Space Mono"/>
                <a:cs typeface="Space Mono"/>
              </a:rPr>
              <a:t>Tommaso</a:t>
            </a:r>
            <a:endParaRPr lang="en-US" sz="1300" b="0" i="0" u="none" strike="noStrike" kern="1200" cap="none" spc="0" baseline="0">
              <a:solidFill>
                <a:srgbClr val="111111"/>
              </a:solidFill>
              <a:uFillTx/>
              <a:latin typeface="Space Mono"/>
              <a:ea typeface="Space Mono"/>
              <a:cs typeface="Space Mono"/>
            </a:endParaRPr>
          </a:p>
        </p:txBody>
      </p:sp>
      <p:sp>
        <p:nvSpPr>
          <p:cNvPr id="33" name="Shape 28">
            <a:extLst>
              <a:ext uri="{FF2B5EF4-FFF2-40B4-BE49-F238E27FC236}">
                <a16:creationId xmlns:a16="http://schemas.microsoft.com/office/drawing/2014/main" id="{BBFDD5CB-3883-A327-AF71-0DFFB14EAE11}"/>
              </a:ext>
            </a:extLst>
          </p:cNvPr>
          <p:cNvSpPr/>
          <p:nvPr/>
        </p:nvSpPr>
        <p:spPr>
          <a:xfrm rot="120012">
            <a:off x="5248656" y="2688336"/>
            <a:ext cx="1737360" cy="2011680"/>
          </a:xfrm>
          <a:prstGeom prst="rect">
            <a:avLst/>
          </a:prstGeom>
          <a:solidFill>
            <a:srgbClr val="1C14E6"/>
          </a:solidFill>
          <a:ln w="12701">
            <a:solidFill>
              <a:srgbClr val="1C14E6"/>
            </a:solidFill>
            <a:prstDash val="solid"/>
          </a:ln>
        </p:spPr>
        <p:txBody>
          <a:bodyPr lIns="0" tIns="0" rIns="0" bIns="0"/>
          <a:lstStyle/>
          <a:p>
            <a:endParaRPr lang="it-IT"/>
          </a:p>
        </p:txBody>
      </p:sp>
      <p:sp>
        <p:nvSpPr>
          <p:cNvPr id="34" name="Shape 29">
            <a:extLst>
              <a:ext uri="{FF2B5EF4-FFF2-40B4-BE49-F238E27FC236}">
                <a16:creationId xmlns:a16="http://schemas.microsoft.com/office/drawing/2014/main" id="{E66C327E-A390-5078-304F-3AB7CE8D52BF}"/>
              </a:ext>
            </a:extLst>
          </p:cNvPr>
          <p:cNvSpPr/>
          <p:nvPr/>
        </p:nvSpPr>
        <p:spPr>
          <a:xfrm rot="120012">
            <a:off x="5166360" y="2606039"/>
            <a:ext cx="1737360" cy="2011680"/>
          </a:xfrm>
          <a:prstGeom prst="rect">
            <a:avLst/>
          </a:prstGeom>
          <a:solidFill>
            <a:srgbClr val="FFFFFF"/>
          </a:solidFill>
          <a:ln w="15873">
            <a:solidFill>
              <a:srgbClr val="111111"/>
            </a:solidFill>
            <a:prstDash val="solid"/>
          </a:ln>
        </p:spPr>
        <p:txBody>
          <a:bodyPr lIns="0" tIns="0" rIns="0" bIns="0"/>
          <a:lstStyle/>
          <a:p>
            <a:endParaRPr lang="it-IT"/>
          </a:p>
        </p:txBody>
      </p:sp>
      <p:pic>
        <p:nvPicPr>
          <p:cNvPr id="35" name="Image 3" descr="preencoded.png">
            <a:extLst>
              <a:ext uri="{FF2B5EF4-FFF2-40B4-BE49-F238E27FC236}">
                <a16:creationId xmlns:a16="http://schemas.microsoft.com/office/drawing/2014/main" id="{AC2458A0-B52A-28AB-22D0-14DFC45B4D82}"/>
              </a:ext>
            </a:extLst>
          </p:cNvPr>
          <p:cNvPicPr>
            <a:picLocks noChangeAspect="1"/>
          </p:cNvPicPr>
          <p:nvPr/>
        </p:nvPicPr>
        <p:blipFill>
          <a:blip r:embed="rId6"/>
          <a:stretch>
            <a:fillRect/>
          </a:stretch>
        </p:blipFill>
        <p:spPr>
          <a:xfrm rot="120012">
            <a:off x="5303520" y="2743200"/>
            <a:ext cx="1463040" cy="1463040"/>
          </a:xfrm>
          <a:prstGeom prst="rect">
            <a:avLst/>
          </a:prstGeom>
          <a:noFill/>
          <a:ln>
            <a:noFill/>
          </a:ln>
        </p:spPr>
      </p:pic>
      <p:sp>
        <p:nvSpPr>
          <p:cNvPr id="36" name="Shape 30">
            <a:extLst>
              <a:ext uri="{FF2B5EF4-FFF2-40B4-BE49-F238E27FC236}">
                <a16:creationId xmlns:a16="http://schemas.microsoft.com/office/drawing/2014/main" id="{43D28C6A-53C3-5E61-3BE6-0AAECFC4DA9C}"/>
              </a:ext>
            </a:extLst>
          </p:cNvPr>
          <p:cNvSpPr/>
          <p:nvPr/>
        </p:nvSpPr>
        <p:spPr>
          <a:xfrm rot="120012">
            <a:off x="5669280" y="2532887"/>
            <a:ext cx="731520" cy="155448"/>
          </a:xfrm>
          <a:prstGeom prst="rect">
            <a:avLst/>
          </a:prstGeom>
          <a:solidFill>
            <a:srgbClr val="E3202B">
              <a:alpha val="80000"/>
            </a:srgbClr>
          </a:solidFill>
          <a:ln w="12701">
            <a:solidFill>
              <a:srgbClr val="E3202B"/>
            </a:solidFill>
            <a:prstDash val="solid"/>
          </a:ln>
        </p:spPr>
        <p:txBody>
          <a:bodyPr lIns="0" tIns="0" rIns="0" bIns="0"/>
          <a:lstStyle/>
          <a:p>
            <a:endParaRPr lang="it-IT"/>
          </a:p>
        </p:txBody>
      </p:sp>
      <p:sp>
        <p:nvSpPr>
          <p:cNvPr id="37" name="Text 31">
            <a:extLst>
              <a:ext uri="{FF2B5EF4-FFF2-40B4-BE49-F238E27FC236}">
                <a16:creationId xmlns:a16="http://schemas.microsoft.com/office/drawing/2014/main" id="{F8BED1AD-A172-69BB-8AD5-A7A10C42D6EA}"/>
              </a:ext>
            </a:extLst>
          </p:cNvPr>
          <p:cNvSpPr txBox="1"/>
          <p:nvPr/>
        </p:nvSpPr>
        <p:spPr>
          <a:xfrm rot="120012">
            <a:off x="5166360" y="4233671"/>
            <a:ext cx="1737360" cy="347472"/>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a:solidFill>
                  <a:srgbClr val="1C14E6"/>
                </a:solidFill>
                <a:uFillTx/>
                <a:latin typeface="Space Mono"/>
                <a:ea typeface="Space Mono"/>
                <a:cs typeface="Space Mono"/>
              </a:rPr>
              <a:t>Chiara</a:t>
            </a:r>
            <a:endParaRPr lang="en-US" sz="1300" b="0" i="0" u="none" strike="noStrike" kern="1200" cap="none" spc="0" baseline="0">
              <a:solidFill>
                <a:srgbClr val="111111"/>
              </a:solidFill>
              <a:uFillTx/>
              <a:latin typeface="Space Mono"/>
              <a:ea typeface="Space Mono"/>
              <a:cs typeface="Space Mono"/>
            </a:endParaRPr>
          </a:p>
        </p:txBody>
      </p:sp>
      <p:sp>
        <p:nvSpPr>
          <p:cNvPr id="38" name="Shape 32">
            <a:extLst>
              <a:ext uri="{FF2B5EF4-FFF2-40B4-BE49-F238E27FC236}">
                <a16:creationId xmlns:a16="http://schemas.microsoft.com/office/drawing/2014/main" id="{CC594EEB-E51C-0C98-A638-F2E75166D3F5}"/>
              </a:ext>
            </a:extLst>
          </p:cNvPr>
          <p:cNvSpPr/>
          <p:nvPr/>
        </p:nvSpPr>
        <p:spPr>
          <a:xfrm rot="21480004">
            <a:off x="7260336" y="2825495"/>
            <a:ext cx="1737360" cy="2011680"/>
          </a:xfrm>
          <a:prstGeom prst="rect">
            <a:avLst/>
          </a:prstGeom>
          <a:solidFill>
            <a:srgbClr val="1C14E6"/>
          </a:solidFill>
          <a:ln w="12701">
            <a:solidFill>
              <a:srgbClr val="1C14E6"/>
            </a:solidFill>
            <a:prstDash val="solid"/>
          </a:ln>
        </p:spPr>
        <p:txBody>
          <a:bodyPr lIns="0" tIns="0" rIns="0" bIns="0"/>
          <a:lstStyle/>
          <a:p>
            <a:endParaRPr lang="it-IT"/>
          </a:p>
        </p:txBody>
      </p:sp>
      <p:sp>
        <p:nvSpPr>
          <p:cNvPr id="39" name="Shape 33">
            <a:extLst>
              <a:ext uri="{FF2B5EF4-FFF2-40B4-BE49-F238E27FC236}">
                <a16:creationId xmlns:a16="http://schemas.microsoft.com/office/drawing/2014/main" id="{0D1D6B5A-7038-A794-7237-54EA5C884020}"/>
              </a:ext>
            </a:extLst>
          </p:cNvPr>
          <p:cNvSpPr/>
          <p:nvPr/>
        </p:nvSpPr>
        <p:spPr>
          <a:xfrm rot="21480004">
            <a:off x="7178040" y="2743199"/>
            <a:ext cx="1737360" cy="2011680"/>
          </a:xfrm>
          <a:prstGeom prst="rect">
            <a:avLst/>
          </a:prstGeom>
          <a:solidFill>
            <a:srgbClr val="FFFFFF"/>
          </a:solidFill>
          <a:ln w="15873">
            <a:solidFill>
              <a:srgbClr val="111111"/>
            </a:solidFill>
            <a:prstDash val="solid"/>
          </a:ln>
        </p:spPr>
        <p:txBody>
          <a:bodyPr lIns="0" tIns="0" rIns="0" bIns="0"/>
          <a:lstStyle/>
          <a:p>
            <a:endParaRPr lang="it-IT"/>
          </a:p>
        </p:txBody>
      </p:sp>
      <p:pic>
        <p:nvPicPr>
          <p:cNvPr id="40" name="Image 4" descr="preencoded.png">
            <a:extLst>
              <a:ext uri="{FF2B5EF4-FFF2-40B4-BE49-F238E27FC236}">
                <a16:creationId xmlns:a16="http://schemas.microsoft.com/office/drawing/2014/main" id="{0CEB5BD6-107E-7AA7-6445-F7B937997073}"/>
              </a:ext>
            </a:extLst>
          </p:cNvPr>
          <p:cNvPicPr>
            <a:picLocks noChangeAspect="1"/>
          </p:cNvPicPr>
          <p:nvPr/>
        </p:nvPicPr>
        <p:blipFill>
          <a:blip r:embed="rId7"/>
          <a:stretch>
            <a:fillRect/>
          </a:stretch>
        </p:blipFill>
        <p:spPr>
          <a:xfrm rot="21480004">
            <a:off x="7315200" y="2880359"/>
            <a:ext cx="1463040" cy="1463040"/>
          </a:xfrm>
          <a:prstGeom prst="rect">
            <a:avLst/>
          </a:prstGeom>
          <a:noFill/>
          <a:ln>
            <a:noFill/>
          </a:ln>
        </p:spPr>
      </p:pic>
      <p:sp>
        <p:nvSpPr>
          <p:cNvPr id="41" name="Shape 34">
            <a:extLst>
              <a:ext uri="{FF2B5EF4-FFF2-40B4-BE49-F238E27FC236}">
                <a16:creationId xmlns:a16="http://schemas.microsoft.com/office/drawing/2014/main" id="{40703128-5856-58C9-84F8-B550F7FDDE9A}"/>
              </a:ext>
            </a:extLst>
          </p:cNvPr>
          <p:cNvSpPr/>
          <p:nvPr/>
        </p:nvSpPr>
        <p:spPr>
          <a:xfrm rot="21480004">
            <a:off x="7680960" y="2670048"/>
            <a:ext cx="731520" cy="155448"/>
          </a:xfrm>
          <a:prstGeom prst="rect">
            <a:avLst/>
          </a:prstGeom>
          <a:solidFill>
            <a:srgbClr val="E3202B">
              <a:alpha val="80000"/>
            </a:srgbClr>
          </a:solidFill>
          <a:ln w="12701">
            <a:solidFill>
              <a:srgbClr val="E3202B"/>
            </a:solidFill>
            <a:prstDash val="solid"/>
          </a:ln>
        </p:spPr>
        <p:txBody>
          <a:bodyPr lIns="0" tIns="0" rIns="0" bIns="0"/>
          <a:lstStyle/>
          <a:p>
            <a:endParaRPr lang="it-IT"/>
          </a:p>
        </p:txBody>
      </p:sp>
      <p:sp>
        <p:nvSpPr>
          <p:cNvPr id="42" name="Text 35">
            <a:extLst>
              <a:ext uri="{FF2B5EF4-FFF2-40B4-BE49-F238E27FC236}">
                <a16:creationId xmlns:a16="http://schemas.microsoft.com/office/drawing/2014/main" id="{33316F5A-A6B7-119B-6DA7-927F41BEFFC0}"/>
              </a:ext>
            </a:extLst>
          </p:cNvPr>
          <p:cNvSpPr txBox="1"/>
          <p:nvPr/>
        </p:nvSpPr>
        <p:spPr>
          <a:xfrm rot="21480004">
            <a:off x="7178040" y="4370832"/>
            <a:ext cx="1737360" cy="347472"/>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a:solidFill>
                  <a:srgbClr val="1C14E6"/>
                </a:solidFill>
                <a:uFillTx/>
                <a:latin typeface="Space Mono"/>
                <a:ea typeface="Space Mono"/>
                <a:cs typeface="Space Mono"/>
              </a:rPr>
              <a:t>Lorenzo</a:t>
            </a:r>
            <a:endParaRPr lang="en-US" sz="1300" b="0" i="0" u="none" strike="noStrike" kern="1200" cap="none" spc="0" baseline="0">
              <a:solidFill>
                <a:srgbClr val="111111"/>
              </a:solidFill>
              <a:uFillTx/>
              <a:latin typeface="Space Mono"/>
              <a:ea typeface="Space Mono"/>
              <a:cs typeface="Space Mono"/>
            </a:endParaRPr>
          </a:p>
        </p:txBody>
      </p:sp>
    </p:spTree>
    <p:extLst>
      <p:ext uri="{BB962C8B-B14F-4D97-AF65-F5344CB8AC3E}">
        <p14:creationId xmlns:p14="http://schemas.microsoft.com/office/powerpoint/2010/main" val="406753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tratto ombra">
            <a:extLst>
              <a:ext uri="{FF2B5EF4-FFF2-40B4-BE49-F238E27FC236}">
                <a16:creationId xmlns:a16="http://schemas.microsoft.com/office/drawing/2014/main" id="{5E736953-D8AB-419C-8370-BBD15BB6679B}"/>
              </a:ext>
            </a:extLst>
          </p:cNvPr>
          <p:cNvSpPr/>
          <p:nvPr/>
        </p:nvSpPr>
        <p:spPr>
          <a:xfrm rot="21420016">
            <a:off x="585216" y="539496"/>
            <a:ext cx="1783080" cy="1783080"/>
          </a:xfrm>
          <a:prstGeom prst="rect">
            <a:avLst/>
          </a:pr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a:extLst>
              <a:ext uri="{FF2B5EF4-FFF2-40B4-BE49-F238E27FC236}">
                <a16:creationId xmlns:a16="http://schemas.microsoft.com/office/drawing/2014/main" id="{26B98F02-2B3B-2EFC-603F-7677753308D6}"/>
              </a:ext>
            </a:extLst>
          </p:cNvPr>
          <p:cNvSpPr/>
          <p:nvPr/>
        </p:nvSpPr>
        <p:spPr>
          <a:xfrm rot="21420016">
            <a:off x="502920" y="457199"/>
            <a:ext cx="1783080" cy="17830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ritratto Sofia">
            <a:extLst>
              <a:ext uri="{FF2B5EF4-FFF2-40B4-BE49-F238E27FC236}">
                <a16:creationId xmlns:a16="http://schemas.microsoft.com/office/drawing/2014/main" id="{B885337D-9699-90BD-92B0-47B6E61A7667}"/>
              </a:ext>
            </a:extLst>
          </p:cNvPr>
          <p:cNvPicPr>
            <a:picLocks noChangeAspect="1"/>
          </p:cNvPicPr>
          <p:nvPr/>
        </p:nvPicPr>
        <p:blipFill>
          <a:blip r:embed="rId3"/>
          <a:stretch>
            <a:fillRect/>
          </a:stretch>
        </p:blipFill>
        <p:spPr>
          <a:xfrm rot="21420016">
            <a:off x="585216" y="539495"/>
            <a:ext cx="1618488" cy="1618488"/>
          </a:xfrm>
          <a:prstGeom prst="rect">
            <a:avLst/>
          </a:prstGeom>
          <a:noFill/>
          <a:ln>
            <a:noFill/>
          </a:ln>
        </p:spPr>
      </p:pic>
      <p:sp>
        <p:nvSpPr>
          <p:cNvPr id="5" name="tape">
            <a:extLst>
              <a:ext uri="{FF2B5EF4-FFF2-40B4-BE49-F238E27FC236}">
                <a16:creationId xmlns:a16="http://schemas.microsoft.com/office/drawing/2014/main" id="{D3343AAC-2E0A-7537-B173-A684E490CE5D}"/>
              </a:ext>
            </a:extLst>
          </p:cNvPr>
          <p:cNvSpPr/>
          <p:nvPr/>
        </p:nvSpPr>
        <p:spPr>
          <a:xfrm rot="21120004">
            <a:off x="1005840" y="365760"/>
            <a:ext cx="777240" cy="155448"/>
          </a:xfrm>
          <a:prstGeom prst="rect">
            <a:avLst/>
          </a:prstGeom>
          <a:solidFill>
            <a:srgbClr val="111111">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Text 3">
            <a:extLst>
              <a:ext uri="{FF2B5EF4-FFF2-40B4-BE49-F238E27FC236}">
                <a16:creationId xmlns:a16="http://schemas.microsoft.com/office/drawing/2014/main" id="{514BB0B4-446B-36C9-7BD6-B0D8D712EAC0}"/>
              </a:ext>
            </a:extLst>
          </p:cNvPr>
          <p:cNvSpPr/>
          <p:nvPr/>
        </p:nvSpPr>
        <p:spPr>
          <a:xfrm>
            <a:off x="2514600" y="292608"/>
            <a:ext cx="201168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E71224"/>
                </a:solidFill>
                <a:uFillTx/>
                <a:latin typeface="Space Mono"/>
                <a:ea typeface="Space Mono"/>
                <a:cs typeface="Space Mono"/>
              </a:rPr>
              <a:t>persona 01  ·  primaria</a:t>
            </a:r>
            <a:endParaRPr lang="it-IT" sz="800" b="0" i="0" u="none" strike="noStrike" kern="1200" cap="none" spc="0" baseline="0">
              <a:solidFill>
                <a:srgbClr val="111111"/>
              </a:solidFill>
              <a:uFillTx/>
              <a:latin typeface="Space Mono"/>
              <a:ea typeface="Space Mono"/>
              <a:cs typeface="Space Mono"/>
            </a:endParaRPr>
          </a:p>
        </p:txBody>
      </p:sp>
      <p:sp>
        <p:nvSpPr>
          <p:cNvPr id="7" name="Text 1">
            <a:extLst>
              <a:ext uri="{FF2B5EF4-FFF2-40B4-BE49-F238E27FC236}">
                <a16:creationId xmlns:a16="http://schemas.microsoft.com/office/drawing/2014/main" id="{18811A63-5C82-C3DE-4F4D-00E9D851C854}"/>
              </a:ext>
            </a:extLst>
          </p:cNvPr>
          <p:cNvSpPr txBox="1">
            <a:spLocks noGrp="1"/>
          </p:cNvSpPr>
          <p:nvPr>
            <p:ph type="title"/>
          </p:nvPr>
        </p:nvSpPr>
        <p:spPr/>
        <p:txBody>
          <a:bodyPr lIns="0" tIns="0" rIns="0" bIns="0" anchor="ctr"/>
          <a:lstStyle/>
          <a:p>
            <a:pPr lvl="0"/>
            <a:r>
              <a:rPr lang="it-IT">
                <a:latin typeface="Space Mono"/>
                <a:ea typeface="Space Mono"/>
                <a:cs typeface="Space Mono"/>
              </a:rPr>
              <a:t>Sofia</a:t>
            </a:r>
          </a:p>
        </p:txBody>
      </p:sp>
      <p:pic>
        <p:nvPicPr>
          <p:cNvPr id="8" name="scribble">
            <a:extLst>
              <a:ext uri="{FF2B5EF4-FFF2-40B4-BE49-F238E27FC236}">
                <a16:creationId xmlns:a16="http://schemas.microsoft.com/office/drawing/2014/main" id="{84375BDC-30B2-24F6-14DA-95EB898BB576}"/>
              </a:ext>
            </a:extLst>
          </p:cNvPr>
          <p:cNvPicPr>
            <a:picLocks noChangeAspect="1"/>
          </p:cNvPicPr>
          <p:nvPr/>
        </p:nvPicPr>
        <p:blipFill>
          <a:blip r:embed="rId4"/>
          <a:stretch>
            <a:fillRect/>
          </a:stretch>
        </p:blipFill>
        <p:spPr>
          <a:xfrm>
            <a:off x="2377440" y="384048"/>
            <a:ext cx="1463040" cy="713232"/>
          </a:xfrm>
          <a:prstGeom prst="rect">
            <a:avLst/>
          </a:prstGeom>
          <a:noFill/>
          <a:ln>
            <a:noFill/>
          </a:ln>
        </p:spPr>
      </p:pic>
      <p:sp>
        <p:nvSpPr>
          <p:cNvPr id="9" name="highlight">
            <a:extLst>
              <a:ext uri="{FF2B5EF4-FFF2-40B4-BE49-F238E27FC236}">
                <a16:creationId xmlns:a16="http://schemas.microsoft.com/office/drawing/2014/main" id="{6F0D5766-BA5A-2B34-0063-C53DC7D85BC9}"/>
              </a:ext>
            </a:extLst>
          </p:cNvPr>
          <p:cNvSpPr/>
          <p:nvPr/>
        </p:nvSpPr>
        <p:spPr>
          <a:xfrm>
            <a:off x="2514600" y="1069848"/>
            <a:ext cx="964692" cy="219456"/>
          </a:xfrm>
          <a:prstGeom prst="rect">
            <a:avLst/>
          </a:prstGeom>
          <a:solidFill>
            <a:srgbClr val="1700E8"/>
          </a:solidFill>
          <a:ln>
            <a:noFill/>
            <a:prstDash val="solid"/>
          </a:ln>
        </p:spPr>
        <p:txBody>
          <a:bodyPr vert="horz" wrap="square" lIns="0" tIns="63495" rIns="63495"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1" u="none" strike="noStrike" kern="1200" cap="none" spc="0" baseline="0">
                <a:solidFill>
                  <a:srgbClr val="FFFFFF"/>
                </a:solidFill>
                <a:uFillTx/>
                <a:latin typeface="Plus Jakarta Sans"/>
                <a:ea typeface="Plus Jakarta Sans"/>
                <a:cs typeface="Plus Jakarta Sans"/>
              </a:rPr>
              <a:t>sicura di sé</a:t>
            </a:r>
            <a:endParaRPr lang="it-IT" sz="1000" b="0" i="0" u="none" strike="noStrike" kern="1200" cap="none" spc="0" baseline="0">
              <a:solidFill>
                <a:srgbClr val="111111"/>
              </a:solidFill>
              <a:uFillTx/>
              <a:latin typeface="Plus Jakarta Sans"/>
              <a:ea typeface="Plus Jakarta Sans"/>
              <a:cs typeface="Plus Jakarta Sans"/>
            </a:endParaRPr>
          </a:p>
        </p:txBody>
      </p:sp>
      <p:sp>
        <p:nvSpPr>
          <p:cNvPr id="10" name="facts">
            <a:extLst>
              <a:ext uri="{FF2B5EF4-FFF2-40B4-BE49-F238E27FC236}">
                <a16:creationId xmlns:a16="http://schemas.microsoft.com/office/drawing/2014/main" id="{C47B268A-609E-46C2-90F3-2F4C28BA558F}"/>
              </a:ext>
            </a:extLst>
          </p:cNvPr>
          <p:cNvSpPr/>
          <p:nvPr/>
        </p:nvSpPr>
        <p:spPr>
          <a:xfrm>
            <a:off x="2514600" y="1417320"/>
            <a:ext cx="2011680" cy="77724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16 anni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3° anno di liceo scientifico, Milano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Instagram, TikTok, Snapchat, WhatsApp</a:t>
            </a:r>
          </a:p>
        </p:txBody>
      </p:sp>
      <p:sp>
        <p:nvSpPr>
          <p:cNvPr id="11" name="Text 7">
            <a:extLst>
              <a:ext uri="{FF2B5EF4-FFF2-40B4-BE49-F238E27FC236}">
                <a16:creationId xmlns:a16="http://schemas.microsoft.com/office/drawing/2014/main" id="{DD2B356A-B414-9796-5AA5-4DC2CF8F693E}"/>
              </a:ext>
            </a:extLst>
          </p:cNvPr>
          <p:cNvSpPr/>
          <p:nvPr/>
        </p:nvSpPr>
        <p:spPr>
          <a:xfrm>
            <a:off x="502920" y="2395728"/>
            <a:ext cx="91440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bio</a:t>
            </a:r>
            <a:endParaRPr lang="it-IT" sz="1000" b="0" i="0" u="none" strike="noStrike" kern="1200" cap="none" spc="0" baseline="0">
              <a:solidFill>
                <a:srgbClr val="111111"/>
              </a:solidFill>
              <a:uFillTx/>
              <a:latin typeface="Space Mono"/>
              <a:ea typeface="Space Mono"/>
              <a:cs typeface="Space Mono"/>
            </a:endParaRPr>
          </a:p>
        </p:txBody>
      </p:sp>
      <p:sp>
        <p:nvSpPr>
          <p:cNvPr id="12" name="bio">
            <a:extLst>
              <a:ext uri="{FF2B5EF4-FFF2-40B4-BE49-F238E27FC236}">
                <a16:creationId xmlns:a16="http://schemas.microsoft.com/office/drawing/2014/main" id="{CA1548C6-F3C2-6249-E2C6-EE5E5A4516ED}"/>
              </a:ext>
            </a:extLst>
          </p:cNvPr>
          <p:cNvSpPr/>
          <p:nvPr/>
        </p:nvSpPr>
        <p:spPr>
          <a:xfrm>
            <a:off x="521354" y="2564489"/>
            <a:ext cx="3927311" cy="846368"/>
          </a:xfrm>
          <a:prstGeom prst="rect">
            <a:avLst/>
          </a:prstGeom>
          <a:noFill/>
          <a:ln>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rgbClr val="0E0E0E"/>
                </a:solidFill>
                <a:uFillTx/>
                <a:latin typeface="Plus Jakarta Sans"/>
                <a:ea typeface="Plus Jakarta Sans"/>
                <a:cs typeface="Plus Jakarta Sans"/>
              </a:rPr>
              <a:t>Sofia è una ragazza che adora stare in compagnia. Di solito esce con il suo gruppo di amiche ma le piace anche estendere le sue conoscenze. Infatti se sui social qualcuno di sconosciuto le inizia a scrivere, tende a rispondergli sempre e più la conversazione va avanti e più tende a fidarsi. Vorrebbe però accertarsi al 100% che il loro profilo sia credibile, specialmente in vista di un incontro dal vivo.</a:t>
            </a:r>
            <a:endParaRPr lang="it-IT" sz="850" b="0" i="0" u="none" strike="noStrike" kern="1200" cap="none" spc="0" baseline="0">
              <a:solidFill>
                <a:srgbClr val="0E0E0E"/>
              </a:solidFill>
              <a:uFillTx/>
              <a:latin typeface="Plus Jakarta Sans"/>
              <a:ea typeface="Plus Jakarta Sans"/>
              <a:cs typeface="Plus Jakarta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50" b="0" i="0" u="none" strike="noStrike" kern="1200" cap="none" spc="0" baseline="0">
              <a:solidFill>
                <a:srgbClr val="111111"/>
              </a:solidFill>
              <a:uFillTx/>
              <a:latin typeface="Plus Jakarta Sans"/>
              <a:ea typeface="Plus Jakarta Sans"/>
              <a:cs typeface="Helvetica"/>
            </a:endParaRPr>
          </a:p>
        </p:txBody>
      </p:sp>
      <p:sp>
        <p:nvSpPr>
          <p:cNvPr id="13" name="personalità ombra">
            <a:extLst>
              <a:ext uri="{FF2B5EF4-FFF2-40B4-BE49-F238E27FC236}">
                <a16:creationId xmlns:a16="http://schemas.microsoft.com/office/drawing/2014/main" id="{F569A0A6-EB37-AE0A-7D4D-210FCF3202CE}"/>
              </a:ext>
            </a:extLst>
          </p:cNvPr>
          <p:cNvSpPr/>
          <p:nvPr/>
        </p:nvSpPr>
        <p:spPr>
          <a:xfrm>
            <a:off x="576072" y="3547872"/>
            <a:ext cx="3886200" cy="118872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4" name="personalità">
            <a:extLst>
              <a:ext uri="{FF2B5EF4-FFF2-40B4-BE49-F238E27FC236}">
                <a16:creationId xmlns:a16="http://schemas.microsoft.com/office/drawing/2014/main" id="{94689B48-294F-B980-5018-FB7404871BB6}"/>
              </a:ext>
            </a:extLst>
          </p:cNvPr>
          <p:cNvSpPr/>
          <p:nvPr/>
        </p:nvSpPr>
        <p:spPr>
          <a:xfrm>
            <a:off x="502920" y="347472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5" name="Text 11">
            <a:extLst>
              <a:ext uri="{FF2B5EF4-FFF2-40B4-BE49-F238E27FC236}">
                <a16:creationId xmlns:a16="http://schemas.microsoft.com/office/drawing/2014/main" id="{1D448E69-5F09-E518-A4C6-82C9B1F95E61}"/>
              </a:ext>
            </a:extLst>
          </p:cNvPr>
          <p:cNvSpPr/>
          <p:nvPr/>
        </p:nvSpPr>
        <p:spPr>
          <a:xfrm>
            <a:off x="640080" y="3566160"/>
            <a:ext cx="32004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1700E8"/>
                </a:solidFill>
                <a:uFillTx/>
                <a:latin typeface="Space Mono"/>
                <a:ea typeface="Space Mono"/>
                <a:cs typeface="Space Mono"/>
              </a:rPr>
              <a:t>personalità e autovalutazione</a:t>
            </a:r>
            <a:endParaRPr lang="it-IT" sz="850" b="0" i="0" u="none" strike="noStrike" kern="1200" cap="none" spc="0" baseline="0">
              <a:solidFill>
                <a:srgbClr val="111111"/>
              </a:solidFill>
              <a:uFillTx/>
              <a:latin typeface="Space Mono"/>
              <a:ea typeface="Space Mono"/>
              <a:cs typeface="Space Mono"/>
            </a:endParaRPr>
          </a:p>
        </p:txBody>
      </p:sp>
      <p:sp>
        <p:nvSpPr>
          <p:cNvPr id="16" name="Text 12">
            <a:extLst>
              <a:ext uri="{FF2B5EF4-FFF2-40B4-BE49-F238E27FC236}">
                <a16:creationId xmlns:a16="http://schemas.microsoft.com/office/drawing/2014/main" id="{AA0394CD-53C4-FB25-766B-9F39BC5D4C15}"/>
              </a:ext>
            </a:extLst>
          </p:cNvPr>
          <p:cNvSpPr/>
          <p:nvPr/>
        </p:nvSpPr>
        <p:spPr>
          <a:xfrm>
            <a:off x="640080" y="3822191"/>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Introversa</a:t>
            </a:r>
          </a:p>
        </p:txBody>
      </p:sp>
      <p:sp>
        <p:nvSpPr>
          <p:cNvPr id="17" name="Text 13">
            <a:extLst>
              <a:ext uri="{FF2B5EF4-FFF2-40B4-BE49-F238E27FC236}">
                <a16:creationId xmlns:a16="http://schemas.microsoft.com/office/drawing/2014/main" id="{806AFCB6-CC35-AA6A-A445-CED3457FCEC7}"/>
              </a:ext>
            </a:extLst>
          </p:cNvPr>
          <p:cNvSpPr/>
          <p:nvPr/>
        </p:nvSpPr>
        <p:spPr>
          <a:xfrm>
            <a:off x="3154679" y="3822191"/>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Estroversa</a:t>
            </a:r>
          </a:p>
        </p:txBody>
      </p:sp>
      <p:sp>
        <p:nvSpPr>
          <p:cNvPr id="18" name="Shape 14">
            <a:extLst>
              <a:ext uri="{FF2B5EF4-FFF2-40B4-BE49-F238E27FC236}">
                <a16:creationId xmlns:a16="http://schemas.microsoft.com/office/drawing/2014/main" id="{14131CFD-DF93-D2BF-F02A-CB3AED4CD52A}"/>
              </a:ext>
            </a:extLst>
          </p:cNvPr>
          <p:cNvSpPr/>
          <p:nvPr/>
        </p:nvSpPr>
        <p:spPr>
          <a:xfrm>
            <a:off x="640080" y="398678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9" name="slider fill">
            <a:extLst>
              <a:ext uri="{FF2B5EF4-FFF2-40B4-BE49-F238E27FC236}">
                <a16:creationId xmlns:a16="http://schemas.microsoft.com/office/drawing/2014/main" id="{F9824DBE-9173-399A-E9C7-27B3CB9A7700}"/>
              </a:ext>
            </a:extLst>
          </p:cNvPr>
          <p:cNvSpPr/>
          <p:nvPr/>
        </p:nvSpPr>
        <p:spPr>
          <a:xfrm>
            <a:off x="640080" y="3986783"/>
            <a:ext cx="2889504"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0" name="slider knob">
            <a:extLst>
              <a:ext uri="{FF2B5EF4-FFF2-40B4-BE49-F238E27FC236}">
                <a16:creationId xmlns:a16="http://schemas.microsoft.com/office/drawing/2014/main" id="{DDA18308-80BB-F102-D1D8-52BBBB7E0F40}"/>
              </a:ext>
            </a:extLst>
          </p:cNvPr>
          <p:cNvSpPr/>
          <p:nvPr/>
        </p:nvSpPr>
        <p:spPr>
          <a:xfrm>
            <a:off x="3465576" y="395020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1" name="Text 17">
            <a:extLst>
              <a:ext uri="{FF2B5EF4-FFF2-40B4-BE49-F238E27FC236}">
                <a16:creationId xmlns:a16="http://schemas.microsoft.com/office/drawing/2014/main" id="{0838123F-1D63-820C-C379-D53A83EEB574}"/>
              </a:ext>
            </a:extLst>
          </p:cNvPr>
          <p:cNvSpPr/>
          <p:nvPr/>
        </p:nvSpPr>
        <p:spPr>
          <a:xfrm>
            <a:off x="640080" y="409651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Verificare un profilo</a:t>
            </a:r>
          </a:p>
        </p:txBody>
      </p:sp>
      <p:sp>
        <p:nvSpPr>
          <p:cNvPr id="22" name="Text 18">
            <a:extLst>
              <a:ext uri="{FF2B5EF4-FFF2-40B4-BE49-F238E27FC236}">
                <a16:creationId xmlns:a16="http://schemas.microsoft.com/office/drawing/2014/main" id="{E754A1A3-CD3C-3306-F98E-7BD3A800EFAD}"/>
              </a:ext>
            </a:extLst>
          </p:cNvPr>
          <p:cNvSpPr/>
          <p:nvPr/>
        </p:nvSpPr>
        <p:spPr>
          <a:xfrm>
            <a:off x="3154679" y="409651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1700E8"/>
                </a:solidFill>
                <a:uFillTx/>
                <a:latin typeface="Space Mono"/>
                <a:ea typeface="Space Mono"/>
                <a:cs typeface="Space Mono"/>
              </a:rPr>
              <a:t>7/10</a:t>
            </a:r>
            <a:endParaRPr lang="it-IT" sz="750" b="0" i="0" u="none" strike="noStrike" kern="1200" cap="none" spc="0" baseline="0">
              <a:solidFill>
                <a:srgbClr val="111111"/>
              </a:solidFill>
              <a:uFillTx/>
              <a:latin typeface="Space Mono"/>
              <a:ea typeface="Space Mono"/>
              <a:cs typeface="Space Mono"/>
            </a:endParaRPr>
          </a:p>
        </p:txBody>
      </p:sp>
      <p:sp>
        <p:nvSpPr>
          <p:cNvPr id="23" name="Shape 19">
            <a:extLst>
              <a:ext uri="{FF2B5EF4-FFF2-40B4-BE49-F238E27FC236}">
                <a16:creationId xmlns:a16="http://schemas.microsoft.com/office/drawing/2014/main" id="{3409D612-0AF7-3689-A5B9-FBC2B5754F66}"/>
              </a:ext>
            </a:extLst>
          </p:cNvPr>
          <p:cNvSpPr/>
          <p:nvPr/>
        </p:nvSpPr>
        <p:spPr>
          <a:xfrm>
            <a:off x="640080" y="426110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4" name="slider fill">
            <a:extLst>
              <a:ext uri="{FF2B5EF4-FFF2-40B4-BE49-F238E27FC236}">
                <a16:creationId xmlns:a16="http://schemas.microsoft.com/office/drawing/2014/main" id="{16BA0B3B-209E-70B8-8088-E0F97DBB3A74}"/>
              </a:ext>
            </a:extLst>
          </p:cNvPr>
          <p:cNvSpPr/>
          <p:nvPr/>
        </p:nvSpPr>
        <p:spPr>
          <a:xfrm>
            <a:off x="640080" y="4261103"/>
            <a:ext cx="2528316"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5" name="slider knob">
            <a:extLst>
              <a:ext uri="{FF2B5EF4-FFF2-40B4-BE49-F238E27FC236}">
                <a16:creationId xmlns:a16="http://schemas.microsoft.com/office/drawing/2014/main" id="{F9A28501-D3B8-08C8-A6F0-5A532E1E84AF}"/>
              </a:ext>
            </a:extLst>
          </p:cNvPr>
          <p:cNvSpPr/>
          <p:nvPr/>
        </p:nvSpPr>
        <p:spPr>
          <a:xfrm>
            <a:off x="3104387" y="422452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6" name="Text 22">
            <a:extLst>
              <a:ext uri="{FF2B5EF4-FFF2-40B4-BE49-F238E27FC236}">
                <a16:creationId xmlns:a16="http://schemas.microsoft.com/office/drawing/2014/main" id="{CF4D4B40-D395-3F92-C25B-1BC957B2AEB3}"/>
              </a:ext>
            </a:extLst>
          </p:cNvPr>
          <p:cNvSpPr/>
          <p:nvPr/>
        </p:nvSpPr>
        <p:spPr>
          <a:xfrm>
            <a:off x="640080" y="437083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Riconoscere un adescamento</a:t>
            </a:r>
          </a:p>
        </p:txBody>
      </p:sp>
      <p:sp>
        <p:nvSpPr>
          <p:cNvPr id="27" name="Text 23">
            <a:extLst>
              <a:ext uri="{FF2B5EF4-FFF2-40B4-BE49-F238E27FC236}">
                <a16:creationId xmlns:a16="http://schemas.microsoft.com/office/drawing/2014/main" id="{EDC9D57B-1F24-3843-4FED-9649663D7D04}"/>
              </a:ext>
            </a:extLst>
          </p:cNvPr>
          <p:cNvSpPr/>
          <p:nvPr/>
        </p:nvSpPr>
        <p:spPr>
          <a:xfrm>
            <a:off x="3154679" y="437083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1700E8"/>
                </a:solidFill>
                <a:uFillTx/>
                <a:latin typeface="Space Mono"/>
                <a:ea typeface="Space Mono"/>
                <a:cs typeface="Space Mono"/>
              </a:rPr>
              <a:t>8/10</a:t>
            </a:r>
            <a:endParaRPr lang="it-IT" sz="750" b="0" i="0" u="none" strike="noStrike" kern="1200" cap="none" spc="0" baseline="0">
              <a:solidFill>
                <a:srgbClr val="111111"/>
              </a:solidFill>
              <a:uFillTx/>
              <a:latin typeface="Space Mono"/>
              <a:ea typeface="Space Mono"/>
              <a:cs typeface="Space Mono"/>
            </a:endParaRPr>
          </a:p>
        </p:txBody>
      </p:sp>
      <p:sp>
        <p:nvSpPr>
          <p:cNvPr id="28" name="Shape 24">
            <a:extLst>
              <a:ext uri="{FF2B5EF4-FFF2-40B4-BE49-F238E27FC236}">
                <a16:creationId xmlns:a16="http://schemas.microsoft.com/office/drawing/2014/main" id="{B981AAC4-2FDD-194D-B8CF-D352477D10C7}"/>
              </a:ext>
            </a:extLst>
          </p:cNvPr>
          <p:cNvSpPr/>
          <p:nvPr/>
        </p:nvSpPr>
        <p:spPr>
          <a:xfrm>
            <a:off x="640080" y="4535424"/>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9" name="slider fill">
            <a:extLst>
              <a:ext uri="{FF2B5EF4-FFF2-40B4-BE49-F238E27FC236}">
                <a16:creationId xmlns:a16="http://schemas.microsoft.com/office/drawing/2014/main" id="{C1A27DF7-7912-72A7-7144-C8A66620559A}"/>
              </a:ext>
            </a:extLst>
          </p:cNvPr>
          <p:cNvSpPr/>
          <p:nvPr/>
        </p:nvSpPr>
        <p:spPr>
          <a:xfrm>
            <a:off x="640080" y="4535424"/>
            <a:ext cx="2889504"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0" name="slider knob">
            <a:extLst>
              <a:ext uri="{FF2B5EF4-FFF2-40B4-BE49-F238E27FC236}">
                <a16:creationId xmlns:a16="http://schemas.microsoft.com/office/drawing/2014/main" id="{DCBD5303-4BC8-FCB7-B954-97E153AA3667}"/>
              </a:ext>
            </a:extLst>
          </p:cNvPr>
          <p:cNvSpPr/>
          <p:nvPr/>
        </p:nvSpPr>
        <p:spPr>
          <a:xfrm>
            <a:off x="3465576" y="449884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1" name="card motivazioni ombra">
            <a:extLst>
              <a:ext uri="{FF2B5EF4-FFF2-40B4-BE49-F238E27FC236}">
                <a16:creationId xmlns:a16="http://schemas.microsoft.com/office/drawing/2014/main" id="{6EC56B41-C9A9-6405-D92E-FA33F191A8BF}"/>
              </a:ext>
            </a:extLst>
          </p:cNvPr>
          <p:cNvSpPr/>
          <p:nvPr/>
        </p:nvSpPr>
        <p:spPr>
          <a:xfrm>
            <a:off x="4782312" y="484632"/>
            <a:ext cx="3886200" cy="118872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2" name="card motivazioni">
            <a:extLst>
              <a:ext uri="{FF2B5EF4-FFF2-40B4-BE49-F238E27FC236}">
                <a16:creationId xmlns:a16="http://schemas.microsoft.com/office/drawing/2014/main" id="{E286DDF4-CC04-FF95-D189-AAED886719EE}"/>
              </a:ext>
            </a:extLst>
          </p:cNvPr>
          <p:cNvSpPr/>
          <p:nvPr/>
        </p:nvSpPr>
        <p:spPr>
          <a:xfrm>
            <a:off x="4709159" y="41148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3" name="Shape 29">
            <a:extLst>
              <a:ext uri="{FF2B5EF4-FFF2-40B4-BE49-F238E27FC236}">
                <a16:creationId xmlns:a16="http://schemas.microsoft.com/office/drawing/2014/main" id="{2C17E832-4F5E-0E8C-A07A-995B23EED676}"/>
              </a:ext>
            </a:extLst>
          </p:cNvPr>
          <p:cNvSpPr/>
          <p:nvPr/>
        </p:nvSpPr>
        <p:spPr>
          <a:xfrm>
            <a:off x="4846320" y="5120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34" name="Image 2">
            <a:extLst>
              <a:ext uri="{FF2B5EF4-FFF2-40B4-BE49-F238E27FC236}">
                <a16:creationId xmlns:a16="http://schemas.microsoft.com/office/drawing/2014/main" id="{9D43FF50-6DDF-855D-B503-3237586CA001}"/>
              </a:ext>
            </a:extLst>
          </p:cNvPr>
          <p:cNvPicPr>
            <a:picLocks noChangeAspect="1"/>
          </p:cNvPicPr>
          <p:nvPr/>
        </p:nvPicPr>
        <p:blipFill>
          <a:blip r:embed="rId5"/>
          <a:stretch>
            <a:fillRect/>
          </a:stretch>
        </p:blipFill>
        <p:spPr>
          <a:xfrm>
            <a:off x="4905755" y="571500"/>
            <a:ext cx="137160" cy="137160"/>
          </a:xfrm>
          <a:prstGeom prst="rect">
            <a:avLst/>
          </a:prstGeom>
          <a:noFill/>
          <a:ln>
            <a:noFill/>
          </a:ln>
        </p:spPr>
      </p:pic>
      <p:sp>
        <p:nvSpPr>
          <p:cNvPr id="35" name="Text 30">
            <a:extLst>
              <a:ext uri="{FF2B5EF4-FFF2-40B4-BE49-F238E27FC236}">
                <a16:creationId xmlns:a16="http://schemas.microsoft.com/office/drawing/2014/main" id="{19FB7F08-599A-B475-8836-42486CADE09A}"/>
              </a:ext>
            </a:extLst>
          </p:cNvPr>
          <p:cNvSpPr/>
          <p:nvPr/>
        </p:nvSpPr>
        <p:spPr>
          <a:xfrm>
            <a:off x="5184648" y="5303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motivazioni</a:t>
            </a:r>
            <a:endParaRPr lang="it-IT" sz="1000" b="0" i="0" u="none" strike="noStrike" kern="1200" cap="none" spc="0" baseline="0">
              <a:solidFill>
                <a:srgbClr val="111111"/>
              </a:solidFill>
              <a:uFillTx/>
              <a:latin typeface="Space Mono"/>
              <a:ea typeface="Space Mono"/>
              <a:cs typeface="Space Mono"/>
            </a:endParaRPr>
          </a:p>
        </p:txBody>
      </p:sp>
      <p:sp>
        <p:nvSpPr>
          <p:cNvPr id="36" name="Text 31">
            <a:extLst>
              <a:ext uri="{FF2B5EF4-FFF2-40B4-BE49-F238E27FC236}">
                <a16:creationId xmlns:a16="http://schemas.microsoft.com/office/drawing/2014/main" id="{E84F72DF-E1E3-45F0-8F7B-A1F7B3E12F15}"/>
              </a:ext>
            </a:extLst>
          </p:cNvPr>
          <p:cNvSpPr/>
          <p:nvPr/>
        </p:nvSpPr>
        <p:spPr>
          <a:xfrm>
            <a:off x="4873752" y="850392"/>
            <a:ext cx="3557015" cy="68580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Conoscere persone nuove senza rinunciare alla prudenza</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Capire se un profilo è affidabile prima di incontrare qualcuno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Decidere in autonomia quando proseguire o interrompere una chat</a:t>
            </a:r>
          </a:p>
        </p:txBody>
      </p:sp>
      <p:sp>
        <p:nvSpPr>
          <p:cNvPr id="37" name="card bisogni e aspettative ombra">
            <a:extLst>
              <a:ext uri="{FF2B5EF4-FFF2-40B4-BE49-F238E27FC236}">
                <a16:creationId xmlns:a16="http://schemas.microsoft.com/office/drawing/2014/main" id="{33772641-0F88-2A91-824D-17DEA44527A9}"/>
              </a:ext>
            </a:extLst>
          </p:cNvPr>
          <p:cNvSpPr/>
          <p:nvPr/>
        </p:nvSpPr>
        <p:spPr>
          <a:xfrm>
            <a:off x="4782312" y="1856231"/>
            <a:ext cx="3886200" cy="1463040"/>
          </a:xfrm>
          <a:prstGeom prst="rect">
            <a:avLst/>
          </a:prstGeom>
          <a:solidFill>
            <a:srgbClr val="111111"/>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8" name="card bisogni e aspettative">
            <a:extLst>
              <a:ext uri="{FF2B5EF4-FFF2-40B4-BE49-F238E27FC236}">
                <a16:creationId xmlns:a16="http://schemas.microsoft.com/office/drawing/2014/main" id="{B7123276-991E-D3E7-CF57-FBD7C12212EB}"/>
              </a:ext>
            </a:extLst>
          </p:cNvPr>
          <p:cNvSpPr/>
          <p:nvPr/>
        </p:nvSpPr>
        <p:spPr>
          <a:xfrm>
            <a:off x="4709159" y="1783080"/>
            <a:ext cx="3886200" cy="1463040"/>
          </a:xfrm>
          <a:prstGeom prst="rect">
            <a:avLst/>
          </a:prstGeom>
          <a:solidFill>
            <a:srgbClr val="1700E8"/>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9" name="Shape 34">
            <a:extLst>
              <a:ext uri="{FF2B5EF4-FFF2-40B4-BE49-F238E27FC236}">
                <a16:creationId xmlns:a16="http://schemas.microsoft.com/office/drawing/2014/main" id="{54FF0C33-6629-5113-6425-1DB6048BA2B6}"/>
              </a:ext>
            </a:extLst>
          </p:cNvPr>
          <p:cNvSpPr/>
          <p:nvPr/>
        </p:nvSpPr>
        <p:spPr>
          <a:xfrm>
            <a:off x="4846320" y="18836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0" name="Image 3">
            <a:extLst>
              <a:ext uri="{FF2B5EF4-FFF2-40B4-BE49-F238E27FC236}">
                <a16:creationId xmlns:a16="http://schemas.microsoft.com/office/drawing/2014/main" id="{A6C79B4D-DFE7-A582-4708-0EFCDD7CAE8A}"/>
              </a:ext>
            </a:extLst>
          </p:cNvPr>
          <p:cNvPicPr>
            <a:picLocks noChangeAspect="1"/>
          </p:cNvPicPr>
          <p:nvPr/>
        </p:nvPicPr>
        <p:blipFill>
          <a:blip r:embed="rId6"/>
          <a:stretch>
            <a:fillRect/>
          </a:stretch>
        </p:blipFill>
        <p:spPr>
          <a:xfrm>
            <a:off x="4905755" y="1943100"/>
            <a:ext cx="137160" cy="137160"/>
          </a:xfrm>
          <a:prstGeom prst="rect">
            <a:avLst/>
          </a:prstGeom>
          <a:noFill/>
          <a:ln>
            <a:noFill/>
          </a:ln>
        </p:spPr>
      </p:pic>
      <p:sp>
        <p:nvSpPr>
          <p:cNvPr id="41" name="Text 35">
            <a:extLst>
              <a:ext uri="{FF2B5EF4-FFF2-40B4-BE49-F238E27FC236}">
                <a16:creationId xmlns:a16="http://schemas.microsoft.com/office/drawing/2014/main" id="{25D642A3-992F-41E7-A84E-91140ACD8FF3}"/>
              </a:ext>
            </a:extLst>
          </p:cNvPr>
          <p:cNvSpPr/>
          <p:nvPr/>
        </p:nvSpPr>
        <p:spPr>
          <a:xfrm>
            <a:off x="5184648" y="19019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FFFFFF"/>
                </a:solidFill>
                <a:uFillTx/>
                <a:latin typeface="Space Mono"/>
                <a:ea typeface="Space Mono"/>
                <a:cs typeface="Space Mono"/>
              </a:rPr>
              <a:t>bisogni e aspettative</a:t>
            </a:r>
            <a:endParaRPr lang="it-IT" sz="1000" b="0" i="0" u="none" strike="noStrike" kern="1200" cap="none" spc="0" baseline="0">
              <a:solidFill>
                <a:srgbClr val="111111"/>
              </a:solidFill>
              <a:uFillTx/>
              <a:latin typeface="Space Mono"/>
              <a:ea typeface="Space Mono"/>
              <a:cs typeface="Space Mono"/>
            </a:endParaRPr>
          </a:p>
        </p:txBody>
      </p:sp>
      <p:sp>
        <p:nvSpPr>
          <p:cNvPr id="42" name="Text 36">
            <a:extLst>
              <a:ext uri="{FF2B5EF4-FFF2-40B4-BE49-F238E27FC236}">
                <a16:creationId xmlns:a16="http://schemas.microsoft.com/office/drawing/2014/main" id="{23614EFD-33FC-C6CE-4053-EF5AF3572AFD}"/>
              </a:ext>
            </a:extLst>
          </p:cNvPr>
          <p:cNvSpPr/>
          <p:nvPr/>
        </p:nvSpPr>
        <p:spPr>
          <a:xfrm>
            <a:off x="4873752" y="2221991"/>
            <a:ext cx="3557015" cy="96012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Space Mono"/>
                <a:ea typeface="Space Mono"/>
                <a:cs typeface="Space Mono"/>
              </a:rPr>
              <a:t>B3+B6  Capire chi c'è davvero dall'altra parte</a:t>
            </a:r>
            <a:endParaRPr lang="it-IT" sz="800" b="0" i="0" u="none" strike="noStrike" kern="1200" cap="none" spc="0" baseline="0">
              <a:solidFill>
                <a:srgbClr val="111111"/>
              </a:solidFill>
              <a:uFillTx/>
              <a:latin typeface="Space Mono"/>
              <a:ea typeface="Space Mono"/>
              <a:cs typeface="Space Mono"/>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Riconoscere lusinghe, confidenza rapida e richieste di segreto</a:t>
            </a:r>
            <a:endParaRPr lang="it-IT" sz="8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Verificare l'identità senza affidarsi solo ad amici in comune, foto e storie</a:t>
            </a:r>
            <a:endParaRPr lang="it-IT" sz="800" b="0" i="0" u="none" strike="noStrike" kern="1200" cap="none" spc="0" baseline="0">
              <a:solidFill>
                <a:srgbClr val="111111"/>
              </a:solidFill>
              <a:uFillTx/>
              <a:latin typeface="Plus Jakarta Sans"/>
              <a:ea typeface="Plus Jakarta Sans"/>
              <a:cs typeface="Plus Jakarta Sans"/>
            </a:endParaRPr>
          </a:p>
        </p:txBody>
      </p:sp>
      <p:sp>
        <p:nvSpPr>
          <p:cNvPr id="43" name="card frustrazioni ombra">
            <a:extLst>
              <a:ext uri="{FF2B5EF4-FFF2-40B4-BE49-F238E27FC236}">
                <a16:creationId xmlns:a16="http://schemas.microsoft.com/office/drawing/2014/main" id="{224A3E04-AD18-9C8C-9D09-E0342D26F0AF}"/>
              </a:ext>
            </a:extLst>
          </p:cNvPr>
          <p:cNvSpPr/>
          <p:nvPr/>
        </p:nvSpPr>
        <p:spPr>
          <a:xfrm>
            <a:off x="4782312" y="3547872"/>
            <a:ext cx="3886200" cy="123444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4" name="card frustrazioni">
            <a:extLst>
              <a:ext uri="{FF2B5EF4-FFF2-40B4-BE49-F238E27FC236}">
                <a16:creationId xmlns:a16="http://schemas.microsoft.com/office/drawing/2014/main" id="{B34BC182-D3BD-1FE2-4696-A28F55EC15C6}"/>
              </a:ext>
            </a:extLst>
          </p:cNvPr>
          <p:cNvSpPr/>
          <p:nvPr/>
        </p:nvSpPr>
        <p:spPr>
          <a:xfrm>
            <a:off x="4709159" y="3468328"/>
            <a:ext cx="3886200" cy="123444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5" name="Shape 39">
            <a:extLst>
              <a:ext uri="{FF2B5EF4-FFF2-40B4-BE49-F238E27FC236}">
                <a16:creationId xmlns:a16="http://schemas.microsoft.com/office/drawing/2014/main" id="{EFA8583E-995B-B098-267A-8662A1AE1554}"/>
              </a:ext>
            </a:extLst>
          </p:cNvPr>
          <p:cNvSpPr/>
          <p:nvPr/>
        </p:nvSpPr>
        <p:spPr>
          <a:xfrm>
            <a:off x="4846320" y="352958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6" name="Image 4">
            <a:extLst>
              <a:ext uri="{FF2B5EF4-FFF2-40B4-BE49-F238E27FC236}">
                <a16:creationId xmlns:a16="http://schemas.microsoft.com/office/drawing/2014/main" id="{0559DCBC-847F-3F1A-6EE8-2FE168C35EBE}"/>
              </a:ext>
            </a:extLst>
          </p:cNvPr>
          <p:cNvPicPr>
            <a:picLocks noChangeAspect="1"/>
          </p:cNvPicPr>
          <p:nvPr/>
        </p:nvPicPr>
        <p:blipFill>
          <a:blip r:embed="rId7"/>
          <a:stretch>
            <a:fillRect/>
          </a:stretch>
        </p:blipFill>
        <p:spPr>
          <a:xfrm>
            <a:off x="4905755" y="3589020"/>
            <a:ext cx="137160" cy="137160"/>
          </a:xfrm>
          <a:prstGeom prst="rect">
            <a:avLst/>
          </a:prstGeom>
          <a:noFill/>
          <a:ln>
            <a:noFill/>
          </a:ln>
        </p:spPr>
      </p:pic>
      <p:sp>
        <p:nvSpPr>
          <p:cNvPr id="47" name="Text 40">
            <a:extLst>
              <a:ext uri="{FF2B5EF4-FFF2-40B4-BE49-F238E27FC236}">
                <a16:creationId xmlns:a16="http://schemas.microsoft.com/office/drawing/2014/main" id="{8BA894D4-37BE-F1B0-B4E9-CC987CDC1143}"/>
              </a:ext>
            </a:extLst>
          </p:cNvPr>
          <p:cNvSpPr/>
          <p:nvPr/>
        </p:nvSpPr>
        <p:spPr>
          <a:xfrm>
            <a:off x="5184648" y="354787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frustrazioni</a:t>
            </a:r>
            <a:endParaRPr lang="it-IT" sz="1000" b="0" i="0" u="none" strike="noStrike" kern="1200" cap="none" spc="0" baseline="0">
              <a:solidFill>
                <a:srgbClr val="111111"/>
              </a:solidFill>
              <a:uFillTx/>
              <a:latin typeface="Space Mono"/>
              <a:ea typeface="Space Mono"/>
              <a:cs typeface="Space Mono"/>
            </a:endParaRPr>
          </a:p>
        </p:txBody>
      </p:sp>
      <p:sp>
        <p:nvSpPr>
          <p:cNvPr id="48" name="Text 41">
            <a:extLst>
              <a:ext uri="{FF2B5EF4-FFF2-40B4-BE49-F238E27FC236}">
                <a16:creationId xmlns:a16="http://schemas.microsoft.com/office/drawing/2014/main" id="{F0D0CDED-BB37-A775-4F10-E8F266A0F657}"/>
              </a:ext>
            </a:extLst>
          </p:cNvPr>
          <p:cNvSpPr/>
          <p:nvPr/>
        </p:nvSpPr>
        <p:spPr>
          <a:xfrm>
            <a:off x="5001768" y="3822191"/>
            <a:ext cx="3557015" cy="73152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Amici in comune e storie sembrano prove, ma possono essere costruiti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I segnali sospetti arrivano poco alla volta e sembrano innocui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Non sapere come verificare un profilo senza sembrare paranoica</a:t>
            </a:r>
          </a:p>
        </p:txBody>
      </p:sp>
      <p:sp>
        <p:nvSpPr>
          <p:cNvPr id="49" name="Slide Number Placeholder 0">
            <a:extLst>
              <a:ext uri="{FF2B5EF4-FFF2-40B4-BE49-F238E27FC236}">
                <a16:creationId xmlns:a16="http://schemas.microsoft.com/office/drawing/2014/main" id="{E1AF1CBC-4957-ED84-55CF-51C913A8EFCC}"/>
              </a:ext>
            </a:extLst>
          </p:cNvPr>
          <p:cNvSpPr txBox="1">
            <a:spLocks noGrp="1"/>
          </p:cNvSpPr>
          <p:nvPr>
            <p:ph type="sldNum" sz="quarter" idx="8"/>
          </p:nvPr>
        </p:nvSpPr>
        <p:spPr/>
        <p:txBody>
          <a:bodyPr/>
          <a:lstStyle/>
          <a:p>
            <a:pPr lvl="0"/>
            <a:fld id="{25537789-4FF1-45AD-A274-1A79B5D11515}" type="slidenum">
              <a:t>16</a:t>
            </a:fld>
            <a:endParaRPr lang="it-IT"/>
          </a:p>
        </p:txBody>
      </p:sp>
    </p:spTree>
    <p:extLst>
      <p:ext uri="{BB962C8B-B14F-4D97-AF65-F5344CB8AC3E}">
        <p14:creationId xmlns:p14="http://schemas.microsoft.com/office/powerpoint/2010/main" val="2009858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cena ombra">
            <a:extLst>
              <a:ext uri="{FF2B5EF4-FFF2-40B4-BE49-F238E27FC236}">
                <a16:creationId xmlns:a16="http://schemas.microsoft.com/office/drawing/2014/main" id="{D8DB3D6E-FAF2-7BF4-F1D9-F55BC5D68750}"/>
              </a:ext>
            </a:extLst>
          </p:cNvPr>
          <p:cNvSpPr/>
          <p:nvPr/>
        </p:nvSpPr>
        <p:spPr>
          <a:xfrm rot="21449993">
            <a:off x="594361" y="502920"/>
            <a:ext cx="3611879" cy="3886200"/>
          </a:xfrm>
          <a:prstGeom prst="rect">
            <a:avLst/>
          </a:pr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scena">
            <a:extLst>
              <a:ext uri="{FF2B5EF4-FFF2-40B4-BE49-F238E27FC236}">
                <a16:creationId xmlns:a16="http://schemas.microsoft.com/office/drawing/2014/main" id="{652B16A0-36A7-BF2F-46DB-C0D9F18CF89E}"/>
              </a:ext>
            </a:extLst>
          </p:cNvPr>
          <p:cNvSpPr/>
          <p:nvPr/>
        </p:nvSpPr>
        <p:spPr>
          <a:xfrm rot="21449993">
            <a:off x="502921" y="411479"/>
            <a:ext cx="3611879" cy="388620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illustrazione amici in comune">
            <a:extLst>
              <a:ext uri="{FF2B5EF4-FFF2-40B4-BE49-F238E27FC236}">
                <a16:creationId xmlns:a16="http://schemas.microsoft.com/office/drawing/2014/main" id="{11A658C0-91AC-C5C9-A1B4-077E6FC6C4A8}"/>
              </a:ext>
            </a:extLst>
          </p:cNvPr>
          <p:cNvPicPr>
            <a:picLocks noChangeAspect="1"/>
          </p:cNvPicPr>
          <p:nvPr/>
        </p:nvPicPr>
        <p:blipFill>
          <a:blip r:embed="rId3"/>
          <a:stretch>
            <a:fillRect/>
          </a:stretch>
        </p:blipFill>
        <p:spPr>
          <a:xfrm rot="21449993">
            <a:off x="640080" y="548640"/>
            <a:ext cx="3337560" cy="3291840"/>
          </a:xfrm>
          <a:prstGeom prst="rect">
            <a:avLst/>
          </a:prstGeom>
          <a:noFill/>
          <a:ln>
            <a:noFill/>
          </a:ln>
        </p:spPr>
      </p:pic>
      <p:sp>
        <p:nvSpPr>
          <p:cNvPr id="5" name="tape">
            <a:extLst>
              <a:ext uri="{FF2B5EF4-FFF2-40B4-BE49-F238E27FC236}">
                <a16:creationId xmlns:a16="http://schemas.microsoft.com/office/drawing/2014/main" id="{3C0AD38A-6002-9F8C-6527-44724FD6D44C}"/>
              </a:ext>
            </a:extLst>
          </p:cNvPr>
          <p:cNvSpPr/>
          <p:nvPr/>
        </p:nvSpPr>
        <p:spPr>
          <a:xfrm rot="21150015">
            <a:off x="1767078" y="320040"/>
            <a:ext cx="1083564" cy="155448"/>
          </a:xfrm>
          <a:prstGeom prst="rect">
            <a:avLst/>
          </a:prstGeom>
          <a:solidFill>
            <a:srgbClr val="E71224">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citazione">
            <a:extLst>
              <a:ext uri="{FF2B5EF4-FFF2-40B4-BE49-F238E27FC236}">
                <a16:creationId xmlns:a16="http://schemas.microsoft.com/office/drawing/2014/main" id="{C6463769-0B68-A143-F889-C7452599EB83}"/>
              </a:ext>
            </a:extLst>
          </p:cNvPr>
          <p:cNvSpPr/>
          <p:nvPr/>
        </p:nvSpPr>
        <p:spPr>
          <a:xfrm rot="21359993">
            <a:off x="1005839" y="3537219"/>
            <a:ext cx="3429000" cy="457200"/>
          </a:xfrm>
          <a:prstGeom prst="rect">
            <a:avLst/>
          </a:prstGeom>
          <a:solidFill>
            <a:srgbClr val="1700E8"/>
          </a:solidFill>
          <a:ln w="15873">
            <a:solidFill>
              <a:srgbClr val="111111"/>
            </a:solidFill>
            <a:prstDash val="solid"/>
          </a:ln>
          <a:effectLst>
            <a:outerShdw dist="38096" dir="2700000" algn="tl">
              <a:srgbClr val="111111"/>
            </a:outerShdw>
          </a:effectLst>
        </p:spPr>
        <p:txBody>
          <a:bodyPr vert="horz" wrap="square" lIns="25402" tIns="101598" rIns="101598" bIns="25402"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100" b="1" i="1" u="none" strike="noStrike" kern="1200" cap="none" spc="0" baseline="0">
                <a:solidFill>
                  <a:srgbClr val="FFFFFF"/>
                </a:solidFill>
                <a:uFillTx/>
                <a:latin typeface="Plus Jakarta Sans"/>
                <a:ea typeface="Plus Jakarta Sans"/>
                <a:cs typeface="Plus Jakarta Sans"/>
              </a:rPr>
              <a:t>Vieni da sola, i tuoi amici mi mettono ansia</a:t>
            </a:r>
            <a:endParaRPr lang="it-IT" sz="1100" b="0" i="0" u="none" strike="noStrike" kern="1200" cap="none" spc="0" baseline="0">
              <a:solidFill>
                <a:srgbClr val="111111"/>
              </a:solidFill>
              <a:uFillTx/>
              <a:latin typeface="Plus Jakarta Sans"/>
              <a:ea typeface="Plus Jakarta Sans"/>
              <a:cs typeface="Plus Jakarta Sans"/>
            </a:endParaRPr>
          </a:p>
        </p:txBody>
      </p:sp>
      <p:sp>
        <p:nvSpPr>
          <p:cNvPr id="7" name="Text 5">
            <a:extLst>
              <a:ext uri="{FF2B5EF4-FFF2-40B4-BE49-F238E27FC236}">
                <a16:creationId xmlns:a16="http://schemas.microsoft.com/office/drawing/2014/main" id="{3B6E9950-6A85-B558-6F08-13E5AEB81C29}"/>
              </a:ext>
            </a:extLst>
          </p:cNvPr>
          <p:cNvSpPr/>
          <p:nvPr/>
        </p:nvSpPr>
        <p:spPr>
          <a:xfrm>
            <a:off x="4663440" y="411480"/>
            <a:ext cx="237744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E71224"/>
                </a:solidFill>
                <a:uFillTx/>
                <a:latin typeface="Space Mono"/>
                <a:ea typeface="Space Mono"/>
                <a:cs typeface="Space Mono"/>
              </a:rPr>
              <a:t>la storia di Sofia</a:t>
            </a:r>
            <a:endParaRPr lang="it-IT" sz="850" b="0" i="0" u="none" strike="noStrike" kern="1200" cap="none" spc="0" baseline="0">
              <a:solidFill>
                <a:srgbClr val="E71224"/>
              </a:solidFill>
              <a:uFillTx/>
              <a:latin typeface="Space Mono"/>
              <a:ea typeface="Space Mono"/>
              <a:cs typeface="Space Mono"/>
            </a:endParaRPr>
          </a:p>
        </p:txBody>
      </p:sp>
      <p:sp>
        <p:nvSpPr>
          <p:cNvPr id="8" name="Text 6">
            <a:extLst>
              <a:ext uri="{FF2B5EF4-FFF2-40B4-BE49-F238E27FC236}">
                <a16:creationId xmlns:a16="http://schemas.microsoft.com/office/drawing/2014/main" id="{58B42A25-6508-22AB-8DD0-444C24492EED}"/>
              </a:ext>
            </a:extLst>
          </p:cNvPr>
          <p:cNvSpPr/>
          <p:nvPr/>
        </p:nvSpPr>
        <p:spPr>
          <a:xfrm>
            <a:off x="7269480" y="384048"/>
            <a:ext cx="457200" cy="256032"/>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900" b="1" i="0" u="none" strike="noStrike" kern="1200" cap="none" spc="0" baseline="0">
              <a:solidFill>
                <a:srgbClr val="E71224"/>
              </a:solidFill>
              <a:uFillTx/>
              <a:latin typeface="Space Mono"/>
              <a:ea typeface="Space Mono"/>
              <a:cs typeface="Plus Jakarta Sans"/>
            </a:endParaRPr>
          </a:p>
        </p:txBody>
      </p:sp>
      <p:sp>
        <p:nvSpPr>
          <p:cNvPr id="9" name="Text 1">
            <a:extLst>
              <a:ext uri="{FF2B5EF4-FFF2-40B4-BE49-F238E27FC236}">
                <a16:creationId xmlns:a16="http://schemas.microsoft.com/office/drawing/2014/main" id="{6AA992CB-A500-E5B8-A8B4-E9E43506DB0B}"/>
              </a:ext>
            </a:extLst>
          </p:cNvPr>
          <p:cNvSpPr txBox="1">
            <a:spLocks noGrp="1"/>
          </p:cNvSpPr>
          <p:nvPr>
            <p:ph type="title"/>
          </p:nvPr>
        </p:nvSpPr>
        <p:spPr/>
        <p:txBody>
          <a:bodyPr lIns="0" tIns="0" rIns="0" bIns="0" anchor="ctr"/>
          <a:lstStyle/>
          <a:p>
            <a:pPr lvl="0"/>
            <a:r>
              <a:rPr lang="it-IT">
                <a:latin typeface="Space Mono"/>
                <a:ea typeface="Space Mono"/>
                <a:cs typeface="Space Mono"/>
              </a:rPr>
              <a:t>amici in comune</a:t>
            </a:r>
          </a:p>
        </p:txBody>
      </p:sp>
      <p:sp>
        <p:nvSpPr>
          <p:cNvPr id="10" name="chip B3+B6 · capire chi c&amp;apos;è davvero dall&amp;apos;altra parte">
            <a:extLst>
              <a:ext uri="{FF2B5EF4-FFF2-40B4-BE49-F238E27FC236}">
                <a16:creationId xmlns:a16="http://schemas.microsoft.com/office/drawing/2014/main" id="{B11F31B1-8DF4-498D-D788-5DA409608807}"/>
              </a:ext>
            </a:extLst>
          </p:cNvPr>
          <p:cNvSpPr/>
          <p:nvPr/>
        </p:nvSpPr>
        <p:spPr>
          <a:xfrm>
            <a:off x="4663440" y="1188720"/>
            <a:ext cx="2708151"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w="12701">
            <a:solidFill>
              <a:srgbClr val="111111"/>
            </a:solid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00" b="1" i="0" u="none" strike="noStrike" kern="1200" cap="none" spc="0" baseline="0">
                <a:solidFill>
                  <a:srgbClr val="FFFFFF"/>
                </a:solidFill>
                <a:uFillTx/>
                <a:latin typeface="Space Mono"/>
                <a:ea typeface="Space Mono"/>
                <a:cs typeface="Space Mono"/>
              </a:rPr>
              <a:t>B3+B6 · capire chi c'è davvero dall'altra parte</a:t>
            </a:r>
            <a:endParaRPr lang="it-IT" sz="700" b="0" i="0" u="none" strike="noStrike" kern="1200" cap="none" spc="0" baseline="0">
              <a:solidFill>
                <a:srgbClr val="111111"/>
              </a:solidFill>
              <a:uFillTx/>
              <a:latin typeface="Space Mono"/>
              <a:ea typeface="Space Mono"/>
              <a:cs typeface="Space Mono"/>
            </a:endParaRPr>
          </a:p>
        </p:txBody>
      </p:sp>
      <p:sp>
        <p:nvSpPr>
          <p:cNvPr id="11" name="story">
            <a:extLst>
              <a:ext uri="{FF2B5EF4-FFF2-40B4-BE49-F238E27FC236}">
                <a16:creationId xmlns:a16="http://schemas.microsoft.com/office/drawing/2014/main" id="{D4A533E6-90FB-3B8A-3D5B-B5BBAE258D0E}"/>
              </a:ext>
            </a:extLst>
          </p:cNvPr>
          <p:cNvSpPr/>
          <p:nvPr/>
        </p:nvSpPr>
        <p:spPr>
          <a:xfrm>
            <a:off x="4697053" y="1660714"/>
            <a:ext cx="4081186" cy="3094165"/>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000" b="0" i="0" u="none" strike="noStrike" kern="1200" cap="none" spc="0" baseline="0">
              <a:solidFill>
                <a:srgbClr val="111111"/>
              </a:solidFill>
              <a:uFillTx/>
              <a:latin typeface="Plus Jakarta Sans"/>
              <a:ea typeface="Plus Jakarta Sans"/>
              <a:cs typeface="Plus Jakarta Sans"/>
            </a:endParaRPr>
          </a:p>
        </p:txBody>
      </p:sp>
      <p:sp>
        <p:nvSpPr>
          <p:cNvPr id="12" name="Slide Number Placeholder 0">
            <a:extLst>
              <a:ext uri="{FF2B5EF4-FFF2-40B4-BE49-F238E27FC236}">
                <a16:creationId xmlns:a16="http://schemas.microsoft.com/office/drawing/2014/main" id="{257E057E-E53C-93C0-A481-4BC74023DBCB}"/>
              </a:ext>
            </a:extLst>
          </p:cNvPr>
          <p:cNvSpPr txBox="1">
            <a:spLocks noGrp="1"/>
          </p:cNvSpPr>
          <p:nvPr>
            <p:ph type="sldNum" sz="quarter" idx="8"/>
          </p:nvPr>
        </p:nvSpPr>
        <p:spPr/>
        <p:txBody>
          <a:bodyPr/>
          <a:lstStyle/>
          <a:p>
            <a:pPr lvl="0"/>
            <a:fld id="{6D21A716-A595-49B1-9FC5-41284A62595D}" type="slidenum">
              <a:t>17</a:t>
            </a:fld>
            <a:endParaRPr lang="it-IT"/>
          </a:p>
        </p:txBody>
      </p:sp>
      <p:sp>
        <p:nvSpPr>
          <p:cNvPr id="13" name="CasellaDiTesto 4">
            <a:extLst>
              <a:ext uri="{FF2B5EF4-FFF2-40B4-BE49-F238E27FC236}">
                <a16:creationId xmlns:a16="http://schemas.microsoft.com/office/drawing/2014/main" id="{7C997299-A83F-790D-1428-7FBD9B06F27D}"/>
              </a:ext>
            </a:extLst>
          </p:cNvPr>
          <p:cNvSpPr txBox="1"/>
          <p:nvPr/>
        </p:nvSpPr>
        <p:spPr>
          <a:xfrm>
            <a:off x="5748613" y="2235570"/>
            <a:ext cx="2743200" cy="365760"/>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4" name="CasellaDiTesto 16">
            <a:extLst>
              <a:ext uri="{FF2B5EF4-FFF2-40B4-BE49-F238E27FC236}">
                <a16:creationId xmlns:a16="http://schemas.microsoft.com/office/drawing/2014/main" id="{65E376B1-6FAE-B0A0-FBC9-26A83F30DA62}"/>
              </a:ext>
            </a:extLst>
          </p:cNvPr>
          <p:cNvSpPr txBox="1"/>
          <p:nvPr/>
        </p:nvSpPr>
        <p:spPr>
          <a:xfrm>
            <a:off x="4664445" y="1664070"/>
            <a:ext cx="3936629" cy="2862318"/>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0" i="0" u="none" strike="noStrike" kern="1200" cap="none" spc="0" baseline="0">
                <a:solidFill>
                  <a:srgbClr val="111111"/>
                </a:solidFill>
                <a:uFillTx/>
                <a:latin typeface="Plus Jakarta Sans"/>
                <a:ea typeface="Plus Jakarta Sans"/>
                <a:cs typeface="Plus Jakarta Sans"/>
              </a:rPr>
              <a:t>Sofia riceve una richiesta da Andrea, che dice di fare il quarto anno in un liceo vicino. Hanno diversi amici in comune, nelle sue storie ci sono feste e partite di pallavolo nella zona.</a:t>
            </a:r>
            <a:endParaRPr lang="it-IT" sz="1800" b="0" i="0" u="none" strike="noStrike" kern="1200" cap="none" spc="0" baseline="0">
              <a:solidFill>
                <a:srgbClr val="111111"/>
              </a:solidFill>
              <a:uFillTx/>
              <a:latin typeface="Plus Jakarta Sans"/>
              <a:ea typeface="Plus Jakarta Sans"/>
              <a:cs typeface="Plus Jakarta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0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0" i="0" u="none" strike="noStrike" kern="1200" cap="none" spc="0" baseline="0">
                <a:solidFill>
                  <a:srgbClr val="111111"/>
                </a:solidFill>
                <a:uFillTx/>
                <a:latin typeface="Plus Jakarta Sans"/>
                <a:ea typeface="Plus Jakarta Sans"/>
                <a:cs typeface="Plus Jakarta Sans"/>
              </a:rPr>
              <a:t>Conversano online per qualche settimana: lui è gentile, si ricorda di tutto, le scrive spesso. Un giorno le propone di vedersi alle quattro in Duomo, e le chiede di venire da sola perché “</a:t>
            </a:r>
            <a:r>
              <a:rPr lang="it-IT" sz="1000" b="1" i="0" u="none" strike="noStrike" kern="1200" cap="none" spc="0" baseline="0">
                <a:solidFill>
                  <a:srgbClr val="111111"/>
                </a:solidFill>
                <a:uFillTx/>
                <a:latin typeface="Plus Jakarta Sans"/>
                <a:ea typeface="Plus Jakarta Sans"/>
                <a:cs typeface="Plus Jakarta Sans"/>
              </a:rPr>
              <a:t>i tuoi amici mi mettono ansia”.</a:t>
            </a:r>
            <a:endParaRPr lang="it-IT" sz="1800" b="1" i="0" u="none" strike="noStrike" kern="1200" cap="none" spc="0" baseline="0">
              <a:solidFill>
                <a:srgbClr val="111111"/>
              </a:solidFill>
              <a:uFillTx/>
              <a:latin typeface="Plus Jakarta Sans"/>
              <a:ea typeface="Plus Jakarta Sans"/>
              <a:cs typeface="Plus Jakarta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000" b="1"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0" i="0" u="none" strike="noStrike" kern="1200" cap="none" spc="0" baseline="0">
                <a:solidFill>
                  <a:srgbClr val="111111"/>
                </a:solidFill>
                <a:uFillTx/>
                <a:latin typeface="Plus Jakarta Sans"/>
                <a:ea typeface="Plus Jakarta Sans"/>
                <a:cs typeface="Plus Jakarta Sans"/>
              </a:rPr>
              <a:t>Sofia è contenta, ma qualcosa la frena. Si dice che ormai lo conosce da un po' e che gli amici in comune sono una garanzia. Il sistema la aiuta a mettere in fila gli elementi su cui si sta basando e le fa scoprire quali possono essere costruiti a tavolino, anche con l'IA: foto, storie, amicizie accettate per cortesia. Le suggerisce come verificare senza esporsi, per esempio chiedendo a un'amica in comune se Andrea lo conosce davvero.</a:t>
            </a:r>
            <a:endParaRPr lang="it-IT" sz="18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0" i="0" u="none" strike="noStrike" kern="1200" cap="none" spc="0" baseline="0">
                <a:solidFill>
                  <a:srgbClr val="111111"/>
                </a:solidFill>
                <a:uFillTx/>
                <a:latin typeface="Plus Jakarta Sans"/>
                <a:ea typeface="Plus Jakarta Sans"/>
                <a:cs typeface="Plus Jakarta Sans"/>
              </a:rPr>
              <a:t>Nessuna delle sue amiche l'ha mai visto di persona. Sofia decide dunque di non andare all'appuntamento.</a:t>
            </a:r>
          </a:p>
        </p:txBody>
      </p:sp>
    </p:spTree>
    <p:extLst>
      <p:ext uri="{BB962C8B-B14F-4D97-AF65-F5344CB8AC3E}">
        <p14:creationId xmlns:p14="http://schemas.microsoft.com/office/powerpoint/2010/main" val="3460444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tratto ombra">
            <a:extLst>
              <a:ext uri="{FF2B5EF4-FFF2-40B4-BE49-F238E27FC236}">
                <a16:creationId xmlns:a16="http://schemas.microsoft.com/office/drawing/2014/main" id="{8C9D12A6-8651-8830-3F31-A3E83F981693}"/>
              </a:ext>
            </a:extLst>
          </p:cNvPr>
          <p:cNvSpPr/>
          <p:nvPr/>
        </p:nvSpPr>
        <p:spPr>
          <a:xfrm rot="21420016">
            <a:off x="585216" y="539496"/>
            <a:ext cx="1783080" cy="1783080"/>
          </a:xfrm>
          <a:prstGeom prst="rect">
            <a:avLst/>
          </a:pr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a:extLst>
              <a:ext uri="{FF2B5EF4-FFF2-40B4-BE49-F238E27FC236}">
                <a16:creationId xmlns:a16="http://schemas.microsoft.com/office/drawing/2014/main" id="{7DEF5858-0B15-8010-E258-0B9C7F4AB959}"/>
              </a:ext>
            </a:extLst>
          </p:cNvPr>
          <p:cNvSpPr/>
          <p:nvPr/>
        </p:nvSpPr>
        <p:spPr>
          <a:xfrm rot="21420016">
            <a:off x="502920" y="457199"/>
            <a:ext cx="1783080" cy="17830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ritratto Tommaso">
            <a:extLst>
              <a:ext uri="{FF2B5EF4-FFF2-40B4-BE49-F238E27FC236}">
                <a16:creationId xmlns:a16="http://schemas.microsoft.com/office/drawing/2014/main" id="{5D45E2A0-39AC-64C0-C21B-DFF2A59C9B3F}"/>
              </a:ext>
            </a:extLst>
          </p:cNvPr>
          <p:cNvPicPr>
            <a:picLocks noChangeAspect="1"/>
          </p:cNvPicPr>
          <p:nvPr/>
        </p:nvPicPr>
        <p:blipFill>
          <a:blip r:embed="rId3"/>
          <a:stretch>
            <a:fillRect/>
          </a:stretch>
        </p:blipFill>
        <p:spPr>
          <a:xfrm rot="21420016">
            <a:off x="585216" y="539495"/>
            <a:ext cx="1618488" cy="1618488"/>
          </a:xfrm>
          <a:prstGeom prst="rect">
            <a:avLst/>
          </a:prstGeom>
          <a:noFill/>
          <a:ln>
            <a:noFill/>
          </a:ln>
        </p:spPr>
      </p:pic>
      <p:sp>
        <p:nvSpPr>
          <p:cNvPr id="5" name="tape">
            <a:extLst>
              <a:ext uri="{FF2B5EF4-FFF2-40B4-BE49-F238E27FC236}">
                <a16:creationId xmlns:a16="http://schemas.microsoft.com/office/drawing/2014/main" id="{D7823AAB-A2DE-E389-1881-6EABA80DD281}"/>
              </a:ext>
            </a:extLst>
          </p:cNvPr>
          <p:cNvSpPr/>
          <p:nvPr/>
        </p:nvSpPr>
        <p:spPr>
          <a:xfrm rot="21120004">
            <a:off x="1005840" y="365760"/>
            <a:ext cx="777240" cy="155448"/>
          </a:xfrm>
          <a:prstGeom prst="rect">
            <a:avLst/>
          </a:prstGeom>
          <a:solidFill>
            <a:srgbClr val="111111">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Text 3">
            <a:extLst>
              <a:ext uri="{FF2B5EF4-FFF2-40B4-BE49-F238E27FC236}">
                <a16:creationId xmlns:a16="http://schemas.microsoft.com/office/drawing/2014/main" id="{FD4FF046-FA2C-F406-186A-165B5E46D32E}"/>
              </a:ext>
            </a:extLst>
          </p:cNvPr>
          <p:cNvSpPr/>
          <p:nvPr/>
        </p:nvSpPr>
        <p:spPr>
          <a:xfrm>
            <a:off x="2514600" y="292608"/>
            <a:ext cx="201168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1700E8"/>
                </a:solidFill>
                <a:uFillTx/>
                <a:latin typeface="Space Mono"/>
                <a:ea typeface="Space Mono"/>
                <a:cs typeface="Space Mono"/>
              </a:rPr>
              <a:t>persona 02</a:t>
            </a:r>
            <a:endParaRPr lang="it-IT" sz="800" b="0" i="0" u="none" strike="noStrike" kern="1200" cap="none" spc="0" baseline="0">
              <a:solidFill>
                <a:srgbClr val="111111"/>
              </a:solidFill>
              <a:uFillTx/>
              <a:latin typeface="Space Mono"/>
              <a:ea typeface="Space Mono"/>
              <a:cs typeface="Space Mono"/>
            </a:endParaRPr>
          </a:p>
        </p:txBody>
      </p:sp>
      <p:sp>
        <p:nvSpPr>
          <p:cNvPr id="7" name="Text 1">
            <a:extLst>
              <a:ext uri="{FF2B5EF4-FFF2-40B4-BE49-F238E27FC236}">
                <a16:creationId xmlns:a16="http://schemas.microsoft.com/office/drawing/2014/main" id="{A9512C03-6B93-E3F6-A44D-B8CA5A68F18B}"/>
              </a:ext>
            </a:extLst>
          </p:cNvPr>
          <p:cNvSpPr txBox="1">
            <a:spLocks noGrp="1"/>
          </p:cNvSpPr>
          <p:nvPr>
            <p:ph type="title"/>
          </p:nvPr>
        </p:nvSpPr>
        <p:spPr/>
        <p:txBody>
          <a:bodyPr lIns="0" tIns="0" rIns="0" bIns="0" anchor="ctr"/>
          <a:lstStyle/>
          <a:p>
            <a:pPr lvl="0"/>
            <a:r>
              <a:rPr lang="it-IT">
                <a:latin typeface="Space Mono"/>
                <a:ea typeface="Space Mono"/>
                <a:cs typeface="Space Mono"/>
              </a:rPr>
              <a:t>Tommaso</a:t>
            </a:r>
          </a:p>
        </p:txBody>
      </p:sp>
      <p:pic>
        <p:nvPicPr>
          <p:cNvPr id="8" name="scribble">
            <a:extLst>
              <a:ext uri="{FF2B5EF4-FFF2-40B4-BE49-F238E27FC236}">
                <a16:creationId xmlns:a16="http://schemas.microsoft.com/office/drawing/2014/main" id="{7960BFF3-BB0B-F736-3F54-22563D2F8B30}"/>
              </a:ext>
            </a:extLst>
          </p:cNvPr>
          <p:cNvPicPr>
            <a:picLocks noChangeAspect="1"/>
          </p:cNvPicPr>
          <p:nvPr/>
        </p:nvPicPr>
        <p:blipFill>
          <a:blip r:embed="rId4"/>
          <a:stretch>
            <a:fillRect/>
          </a:stretch>
        </p:blipFill>
        <p:spPr>
          <a:xfrm>
            <a:off x="2377440" y="384048"/>
            <a:ext cx="1920240" cy="713232"/>
          </a:xfrm>
          <a:prstGeom prst="rect">
            <a:avLst/>
          </a:prstGeom>
          <a:noFill/>
          <a:ln>
            <a:noFill/>
          </a:ln>
        </p:spPr>
      </p:pic>
      <p:sp>
        <p:nvSpPr>
          <p:cNvPr id="9" name="highlight">
            <a:extLst>
              <a:ext uri="{FF2B5EF4-FFF2-40B4-BE49-F238E27FC236}">
                <a16:creationId xmlns:a16="http://schemas.microsoft.com/office/drawing/2014/main" id="{FC9AABB2-5F60-14A2-EE7A-C500BAD81DD1}"/>
              </a:ext>
            </a:extLst>
          </p:cNvPr>
          <p:cNvSpPr/>
          <p:nvPr/>
        </p:nvSpPr>
        <p:spPr>
          <a:xfrm>
            <a:off x="2514600" y="1069848"/>
            <a:ext cx="899541" cy="219456"/>
          </a:xfrm>
          <a:prstGeom prst="rect">
            <a:avLst/>
          </a:prstGeom>
          <a:solidFill>
            <a:srgbClr val="E71224"/>
          </a:solidFill>
          <a:ln>
            <a:noFill/>
            <a:prstDash val="solid"/>
          </a:ln>
        </p:spPr>
        <p:txBody>
          <a:bodyPr vert="horz" wrap="square" lIns="0" tIns="63495" rIns="63495"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1" u="none" strike="noStrike" kern="1200" cap="none" spc="0" baseline="0">
                <a:solidFill>
                  <a:srgbClr val="FFFFFF"/>
                </a:solidFill>
                <a:uFillTx/>
                <a:latin typeface="Plus Jakarta Sans"/>
                <a:ea typeface="Plus Jakarta Sans"/>
                <a:cs typeface="Plus Jakarta Sans"/>
              </a:rPr>
              <a:t>competitivo</a:t>
            </a:r>
            <a:endParaRPr lang="it-IT" sz="1000" b="0" i="0" u="none" strike="noStrike" kern="1200" cap="none" spc="0" baseline="0">
              <a:solidFill>
                <a:srgbClr val="111111"/>
              </a:solidFill>
              <a:uFillTx/>
              <a:latin typeface="Plus Jakarta Sans"/>
              <a:ea typeface="Plus Jakarta Sans"/>
              <a:cs typeface="Plus Jakarta Sans"/>
            </a:endParaRPr>
          </a:p>
        </p:txBody>
      </p:sp>
      <p:sp>
        <p:nvSpPr>
          <p:cNvPr id="10" name="facts">
            <a:extLst>
              <a:ext uri="{FF2B5EF4-FFF2-40B4-BE49-F238E27FC236}">
                <a16:creationId xmlns:a16="http://schemas.microsoft.com/office/drawing/2014/main" id="{7BDBC26D-9038-12B7-D1F4-2B9F993FC7E3}"/>
              </a:ext>
            </a:extLst>
          </p:cNvPr>
          <p:cNvSpPr/>
          <p:nvPr/>
        </p:nvSpPr>
        <p:spPr>
          <a:xfrm>
            <a:off x="2514600" y="1417320"/>
            <a:ext cx="2011680" cy="77724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15 anni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2° anno di istituto tecnico informatico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Discord, TikTok, gruppi WhatsApp</a:t>
            </a:r>
          </a:p>
        </p:txBody>
      </p:sp>
      <p:sp>
        <p:nvSpPr>
          <p:cNvPr id="11" name="Text 7">
            <a:extLst>
              <a:ext uri="{FF2B5EF4-FFF2-40B4-BE49-F238E27FC236}">
                <a16:creationId xmlns:a16="http://schemas.microsoft.com/office/drawing/2014/main" id="{7A2CBBEA-E242-1584-7198-4D075207615A}"/>
              </a:ext>
            </a:extLst>
          </p:cNvPr>
          <p:cNvSpPr/>
          <p:nvPr/>
        </p:nvSpPr>
        <p:spPr>
          <a:xfrm>
            <a:off x="502920" y="2395728"/>
            <a:ext cx="91440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E71224"/>
                </a:solidFill>
                <a:uFillTx/>
                <a:latin typeface="Space Mono"/>
                <a:ea typeface="Space Mono"/>
                <a:cs typeface="Space Mono"/>
              </a:rPr>
              <a:t>bio</a:t>
            </a:r>
            <a:endParaRPr lang="it-IT" sz="1000" b="0" i="0" u="none" strike="noStrike" kern="1200" cap="none" spc="0" baseline="0">
              <a:solidFill>
                <a:srgbClr val="111111"/>
              </a:solidFill>
              <a:uFillTx/>
              <a:latin typeface="Space Mono"/>
              <a:ea typeface="Space Mono"/>
              <a:cs typeface="Space Mono"/>
            </a:endParaRPr>
          </a:p>
        </p:txBody>
      </p:sp>
      <p:sp>
        <p:nvSpPr>
          <p:cNvPr id="12" name="bio">
            <a:extLst>
              <a:ext uri="{FF2B5EF4-FFF2-40B4-BE49-F238E27FC236}">
                <a16:creationId xmlns:a16="http://schemas.microsoft.com/office/drawing/2014/main" id="{0C71B659-A8FB-5A43-28B7-D2C3FECE29E5}"/>
              </a:ext>
            </a:extLst>
          </p:cNvPr>
          <p:cNvSpPr/>
          <p:nvPr/>
        </p:nvSpPr>
        <p:spPr>
          <a:xfrm>
            <a:off x="502920" y="2615184"/>
            <a:ext cx="3931920" cy="777240"/>
          </a:xfrm>
          <a:prstGeom prst="rect">
            <a:avLst/>
          </a:prstGeom>
          <a:noFill/>
          <a:ln>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rgbClr val="0E0E0E"/>
                </a:solidFill>
                <a:uFillTx/>
                <a:latin typeface="Plus Jakarta Sans"/>
                <a:ea typeface="Plus Jakarta Sans"/>
                <a:cs typeface="Plus Jakarta Sans"/>
              </a:rPr>
              <a:t>Tommaso è sempre stato un tipo in gamba per quanto riguarda le tecnologie. Aiuta i genitori a usare il telefono e si interessa parecchio agli ultimi contenuti sulla’IA. Nel tempo libero gioca con gli amici su Discord e si diverte ad editare foto e video. Proprio quest’ultimo hobby gli da la </a:t>
            </a:r>
            <a:r>
              <a:rPr lang="en-US" sz="850" b="1" i="0" u="none" strike="noStrike" kern="1200" cap="none" spc="0" baseline="0">
                <a:solidFill>
                  <a:srgbClr val="0E0E0E"/>
                </a:solidFill>
                <a:uFillTx/>
                <a:latin typeface="Plus Jakarta Sans"/>
                <a:ea typeface="Plus Jakarta Sans"/>
                <a:cs typeface="Plus Jakarta Sans"/>
              </a:rPr>
              <a:t>sicurezza assoluta</a:t>
            </a:r>
            <a:r>
              <a:rPr lang="en-US" sz="850" b="0" i="0" u="none" strike="noStrike" kern="1200" cap="none" spc="0" baseline="0">
                <a:solidFill>
                  <a:srgbClr val="0E0E0E"/>
                </a:solidFill>
                <a:uFillTx/>
                <a:latin typeface="Plus Jakarta Sans"/>
                <a:ea typeface="Plus Jakarta Sans"/>
                <a:cs typeface="Plus Jakarta Sans"/>
              </a:rPr>
              <a:t> di riuscire a riconoscere sempre una foto falsa da una vera.</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50" b="0" i="0" u="none" strike="noStrike" kern="1200" cap="none" spc="0" baseline="0">
              <a:solidFill>
                <a:srgbClr val="111111"/>
              </a:solidFill>
              <a:uFillTx/>
              <a:latin typeface="Plus Jakarta Sans"/>
              <a:ea typeface="Plus Jakarta Sans"/>
              <a:cs typeface="Plus Jakarta Sans"/>
            </a:endParaRPr>
          </a:p>
        </p:txBody>
      </p:sp>
      <p:sp>
        <p:nvSpPr>
          <p:cNvPr id="13" name="personalità ombra">
            <a:extLst>
              <a:ext uri="{FF2B5EF4-FFF2-40B4-BE49-F238E27FC236}">
                <a16:creationId xmlns:a16="http://schemas.microsoft.com/office/drawing/2014/main" id="{50C0A35F-825F-EAEF-6D4A-0A219D6C29C3}"/>
              </a:ext>
            </a:extLst>
          </p:cNvPr>
          <p:cNvSpPr/>
          <p:nvPr/>
        </p:nvSpPr>
        <p:spPr>
          <a:xfrm>
            <a:off x="576072" y="3547872"/>
            <a:ext cx="3886200" cy="1188720"/>
          </a:xfrm>
          <a:prstGeom prst="rect">
            <a:avLst/>
          </a:prstGeom>
          <a:solidFill>
            <a:srgbClr val="FBD5D9"/>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4" name="personalità">
            <a:extLst>
              <a:ext uri="{FF2B5EF4-FFF2-40B4-BE49-F238E27FC236}">
                <a16:creationId xmlns:a16="http://schemas.microsoft.com/office/drawing/2014/main" id="{6ECE509A-EDB9-CCC6-F7B1-CB5F711C9913}"/>
              </a:ext>
            </a:extLst>
          </p:cNvPr>
          <p:cNvSpPr/>
          <p:nvPr/>
        </p:nvSpPr>
        <p:spPr>
          <a:xfrm>
            <a:off x="502920" y="347472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5" name="Text 11">
            <a:extLst>
              <a:ext uri="{FF2B5EF4-FFF2-40B4-BE49-F238E27FC236}">
                <a16:creationId xmlns:a16="http://schemas.microsoft.com/office/drawing/2014/main" id="{E0A5E9E0-40A8-06C7-5474-B4AF6ED18D29}"/>
              </a:ext>
            </a:extLst>
          </p:cNvPr>
          <p:cNvSpPr/>
          <p:nvPr/>
        </p:nvSpPr>
        <p:spPr>
          <a:xfrm>
            <a:off x="640080" y="3566160"/>
            <a:ext cx="32004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E71224"/>
                </a:solidFill>
                <a:uFillTx/>
                <a:latin typeface="Space Mono"/>
                <a:ea typeface="Space Mono"/>
                <a:cs typeface="Space Mono"/>
              </a:rPr>
              <a:t>personalità e autovalutazione</a:t>
            </a:r>
            <a:endParaRPr lang="it-IT" sz="850" b="0" i="0" u="none" strike="noStrike" kern="1200" cap="none" spc="0" baseline="0">
              <a:solidFill>
                <a:srgbClr val="111111"/>
              </a:solidFill>
              <a:uFillTx/>
              <a:latin typeface="Space Mono"/>
              <a:ea typeface="Space Mono"/>
              <a:cs typeface="Space Mono"/>
            </a:endParaRPr>
          </a:p>
        </p:txBody>
      </p:sp>
      <p:sp>
        <p:nvSpPr>
          <p:cNvPr id="16" name="Text 12">
            <a:extLst>
              <a:ext uri="{FF2B5EF4-FFF2-40B4-BE49-F238E27FC236}">
                <a16:creationId xmlns:a16="http://schemas.microsoft.com/office/drawing/2014/main" id="{3C9CEB27-778E-D343-7319-848D1454E94F}"/>
              </a:ext>
            </a:extLst>
          </p:cNvPr>
          <p:cNvSpPr/>
          <p:nvPr/>
        </p:nvSpPr>
        <p:spPr>
          <a:xfrm>
            <a:off x="640080" y="3822191"/>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Introverso</a:t>
            </a:r>
          </a:p>
        </p:txBody>
      </p:sp>
      <p:sp>
        <p:nvSpPr>
          <p:cNvPr id="17" name="Text 13">
            <a:extLst>
              <a:ext uri="{FF2B5EF4-FFF2-40B4-BE49-F238E27FC236}">
                <a16:creationId xmlns:a16="http://schemas.microsoft.com/office/drawing/2014/main" id="{34F8895F-7DA3-F98B-0EB6-09057FF5228A}"/>
              </a:ext>
            </a:extLst>
          </p:cNvPr>
          <p:cNvSpPr/>
          <p:nvPr/>
        </p:nvSpPr>
        <p:spPr>
          <a:xfrm>
            <a:off x="3154679" y="3822191"/>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Estroverso</a:t>
            </a:r>
          </a:p>
        </p:txBody>
      </p:sp>
      <p:sp>
        <p:nvSpPr>
          <p:cNvPr id="18" name="Shape 14">
            <a:extLst>
              <a:ext uri="{FF2B5EF4-FFF2-40B4-BE49-F238E27FC236}">
                <a16:creationId xmlns:a16="http://schemas.microsoft.com/office/drawing/2014/main" id="{37645811-09BE-53F7-F0B4-81F8367FAAC3}"/>
              </a:ext>
            </a:extLst>
          </p:cNvPr>
          <p:cNvSpPr/>
          <p:nvPr/>
        </p:nvSpPr>
        <p:spPr>
          <a:xfrm>
            <a:off x="640080" y="398678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BD5D9"/>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9" name="slider fill">
            <a:extLst>
              <a:ext uri="{FF2B5EF4-FFF2-40B4-BE49-F238E27FC236}">
                <a16:creationId xmlns:a16="http://schemas.microsoft.com/office/drawing/2014/main" id="{F4525931-41A6-E158-5A79-6A63968B4AD8}"/>
              </a:ext>
            </a:extLst>
          </p:cNvPr>
          <p:cNvSpPr/>
          <p:nvPr/>
        </p:nvSpPr>
        <p:spPr>
          <a:xfrm>
            <a:off x="640080" y="3986783"/>
            <a:ext cx="3070098"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0" name="slider knob">
            <a:extLst>
              <a:ext uri="{FF2B5EF4-FFF2-40B4-BE49-F238E27FC236}">
                <a16:creationId xmlns:a16="http://schemas.microsoft.com/office/drawing/2014/main" id="{5FD314AF-8779-4D2B-A2A6-DA307D2EC213}"/>
              </a:ext>
            </a:extLst>
          </p:cNvPr>
          <p:cNvSpPr/>
          <p:nvPr/>
        </p:nvSpPr>
        <p:spPr>
          <a:xfrm>
            <a:off x="3646170" y="395020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1" name="Text 17">
            <a:extLst>
              <a:ext uri="{FF2B5EF4-FFF2-40B4-BE49-F238E27FC236}">
                <a16:creationId xmlns:a16="http://schemas.microsoft.com/office/drawing/2014/main" id="{CD83F854-D634-86D0-ED03-4F25EA57F519}"/>
              </a:ext>
            </a:extLst>
          </p:cNvPr>
          <p:cNvSpPr/>
          <p:nvPr/>
        </p:nvSpPr>
        <p:spPr>
          <a:xfrm>
            <a:off x="640080" y="409651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Riconoscere un falso</a:t>
            </a:r>
          </a:p>
        </p:txBody>
      </p:sp>
      <p:sp>
        <p:nvSpPr>
          <p:cNvPr id="22" name="Text 18">
            <a:extLst>
              <a:ext uri="{FF2B5EF4-FFF2-40B4-BE49-F238E27FC236}">
                <a16:creationId xmlns:a16="http://schemas.microsoft.com/office/drawing/2014/main" id="{4F82050A-381A-9417-119F-2D4B67775C76}"/>
              </a:ext>
            </a:extLst>
          </p:cNvPr>
          <p:cNvSpPr/>
          <p:nvPr/>
        </p:nvSpPr>
        <p:spPr>
          <a:xfrm>
            <a:off x="3154679" y="409651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E71224"/>
                </a:solidFill>
                <a:uFillTx/>
                <a:latin typeface="Space Mono"/>
                <a:ea typeface="Space Mono"/>
                <a:cs typeface="Space Mono"/>
              </a:rPr>
              <a:t>8/10</a:t>
            </a:r>
            <a:endParaRPr lang="it-IT" sz="750" b="0" i="0" u="none" strike="noStrike" kern="1200" cap="none" spc="0" baseline="0">
              <a:solidFill>
                <a:srgbClr val="111111"/>
              </a:solidFill>
              <a:uFillTx/>
              <a:latin typeface="Space Mono"/>
              <a:ea typeface="Space Mono"/>
              <a:cs typeface="Space Mono"/>
            </a:endParaRPr>
          </a:p>
        </p:txBody>
      </p:sp>
      <p:sp>
        <p:nvSpPr>
          <p:cNvPr id="23" name="Shape 19">
            <a:extLst>
              <a:ext uri="{FF2B5EF4-FFF2-40B4-BE49-F238E27FC236}">
                <a16:creationId xmlns:a16="http://schemas.microsoft.com/office/drawing/2014/main" id="{4A62802E-CFDA-0982-D1BB-E113F3E6C949}"/>
              </a:ext>
            </a:extLst>
          </p:cNvPr>
          <p:cNvSpPr/>
          <p:nvPr/>
        </p:nvSpPr>
        <p:spPr>
          <a:xfrm>
            <a:off x="640080" y="426110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BD5D9"/>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4" name="slider fill">
            <a:extLst>
              <a:ext uri="{FF2B5EF4-FFF2-40B4-BE49-F238E27FC236}">
                <a16:creationId xmlns:a16="http://schemas.microsoft.com/office/drawing/2014/main" id="{72712B7B-3C9D-78BC-96A1-6EC467EC94D5}"/>
              </a:ext>
            </a:extLst>
          </p:cNvPr>
          <p:cNvSpPr/>
          <p:nvPr/>
        </p:nvSpPr>
        <p:spPr>
          <a:xfrm>
            <a:off x="640080" y="4261103"/>
            <a:ext cx="2889504"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5" name="slider knob">
            <a:extLst>
              <a:ext uri="{FF2B5EF4-FFF2-40B4-BE49-F238E27FC236}">
                <a16:creationId xmlns:a16="http://schemas.microsoft.com/office/drawing/2014/main" id="{00334A8B-EC66-19B9-5D9E-8EAC3124977C}"/>
              </a:ext>
            </a:extLst>
          </p:cNvPr>
          <p:cNvSpPr/>
          <p:nvPr/>
        </p:nvSpPr>
        <p:spPr>
          <a:xfrm>
            <a:off x="3465576" y="422452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6" name="Text 22">
            <a:extLst>
              <a:ext uri="{FF2B5EF4-FFF2-40B4-BE49-F238E27FC236}">
                <a16:creationId xmlns:a16="http://schemas.microsoft.com/office/drawing/2014/main" id="{48C122AD-9E4D-7A21-1DEE-BDF321874AE8}"/>
              </a:ext>
            </a:extLst>
          </p:cNvPr>
          <p:cNvSpPr/>
          <p:nvPr/>
        </p:nvSpPr>
        <p:spPr>
          <a:xfrm>
            <a:off x="640080" y="437083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Distinguere filtro e IA</a:t>
            </a:r>
          </a:p>
        </p:txBody>
      </p:sp>
      <p:sp>
        <p:nvSpPr>
          <p:cNvPr id="27" name="Text 23">
            <a:extLst>
              <a:ext uri="{FF2B5EF4-FFF2-40B4-BE49-F238E27FC236}">
                <a16:creationId xmlns:a16="http://schemas.microsoft.com/office/drawing/2014/main" id="{B5701067-0082-E089-DB48-6025126450E4}"/>
              </a:ext>
            </a:extLst>
          </p:cNvPr>
          <p:cNvSpPr/>
          <p:nvPr/>
        </p:nvSpPr>
        <p:spPr>
          <a:xfrm>
            <a:off x="3154679" y="437083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E71224"/>
                </a:solidFill>
                <a:uFillTx/>
                <a:latin typeface="Space Mono"/>
                <a:ea typeface="Space Mono"/>
                <a:cs typeface="Space Mono"/>
              </a:rPr>
              <a:t>7/10</a:t>
            </a:r>
            <a:endParaRPr lang="it-IT" sz="750" b="0" i="0" u="none" strike="noStrike" kern="1200" cap="none" spc="0" baseline="0">
              <a:solidFill>
                <a:srgbClr val="111111"/>
              </a:solidFill>
              <a:uFillTx/>
              <a:latin typeface="Space Mono"/>
              <a:ea typeface="Space Mono"/>
              <a:cs typeface="Space Mono"/>
            </a:endParaRPr>
          </a:p>
        </p:txBody>
      </p:sp>
      <p:sp>
        <p:nvSpPr>
          <p:cNvPr id="28" name="Shape 24">
            <a:extLst>
              <a:ext uri="{FF2B5EF4-FFF2-40B4-BE49-F238E27FC236}">
                <a16:creationId xmlns:a16="http://schemas.microsoft.com/office/drawing/2014/main" id="{B9C3E7DF-63EF-6E2E-A73F-78D2C507B88C}"/>
              </a:ext>
            </a:extLst>
          </p:cNvPr>
          <p:cNvSpPr/>
          <p:nvPr/>
        </p:nvSpPr>
        <p:spPr>
          <a:xfrm>
            <a:off x="640080" y="4535424"/>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BD5D9"/>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9" name="slider fill">
            <a:extLst>
              <a:ext uri="{FF2B5EF4-FFF2-40B4-BE49-F238E27FC236}">
                <a16:creationId xmlns:a16="http://schemas.microsoft.com/office/drawing/2014/main" id="{6C0DC406-2282-534A-1C60-5B9B5CE1EE27}"/>
              </a:ext>
            </a:extLst>
          </p:cNvPr>
          <p:cNvSpPr/>
          <p:nvPr/>
        </p:nvSpPr>
        <p:spPr>
          <a:xfrm>
            <a:off x="640080" y="4535424"/>
            <a:ext cx="2528316"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0" name="slider knob">
            <a:extLst>
              <a:ext uri="{FF2B5EF4-FFF2-40B4-BE49-F238E27FC236}">
                <a16:creationId xmlns:a16="http://schemas.microsoft.com/office/drawing/2014/main" id="{D63C4CC7-7D99-D3B0-B5C9-5453B6EA982A}"/>
              </a:ext>
            </a:extLst>
          </p:cNvPr>
          <p:cNvSpPr/>
          <p:nvPr/>
        </p:nvSpPr>
        <p:spPr>
          <a:xfrm>
            <a:off x="3104387" y="449884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1" name="card motivazioni ombra">
            <a:extLst>
              <a:ext uri="{FF2B5EF4-FFF2-40B4-BE49-F238E27FC236}">
                <a16:creationId xmlns:a16="http://schemas.microsoft.com/office/drawing/2014/main" id="{6FFC786C-28DD-2E8C-8268-3A05EFD2C564}"/>
              </a:ext>
            </a:extLst>
          </p:cNvPr>
          <p:cNvSpPr/>
          <p:nvPr/>
        </p:nvSpPr>
        <p:spPr>
          <a:xfrm>
            <a:off x="4782312" y="484632"/>
            <a:ext cx="3886200" cy="1188720"/>
          </a:xfrm>
          <a:prstGeom prst="rect">
            <a:avLst/>
          </a:prstGeom>
          <a:solidFill>
            <a:srgbClr val="FBD5D9"/>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2" name="card motivazioni">
            <a:extLst>
              <a:ext uri="{FF2B5EF4-FFF2-40B4-BE49-F238E27FC236}">
                <a16:creationId xmlns:a16="http://schemas.microsoft.com/office/drawing/2014/main" id="{35C8EFE8-E379-0615-DA6A-E89E71529970}"/>
              </a:ext>
            </a:extLst>
          </p:cNvPr>
          <p:cNvSpPr/>
          <p:nvPr/>
        </p:nvSpPr>
        <p:spPr>
          <a:xfrm>
            <a:off x="4709159" y="41148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3" name="Shape 29">
            <a:extLst>
              <a:ext uri="{FF2B5EF4-FFF2-40B4-BE49-F238E27FC236}">
                <a16:creationId xmlns:a16="http://schemas.microsoft.com/office/drawing/2014/main" id="{C3E3C5C0-88D3-7067-B624-60F82AE9F08F}"/>
              </a:ext>
            </a:extLst>
          </p:cNvPr>
          <p:cNvSpPr/>
          <p:nvPr/>
        </p:nvSpPr>
        <p:spPr>
          <a:xfrm>
            <a:off x="4846320" y="5120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34" name="Image 2">
            <a:extLst>
              <a:ext uri="{FF2B5EF4-FFF2-40B4-BE49-F238E27FC236}">
                <a16:creationId xmlns:a16="http://schemas.microsoft.com/office/drawing/2014/main" id="{8F4830C4-683E-F2A1-45FC-2B5BFEA2F568}"/>
              </a:ext>
            </a:extLst>
          </p:cNvPr>
          <p:cNvPicPr>
            <a:picLocks noChangeAspect="1"/>
          </p:cNvPicPr>
          <p:nvPr/>
        </p:nvPicPr>
        <p:blipFill>
          <a:blip r:embed="rId5"/>
          <a:stretch>
            <a:fillRect/>
          </a:stretch>
        </p:blipFill>
        <p:spPr>
          <a:xfrm>
            <a:off x="4905755" y="571500"/>
            <a:ext cx="137160" cy="137160"/>
          </a:xfrm>
          <a:prstGeom prst="rect">
            <a:avLst/>
          </a:prstGeom>
          <a:noFill/>
          <a:ln>
            <a:noFill/>
          </a:ln>
        </p:spPr>
      </p:pic>
      <p:sp>
        <p:nvSpPr>
          <p:cNvPr id="35" name="Text 30">
            <a:extLst>
              <a:ext uri="{FF2B5EF4-FFF2-40B4-BE49-F238E27FC236}">
                <a16:creationId xmlns:a16="http://schemas.microsoft.com/office/drawing/2014/main" id="{91F86497-F1DD-E123-ADE5-92C9C6F94239}"/>
              </a:ext>
            </a:extLst>
          </p:cNvPr>
          <p:cNvSpPr/>
          <p:nvPr/>
        </p:nvSpPr>
        <p:spPr>
          <a:xfrm>
            <a:off x="5184648" y="5303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E71224"/>
                </a:solidFill>
                <a:uFillTx/>
                <a:latin typeface="Space Mono"/>
                <a:ea typeface="Space Mono"/>
                <a:cs typeface="Space Mono"/>
              </a:rPr>
              <a:t>motivazioni</a:t>
            </a:r>
            <a:endParaRPr lang="it-IT" sz="1000" b="0" i="0" u="none" strike="noStrike" kern="1200" cap="none" spc="0" baseline="0">
              <a:solidFill>
                <a:srgbClr val="111111"/>
              </a:solidFill>
              <a:uFillTx/>
              <a:latin typeface="Space Mono"/>
              <a:ea typeface="Space Mono"/>
              <a:cs typeface="Space Mono"/>
            </a:endParaRPr>
          </a:p>
        </p:txBody>
      </p:sp>
      <p:sp>
        <p:nvSpPr>
          <p:cNvPr id="36" name="Text 31">
            <a:extLst>
              <a:ext uri="{FF2B5EF4-FFF2-40B4-BE49-F238E27FC236}">
                <a16:creationId xmlns:a16="http://schemas.microsoft.com/office/drawing/2014/main" id="{E23C7E40-8D7C-A8F9-65DB-80310D6FE95B}"/>
              </a:ext>
            </a:extLst>
          </p:cNvPr>
          <p:cNvSpPr/>
          <p:nvPr/>
        </p:nvSpPr>
        <p:spPr>
          <a:xfrm>
            <a:off x="4873752" y="850392"/>
            <a:ext cx="3557015" cy="68580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Mettersi alla</a:t>
            </a:r>
            <a:r>
              <a:rPr lang="it-IT" sz="900" b="1" i="0" u="none" strike="noStrike" kern="1200" cap="none" spc="0" baseline="0">
                <a:solidFill>
                  <a:srgbClr val="111111"/>
                </a:solidFill>
                <a:uFillTx/>
                <a:latin typeface="Plus Jakarta Sans"/>
                <a:ea typeface="Plus Jakarta Sans"/>
                <a:cs typeface="Plus Jakarta Sans"/>
              </a:rPr>
              <a:t> prova su casi realistici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Capire perché </a:t>
            </a:r>
            <a:r>
              <a:rPr lang="it-IT" sz="900" b="1" i="0" u="none" strike="noStrike" kern="1200" cap="none" spc="0" baseline="0">
                <a:solidFill>
                  <a:srgbClr val="111111"/>
                </a:solidFill>
                <a:uFillTx/>
                <a:latin typeface="Plus Jakarta Sans"/>
                <a:ea typeface="Plus Jakarta Sans"/>
                <a:cs typeface="Plus Jakarta Sans"/>
              </a:rPr>
              <a:t>sbaglia</a:t>
            </a:r>
            <a:r>
              <a:rPr lang="it-IT" sz="900" b="0" i="0" u="none" strike="noStrike" kern="1200" cap="none" spc="0" baseline="0">
                <a:solidFill>
                  <a:srgbClr val="111111"/>
                </a:solidFill>
                <a:uFillTx/>
                <a:latin typeface="Plus Jakarta Sans"/>
                <a:ea typeface="Plus Jakarta Sans"/>
                <a:cs typeface="Plus Jakarta Sans"/>
              </a:rPr>
              <a:t> senza sentirsi trattato da </a:t>
            </a:r>
            <a:r>
              <a:rPr lang="it-IT" sz="900" b="1" i="0" u="none" strike="noStrike" kern="1200" cap="none" spc="0" baseline="0">
                <a:solidFill>
                  <a:srgbClr val="111111"/>
                </a:solidFill>
                <a:uFillTx/>
                <a:latin typeface="Plus Jakarta Sans"/>
                <a:ea typeface="Plus Jakarta Sans"/>
                <a:cs typeface="Plus Jakarta Sans"/>
              </a:rPr>
              <a:t>inesperto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Misurare la propria </a:t>
            </a:r>
            <a:r>
              <a:rPr lang="it-IT" sz="900" b="1" i="0" u="none" strike="noStrike" kern="1200" cap="none" spc="0" baseline="0">
                <a:solidFill>
                  <a:srgbClr val="111111"/>
                </a:solidFill>
                <a:uFillTx/>
                <a:latin typeface="Plus Jakarta Sans"/>
                <a:ea typeface="Plus Jakarta Sans"/>
                <a:cs typeface="Plus Jakarta Sans"/>
              </a:rPr>
              <a:t>capacità reale</a:t>
            </a:r>
            <a:r>
              <a:rPr lang="it-IT" sz="900" b="0" i="0" u="none" strike="noStrike" kern="1200" cap="none" spc="0" baseline="0">
                <a:solidFill>
                  <a:srgbClr val="111111"/>
                </a:solidFill>
                <a:uFillTx/>
                <a:latin typeface="Plus Jakarta Sans"/>
                <a:ea typeface="Plus Jakarta Sans"/>
                <a:cs typeface="Plus Jakarta Sans"/>
              </a:rPr>
              <a:t>, non solo la </a:t>
            </a:r>
            <a:r>
              <a:rPr lang="it-IT" sz="900" b="1" i="0" u="none" strike="noStrike" kern="1200" cap="none" spc="0" baseline="0">
                <a:solidFill>
                  <a:srgbClr val="111111"/>
                </a:solidFill>
                <a:uFillTx/>
                <a:latin typeface="Plus Jakarta Sans"/>
                <a:ea typeface="Plus Jakarta Sans"/>
                <a:cs typeface="Plus Jakarta Sans"/>
              </a:rPr>
              <a:t>sicurezza percepita</a:t>
            </a:r>
          </a:p>
        </p:txBody>
      </p:sp>
      <p:sp>
        <p:nvSpPr>
          <p:cNvPr id="37" name="card bisogni e aspettative ombra">
            <a:extLst>
              <a:ext uri="{FF2B5EF4-FFF2-40B4-BE49-F238E27FC236}">
                <a16:creationId xmlns:a16="http://schemas.microsoft.com/office/drawing/2014/main" id="{56552C63-A236-08E4-2A3C-DAC449449003}"/>
              </a:ext>
            </a:extLst>
          </p:cNvPr>
          <p:cNvSpPr/>
          <p:nvPr/>
        </p:nvSpPr>
        <p:spPr>
          <a:xfrm>
            <a:off x="4782312" y="1856231"/>
            <a:ext cx="3886200" cy="1463040"/>
          </a:xfrm>
          <a:prstGeom prst="rect">
            <a:avLst/>
          </a:prstGeom>
          <a:solidFill>
            <a:srgbClr val="111111"/>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8" name="card bisogni e aspettative">
            <a:extLst>
              <a:ext uri="{FF2B5EF4-FFF2-40B4-BE49-F238E27FC236}">
                <a16:creationId xmlns:a16="http://schemas.microsoft.com/office/drawing/2014/main" id="{A40ED633-A699-56BD-9C6A-5F0430FA723D}"/>
              </a:ext>
            </a:extLst>
          </p:cNvPr>
          <p:cNvSpPr/>
          <p:nvPr/>
        </p:nvSpPr>
        <p:spPr>
          <a:xfrm>
            <a:off x="4709159" y="1783080"/>
            <a:ext cx="3886200" cy="1463040"/>
          </a:xfrm>
          <a:prstGeom prst="rect">
            <a:avLst/>
          </a:prstGeom>
          <a:solidFill>
            <a:srgbClr val="E71224"/>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9" name="Shape 34">
            <a:extLst>
              <a:ext uri="{FF2B5EF4-FFF2-40B4-BE49-F238E27FC236}">
                <a16:creationId xmlns:a16="http://schemas.microsoft.com/office/drawing/2014/main" id="{5C370AC5-3EC3-F8FA-2B38-10F6EA17390D}"/>
              </a:ext>
            </a:extLst>
          </p:cNvPr>
          <p:cNvSpPr/>
          <p:nvPr/>
        </p:nvSpPr>
        <p:spPr>
          <a:xfrm>
            <a:off x="4846320" y="18836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0" name="Image 3">
            <a:extLst>
              <a:ext uri="{FF2B5EF4-FFF2-40B4-BE49-F238E27FC236}">
                <a16:creationId xmlns:a16="http://schemas.microsoft.com/office/drawing/2014/main" id="{48922FF7-E8B0-F06F-35FD-7AF1708694C2}"/>
              </a:ext>
            </a:extLst>
          </p:cNvPr>
          <p:cNvPicPr>
            <a:picLocks noChangeAspect="1"/>
          </p:cNvPicPr>
          <p:nvPr/>
        </p:nvPicPr>
        <p:blipFill>
          <a:blip r:embed="rId6"/>
          <a:stretch>
            <a:fillRect/>
          </a:stretch>
        </p:blipFill>
        <p:spPr>
          <a:xfrm>
            <a:off x="4905755" y="1943100"/>
            <a:ext cx="137160" cy="137160"/>
          </a:xfrm>
          <a:prstGeom prst="rect">
            <a:avLst/>
          </a:prstGeom>
          <a:noFill/>
          <a:ln>
            <a:noFill/>
          </a:ln>
        </p:spPr>
      </p:pic>
      <p:sp>
        <p:nvSpPr>
          <p:cNvPr id="41" name="Text 35">
            <a:extLst>
              <a:ext uri="{FF2B5EF4-FFF2-40B4-BE49-F238E27FC236}">
                <a16:creationId xmlns:a16="http://schemas.microsoft.com/office/drawing/2014/main" id="{3A75678F-525C-F4EA-EE68-6C3DA330B5E4}"/>
              </a:ext>
            </a:extLst>
          </p:cNvPr>
          <p:cNvSpPr/>
          <p:nvPr/>
        </p:nvSpPr>
        <p:spPr>
          <a:xfrm>
            <a:off x="5184648" y="19019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FFFFFF"/>
                </a:solidFill>
                <a:uFillTx/>
                <a:latin typeface="Space Mono"/>
                <a:ea typeface="Space Mono"/>
                <a:cs typeface="Space Mono"/>
              </a:rPr>
              <a:t>bisogni e aspettative</a:t>
            </a:r>
            <a:endParaRPr lang="it-IT" sz="1000" b="0" i="0" u="none" strike="noStrike" kern="1200" cap="none" spc="0" baseline="0">
              <a:solidFill>
                <a:srgbClr val="111111"/>
              </a:solidFill>
              <a:uFillTx/>
              <a:latin typeface="Space Mono"/>
              <a:ea typeface="Space Mono"/>
              <a:cs typeface="Space Mono"/>
            </a:endParaRPr>
          </a:p>
        </p:txBody>
      </p:sp>
      <p:sp>
        <p:nvSpPr>
          <p:cNvPr id="42" name="Text 36">
            <a:extLst>
              <a:ext uri="{FF2B5EF4-FFF2-40B4-BE49-F238E27FC236}">
                <a16:creationId xmlns:a16="http://schemas.microsoft.com/office/drawing/2014/main" id="{06C2B2AD-6C6C-A0A2-72AF-5C4BA77227AF}"/>
              </a:ext>
            </a:extLst>
          </p:cNvPr>
          <p:cNvSpPr/>
          <p:nvPr/>
        </p:nvSpPr>
        <p:spPr>
          <a:xfrm>
            <a:off x="4873752" y="2221991"/>
            <a:ext cx="3557015" cy="96012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Space Mono"/>
                <a:ea typeface="Space Mono"/>
                <a:cs typeface="Space Mono"/>
              </a:rPr>
              <a:t>B4+B9  Avere un'idea realistica di quanto sa riconoscere un falso</a:t>
            </a:r>
            <a:endParaRPr lang="it-IT" sz="800" b="0" i="0" u="none" strike="noStrike" kern="1200" cap="none" spc="0" baseline="0">
              <a:solidFill>
                <a:srgbClr val="111111"/>
              </a:solidFill>
              <a:uFillTx/>
              <a:latin typeface="Space Mono"/>
              <a:ea typeface="Space Mono"/>
              <a:cs typeface="Space Mono"/>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Distinguere filtro, ritocco e generazione con IA</a:t>
            </a:r>
            <a:endParaRPr lang="it-IT" sz="8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Confrontare la sicurezza dichiarata con i risultati e capire gli errori</a:t>
            </a:r>
            <a:endParaRPr lang="it-IT" sz="800" b="0" i="0" u="none" strike="noStrike" kern="1200" cap="none" spc="0" baseline="0">
              <a:solidFill>
                <a:srgbClr val="111111"/>
              </a:solidFill>
              <a:uFillTx/>
              <a:latin typeface="Plus Jakarta Sans"/>
              <a:ea typeface="Plus Jakarta Sans"/>
              <a:cs typeface="Plus Jakarta Sans"/>
            </a:endParaRPr>
          </a:p>
        </p:txBody>
      </p:sp>
      <p:sp>
        <p:nvSpPr>
          <p:cNvPr id="43" name="card frustrazioni ombra">
            <a:extLst>
              <a:ext uri="{FF2B5EF4-FFF2-40B4-BE49-F238E27FC236}">
                <a16:creationId xmlns:a16="http://schemas.microsoft.com/office/drawing/2014/main" id="{C39DC7B6-F176-0140-A424-B645B02B1B25}"/>
              </a:ext>
            </a:extLst>
          </p:cNvPr>
          <p:cNvSpPr/>
          <p:nvPr/>
        </p:nvSpPr>
        <p:spPr>
          <a:xfrm>
            <a:off x="4782312" y="3502151"/>
            <a:ext cx="3886200" cy="1234440"/>
          </a:xfrm>
          <a:prstGeom prst="rect">
            <a:avLst/>
          </a:prstGeom>
          <a:solidFill>
            <a:srgbClr val="FBD5D9"/>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4" name="card frustrazioni">
            <a:extLst>
              <a:ext uri="{FF2B5EF4-FFF2-40B4-BE49-F238E27FC236}">
                <a16:creationId xmlns:a16="http://schemas.microsoft.com/office/drawing/2014/main" id="{CDBEC79C-54A0-2235-C67A-094480F3C872}"/>
              </a:ext>
            </a:extLst>
          </p:cNvPr>
          <p:cNvSpPr/>
          <p:nvPr/>
        </p:nvSpPr>
        <p:spPr>
          <a:xfrm>
            <a:off x="4709159" y="3429000"/>
            <a:ext cx="3886200" cy="123444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5" name="Shape 39">
            <a:extLst>
              <a:ext uri="{FF2B5EF4-FFF2-40B4-BE49-F238E27FC236}">
                <a16:creationId xmlns:a16="http://schemas.microsoft.com/office/drawing/2014/main" id="{30F717F0-6861-7673-0F8D-16537C34F854}"/>
              </a:ext>
            </a:extLst>
          </p:cNvPr>
          <p:cNvSpPr/>
          <p:nvPr/>
        </p:nvSpPr>
        <p:spPr>
          <a:xfrm>
            <a:off x="4846320" y="352958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6" name="Image 4">
            <a:extLst>
              <a:ext uri="{FF2B5EF4-FFF2-40B4-BE49-F238E27FC236}">
                <a16:creationId xmlns:a16="http://schemas.microsoft.com/office/drawing/2014/main" id="{19B70C98-D814-F418-14B9-A7993E71D078}"/>
              </a:ext>
            </a:extLst>
          </p:cNvPr>
          <p:cNvPicPr>
            <a:picLocks noChangeAspect="1"/>
          </p:cNvPicPr>
          <p:nvPr/>
        </p:nvPicPr>
        <p:blipFill>
          <a:blip r:embed="rId7"/>
          <a:stretch>
            <a:fillRect/>
          </a:stretch>
        </p:blipFill>
        <p:spPr>
          <a:xfrm>
            <a:off x="4905755" y="3589020"/>
            <a:ext cx="137160" cy="137160"/>
          </a:xfrm>
          <a:prstGeom prst="rect">
            <a:avLst/>
          </a:prstGeom>
          <a:noFill/>
          <a:ln>
            <a:noFill/>
          </a:ln>
        </p:spPr>
      </p:pic>
      <p:sp>
        <p:nvSpPr>
          <p:cNvPr id="47" name="Text 40">
            <a:extLst>
              <a:ext uri="{FF2B5EF4-FFF2-40B4-BE49-F238E27FC236}">
                <a16:creationId xmlns:a16="http://schemas.microsoft.com/office/drawing/2014/main" id="{506F315D-F864-48F9-E2F3-30A88549063D}"/>
              </a:ext>
            </a:extLst>
          </p:cNvPr>
          <p:cNvSpPr/>
          <p:nvPr/>
        </p:nvSpPr>
        <p:spPr>
          <a:xfrm>
            <a:off x="5184648" y="354787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E71224"/>
                </a:solidFill>
                <a:uFillTx/>
                <a:latin typeface="Space Mono"/>
                <a:ea typeface="Space Mono"/>
                <a:cs typeface="Space Mono"/>
              </a:rPr>
              <a:t>frustrazioni</a:t>
            </a:r>
            <a:endParaRPr lang="it-IT" sz="1000" b="0" i="0" u="none" strike="noStrike" kern="1200" cap="none" spc="0" baseline="0">
              <a:solidFill>
                <a:srgbClr val="111111"/>
              </a:solidFill>
              <a:uFillTx/>
              <a:latin typeface="Space Mono"/>
              <a:ea typeface="Space Mono"/>
              <a:cs typeface="Space Mono"/>
            </a:endParaRPr>
          </a:p>
        </p:txBody>
      </p:sp>
      <p:sp>
        <p:nvSpPr>
          <p:cNvPr id="48" name="Text 41">
            <a:extLst>
              <a:ext uri="{FF2B5EF4-FFF2-40B4-BE49-F238E27FC236}">
                <a16:creationId xmlns:a16="http://schemas.microsoft.com/office/drawing/2014/main" id="{5AE46AFC-B501-4989-69E1-CB707A88DF7B}"/>
              </a:ext>
            </a:extLst>
          </p:cNvPr>
          <p:cNvSpPr/>
          <p:nvPr/>
        </p:nvSpPr>
        <p:spPr>
          <a:xfrm>
            <a:off x="4873752" y="3867912"/>
            <a:ext cx="3557015" cy="73152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Esempi facili che confermano una</a:t>
            </a:r>
            <a:r>
              <a:rPr lang="it-IT" sz="900" b="1" i="0" u="none" strike="noStrike" kern="1200" cap="none" spc="0" baseline="0">
                <a:solidFill>
                  <a:srgbClr val="111111"/>
                </a:solidFill>
                <a:uFillTx/>
                <a:latin typeface="Plus Jakarta Sans"/>
                <a:ea typeface="Plus Jakarta Sans"/>
                <a:cs typeface="Plus Jakarta Sans"/>
              </a:rPr>
              <a:t> sicurezza ingannevole</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Regole semplicistiche come "</a:t>
            </a:r>
            <a:r>
              <a:rPr lang="it-IT" sz="900" b="1" i="0" u="none" strike="noStrike" kern="1200" cap="none" spc="0" baseline="0">
                <a:solidFill>
                  <a:srgbClr val="111111"/>
                </a:solidFill>
                <a:uFillTx/>
                <a:latin typeface="Plus Jakarta Sans"/>
                <a:ea typeface="Plus Jakarta Sans"/>
                <a:cs typeface="Plus Jakarta Sans"/>
              </a:rPr>
              <a:t>troppo perfetta = IA</a:t>
            </a:r>
            <a:r>
              <a:rPr lang="it-IT" sz="900" b="0" i="0" u="none" strike="noStrike" kern="1200" cap="none" spc="0" baseline="0">
                <a:solidFill>
                  <a:srgbClr val="111111"/>
                </a:solidFill>
                <a:uFillTx/>
                <a:latin typeface="Plus Jakarta Sans"/>
                <a:ea typeface="Plus Jakarta Sans"/>
                <a:cs typeface="Plus Jakarta Sans"/>
              </a:rPr>
              <a:t>"</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Spiegazioni solo teoriche, mai prove reali in prima</a:t>
            </a:r>
          </a:p>
        </p:txBody>
      </p:sp>
      <p:sp>
        <p:nvSpPr>
          <p:cNvPr id="49" name="Slide Number Placeholder 0">
            <a:extLst>
              <a:ext uri="{FF2B5EF4-FFF2-40B4-BE49-F238E27FC236}">
                <a16:creationId xmlns:a16="http://schemas.microsoft.com/office/drawing/2014/main" id="{551A9492-FB28-6821-1560-F104720C5BE9}"/>
              </a:ext>
            </a:extLst>
          </p:cNvPr>
          <p:cNvSpPr txBox="1">
            <a:spLocks noGrp="1"/>
          </p:cNvSpPr>
          <p:nvPr>
            <p:ph type="sldNum" sz="quarter" idx="8"/>
          </p:nvPr>
        </p:nvSpPr>
        <p:spPr/>
        <p:txBody>
          <a:bodyPr/>
          <a:lstStyle/>
          <a:p>
            <a:pPr lvl="0"/>
            <a:fld id="{4B8EF398-BDF5-4BB4-8946-92D2DC718694}" type="slidenum">
              <a:rPr/>
              <a:t>18</a:t>
            </a:fld>
            <a:endParaRPr lang="it-IT"/>
          </a:p>
        </p:txBody>
      </p:sp>
    </p:spTree>
    <p:extLst>
      <p:ext uri="{BB962C8B-B14F-4D97-AF65-F5344CB8AC3E}">
        <p14:creationId xmlns:p14="http://schemas.microsoft.com/office/powerpoint/2010/main" val="4228880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cena ombra">
            <a:extLst>
              <a:ext uri="{FF2B5EF4-FFF2-40B4-BE49-F238E27FC236}">
                <a16:creationId xmlns:a16="http://schemas.microsoft.com/office/drawing/2014/main" id="{C1BBE29F-D7E0-393E-6AA9-C83B60E02DDD}"/>
              </a:ext>
            </a:extLst>
          </p:cNvPr>
          <p:cNvSpPr/>
          <p:nvPr/>
        </p:nvSpPr>
        <p:spPr>
          <a:xfrm rot="21449993">
            <a:off x="594361" y="502920"/>
            <a:ext cx="3611879" cy="3886200"/>
          </a:xfrm>
          <a:prstGeom prst="rect">
            <a:avLst/>
          </a:pr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scena">
            <a:extLst>
              <a:ext uri="{FF2B5EF4-FFF2-40B4-BE49-F238E27FC236}">
                <a16:creationId xmlns:a16="http://schemas.microsoft.com/office/drawing/2014/main" id="{881E804A-C330-1C62-C12D-F503CF124054}"/>
              </a:ext>
            </a:extLst>
          </p:cNvPr>
          <p:cNvSpPr/>
          <p:nvPr/>
        </p:nvSpPr>
        <p:spPr>
          <a:xfrm rot="21449993">
            <a:off x="502921" y="411479"/>
            <a:ext cx="3611879" cy="388620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illustrazione la sfida del venerdì">
            <a:extLst>
              <a:ext uri="{FF2B5EF4-FFF2-40B4-BE49-F238E27FC236}">
                <a16:creationId xmlns:a16="http://schemas.microsoft.com/office/drawing/2014/main" id="{0A59BD8A-817D-9F35-5B74-D34470291F8B}"/>
              </a:ext>
            </a:extLst>
          </p:cNvPr>
          <p:cNvPicPr>
            <a:picLocks noChangeAspect="1"/>
          </p:cNvPicPr>
          <p:nvPr/>
        </p:nvPicPr>
        <p:blipFill>
          <a:blip r:embed="rId3"/>
          <a:stretch>
            <a:fillRect/>
          </a:stretch>
        </p:blipFill>
        <p:spPr>
          <a:xfrm rot="21449993">
            <a:off x="640080" y="548640"/>
            <a:ext cx="3337560" cy="3291840"/>
          </a:xfrm>
          <a:prstGeom prst="rect">
            <a:avLst/>
          </a:prstGeom>
          <a:noFill/>
          <a:ln>
            <a:noFill/>
          </a:ln>
        </p:spPr>
      </p:pic>
      <p:sp>
        <p:nvSpPr>
          <p:cNvPr id="5" name="tape">
            <a:extLst>
              <a:ext uri="{FF2B5EF4-FFF2-40B4-BE49-F238E27FC236}">
                <a16:creationId xmlns:a16="http://schemas.microsoft.com/office/drawing/2014/main" id="{49816981-5063-2231-2238-6EDFCBFABF4D}"/>
              </a:ext>
            </a:extLst>
          </p:cNvPr>
          <p:cNvSpPr/>
          <p:nvPr/>
        </p:nvSpPr>
        <p:spPr>
          <a:xfrm rot="21150015">
            <a:off x="1767078" y="320040"/>
            <a:ext cx="1083564" cy="155448"/>
          </a:xfrm>
          <a:prstGeom prst="rect">
            <a:avLst/>
          </a:prstGeom>
          <a:solidFill>
            <a:srgbClr val="1700E8">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citazione">
            <a:extLst>
              <a:ext uri="{FF2B5EF4-FFF2-40B4-BE49-F238E27FC236}">
                <a16:creationId xmlns:a16="http://schemas.microsoft.com/office/drawing/2014/main" id="{073FFB22-6840-EABB-4466-DE926568A2B2}"/>
              </a:ext>
            </a:extLst>
          </p:cNvPr>
          <p:cNvSpPr/>
          <p:nvPr/>
        </p:nvSpPr>
        <p:spPr>
          <a:xfrm rot="21359993">
            <a:off x="1047317" y="3537219"/>
            <a:ext cx="3429000" cy="457200"/>
          </a:xfrm>
          <a:prstGeom prst="rect">
            <a:avLst/>
          </a:prstGeom>
          <a:solidFill>
            <a:srgbClr val="E71224"/>
          </a:solidFill>
          <a:ln w="15873">
            <a:solidFill>
              <a:srgbClr val="111111"/>
            </a:solidFill>
            <a:prstDash val="solid"/>
          </a:ln>
          <a:effectLst>
            <a:outerShdw dist="38096" dir="2700000" algn="tl">
              <a:srgbClr val="111111"/>
            </a:outerShdw>
          </a:effectLst>
        </p:spPr>
        <p:txBody>
          <a:bodyPr vert="horz" wrap="square" lIns="25402" tIns="101598" rIns="101598" bIns="25402"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100" b="1" i="1" u="none" strike="noStrike" kern="1200" cap="none" spc="0" baseline="0">
                <a:solidFill>
                  <a:srgbClr val="FFFFFF"/>
                </a:solidFill>
                <a:uFillTx/>
                <a:latin typeface="Plus Jakarta Sans"/>
                <a:ea typeface="Plus Jakarta Sans"/>
                <a:cs typeface="Plus Jakarta Sans"/>
              </a:rPr>
              <a:t>Tanto le foto fatte con l'IA si riconoscono subito</a:t>
            </a:r>
            <a:endParaRPr lang="it-IT" sz="1100" b="0" i="0" u="none" strike="noStrike" kern="1200" cap="none" spc="0" baseline="0">
              <a:solidFill>
                <a:srgbClr val="111111"/>
              </a:solidFill>
              <a:uFillTx/>
              <a:latin typeface="Plus Jakarta Sans"/>
              <a:ea typeface="Plus Jakarta Sans"/>
              <a:cs typeface="Plus Jakarta Sans"/>
            </a:endParaRPr>
          </a:p>
        </p:txBody>
      </p:sp>
      <p:sp>
        <p:nvSpPr>
          <p:cNvPr id="7" name="Text 5">
            <a:extLst>
              <a:ext uri="{FF2B5EF4-FFF2-40B4-BE49-F238E27FC236}">
                <a16:creationId xmlns:a16="http://schemas.microsoft.com/office/drawing/2014/main" id="{2FC4572E-0F3D-3F41-E3A5-9B540160E1CD}"/>
              </a:ext>
            </a:extLst>
          </p:cNvPr>
          <p:cNvSpPr/>
          <p:nvPr/>
        </p:nvSpPr>
        <p:spPr>
          <a:xfrm>
            <a:off x="4663440" y="411480"/>
            <a:ext cx="237744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1700E8"/>
                </a:solidFill>
                <a:uFillTx/>
                <a:latin typeface="Space Mono"/>
                <a:ea typeface="Space Mono"/>
                <a:cs typeface="Space Mono"/>
              </a:rPr>
              <a:t>La storia di Tommaso</a:t>
            </a:r>
            <a:endParaRPr lang="it-IT" sz="850" b="0" i="0" u="none" strike="noStrike" kern="1200" cap="none" spc="0" baseline="0">
              <a:solidFill>
                <a:srgbClr val="1700E8"/>
              </a:solidFill>
              <a:uFillTx/>
              <a:latin typeface="Space Mono"/>
              <a:ea typeface="Space Mono"/>
              <a:cs typeface="Space Mono"/>
            </a:endParaRPr>
          </a:p>
        </p:txBody>
      </p:sp>
      <p:sp>
        <p:nvSpPr>
          <p:cNvPr id="8" name="Text 6">
            <a:extLst>
              <a:ext uri="{FF2B5EF4-FFF2-40B4-BE49-F238E27FC236}">
                <a16:creationId xmlns:a16="http://schemas.microsoft.com/office/drawing/2014/main" id="{ABCD2342-5311-7377-30C4-E7FA171F658A}"/>
              </a:ext>
            </a:extLst>
          </p:cNvPr>
          <p:cNvSpPr/>
          <p:nvPr/>
        </p:nvSpPr>
        <p:spPr>
          <a:xfrm>
            <a:off x="7269480" y="384048"/>
            <a:ext cx="457200" cy="256032"/>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900" b="1" i="0" u="none" strike="noStrike" kern="1200" cap="none" spc="0" baseline="0">
              <a:solidFill>
                <a:srgbClr val="1700E8"/>
              </a:solidFill>
              <a:uFillTx/>
              <a:latin typeface="Space Mono"/>
              <a:ea typeface="Space Mono"/>
              <a:cs typeface="Plus Jakarta Sans"/>
            </a:endParaRPr>
          </a:p>
        </p:txBody>
      </p:sp>
      <p:sp>
        <p:nvSpPr>
          <p:cNvPr id="9" name="Text 1">
            <a:extLst>
              <a:ext uri="{FF2B5EF4-FFF2-40B4-BE49-F238E27FC236}">
                <a16:creationId xmlns:a16="http://schemas.microsoft.com/office/drawing/2014/main" id="{9DF342DB-16CC-F975-6279-C065A3411F8C}"/>
              </a:ext>
            </a:extLst>
          </p:cNvPr>
          <p:cNvSpPr txBox="1">
            <a:spLocks noGrp="1"/>
          </p:cNvSpPr>
          <p:nvPr>
            <p:ph type="title"/>
          </p:nvPr>
        </p:nvSpPr>
        <p:spPr/>
        <p:txBody>
          <a:bodyPr lIns="0" tIns="0" rIns="0" bIns="0" anchor="ctr"/>
          <a:lstStyle/>
          <a:p>
            <a:pPr lvl="0"/>
            <a:r>
              <a:rPr lang="it-IT">
                <a:latin typeface="Space Mono"/>
                <a:ea typeface="Space Mono"/>
                <a:cs typeface="Space Mono"/>
              </a:rPr>
              <a:t>Avvisi falsi</a:t>
            </a:r>
          </a:p>
        </p:txBody>
      </p:sp>
      <p:sp>
        <p:nvSpPr>
          <p:cNvPr id="10" name="chip B4 · idea realistica delle proprie capacità">
            <a:extLst>
              <a:ext uri="{FF2B5EF4-FFF2-40B4-BE49-F238E27FC236}">
                <a16:creationId xmlns:a16="http://schemas.microsoft.com/office/drawing/2014/main" id="{A1227317-4583-AC63-9B50-4ED133E8F540}"/>
              </a:ext>
            </a:extLst>
          </p:cNvPr>
          <p:cNvSpPr/>
          <p:nvPr/>
        </p:nvSpPr>
        <p:spPr>
          <a:xfrm>
            <a:off x="4663440" y="1188720"/>
            <a:ext cx="3000375"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71224"/>
          </a:solidFill>
          <a:ln w="12701">
            <a:solidFill>
              <a:srgbClr val="111111"/>
            </a:solid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00" b="1" i="0" u="none" strike="noStrike" kern="1200" cap="none" spc="0" baseline="0">
                <a:solidFill>
                  <a:srgbClr val="FFFFFF"/>
                </a:solidFill>
                <a:uFillTx/>
                <a:latin typeface="Space Mono"/>
                <a:ea typeface="Space Mono"/>
                <a:cs typeface="Space Mono"/>
              </a:rPr>
              <a:t>B4+B9 · capacità realistica di riconoscere un falso</a:t>
            </a:r>
            <a:endParaRPr lang="it-IT" sz="700" b="0" i="0" u="none" strike="noStrike" kern="1200" cap="none" spc="0" baseline="0">
              <a:solidFill>
                <a:srgbClr val="111111"/>
              </a:solidFill>
              <a:uFillTx/>
              <a:latin typeface="Space Mono"/>
              <a:ea typeface="Space Mono"/>
              <a:cs typeface="Space Mono"/>
            </a:endParaRPr>
          </a:p>
        </p:txBody>
      </p:sp>
      <p:sp>
        <p:nvSpPr>
          <p:cNvPr id="11" name="story">
            <a:extLst>
              <a:ext uri="{FF2B5EF4-FFF2-40B4-BE49-F238E27FC236}">
                <a16:creationId xmlns:a16="http://schemas.microsoft.com/office/drawing/2014/main" id="{312D76A9-618D-62C4-BFF3-C088C6FC1A92}"/>
              </a:ext>
            </a:extLst>
          </p:cNvPr>
          <p:cNvSpPr/>
          <p:nvPr/>
        </p:nvSpPr>
        <p:spPr>
          <a:xfrm>
            <a:off x="4663440" y="1554480"/>
            <a:ext cx="4114800" cy="3200400"/>
          </a:xfrm>
          <a:prstGeom prst="rect">
            <a:avLst/>
          </a:prstGeom>
          <a:noFill/>
          <a:ln>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900" b="0" i="0" u="none" strike="noStrike" kern="1200" cap="none" spc="0" baseline="0">
              <a:solidFill>
                <a:srgbClr val="0E0E0E"/>
              </a:solidFill>
              <a:uFillTx/>
              <a:latin typeface="Helvetica"/>
              <a:ea typeface="Plus Jakarta Sans"/>
              <a:cs typeface="Helvetica"/>
            </a:endParaRPr>
          </a:p>
        </p:txBody>
      </p:sp>
      <p:sp>
        <p:nvSpPr>
          <p:cNvPr id="12" name="Slide Number Placeholder 0">
            <a:extLst>
              <a:ext uri="{FF2B5EF4-FFF2-40B4-BE49-F238E27FC236}">
                <a16:creationId xmlns:a16="http://schemas.microsoft.com/office/drawing/2014/main" id="{9E0D811B-5401-8A9F-ED42-87023D1FD7D8}"/>
              </a:ext>
            </a:extLst>
          </p:cNvPr>
          <p:cNvSpPr txBox="1">
            <a:spLocks noGrp="1"/>
          </p:cNvSpPr>
          <p:nvPr>
            <p:ph type="sldNum" sz="quarter" idx="8"/>
          </p:nvPr>
        </p:nvSpPr>
        <p:spPr/>
        <p:txBody>
          <a:bodyPr/>
          <a:lstStyle/>
          <a:p>
            <a:pPr lvl="0"/>
            <a:fld id="{09DD4C74-DA0D-45B7-B89F-1B95C3BE80AF}" type="slidenum">
              <a:rPr/>
              <a:t>19</a:t>
            </a:fld>
            <a:endParaRPr lang="it-IT"/>
          </a:p>
        </p:txBody>
      </p:sp>
      <p:sp>
        <p:nvSpPr>
          <p:cNvPr id="13" name="CasellaDiTesto 4">
            <a:extLst>
              <a:ext uri="{FF2B5EF4-FFF2-40B4-BE49-F238E27FC236}">
                <a16:creationId xmlns:a16="http://schemas.microsoft.com/office/drawing/2014/main" id="{87303CB0-E591-5D91-EBCB-0681AD823593}"/>
              </a:ext>
            </a:extLst>
          </p:cNvPr>
          <p:cNvSpPr txBox="1"/>
          <p:nvPr/>
        </p:nvSpPr>
        <p:spPr>
          <a:xfrm>
            <a:off x="4487957" y="1672483"/>
            <a:ext cx="4572000" cy="3477874"/>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Al </a:t>
            </a:r>
            <a:r>
              <a:rPr lang="en-US" sz="1100" b="0" i="0" u="none" strike="noStrike" kern="1200" cap="none" spc="0" baseline="0" err="1">
                <a:solidFill>
                  <a:srgbClr val="111111"/>
                </a:solidFill>
                <a:uFillTx/>
                <a:latin typeface="Plus Jakarta Sans"/>
                <a:ea typeface="Plus Jakarta Sans"/>
                <a:cs typeface="Plus Jakarta Sans"/>
              </a:rPr>
              <a:t>cambio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dell’ora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gli</a:t>
            </a:r>
            <a:r>
              <a:rPr lang="en-US" sz="1100" b="0" i="0" u="none" strike="noStrike" kern="1200" cap="none" spc="0" baseline="0">
                <a:solidFill>
                  <a:srgbClr val="111111"/>
                </a:solidFill>
                <a:uFillTx/>
                <a:latin typeface="Plus Jakarta Sans"/>
                <a:ea typeface="Plus Jakarta Sans"/>
                <a:cs typeface="Plus Jakarta Sans"/>
              </a:rPr>
              <a:t> amici di Tommaso </a:t>
            </a:r>
            <a:r>
              <a:rPr lang="en-US" sz="1100" b="0" i="0" u="none" strike="noStrike" kern="1200" cap="none" spc="0" baseline="0" err="1">
                <a:solidFill>
                  <a:srgbClr val="111111"/>
                </a:solidFill>
                <a:uFillTx/>
                <a:latin typeface="Plus Jakarta Sans"/>
                <a:ea typeface="Plus Jakarta Sans"/>
                <a:cs typeface="Plus Jakarta Sans"/>
              </a:rPr>
              <a:t>parlano</a:t>
            </a:r>
            <a:r>
              <a:rPr lang="en-US" sz="1100" b="0" i="0" u="none" strike="noStrike" kern="1200" cap="none" spc="0" baseline="0">
                <a:solidFill>
                  <a:srgbClr val="111111"/>
                </a:solidFill>
                <a:uFillTx/>
                <a:latin typeface="Plus Jakarta Sans"/>
                <a:ea typeface="Plus Jakarta Sans"/>
                <a:cs typeface="Plus Jakarta Sans"/>
              </a:rPr>
              <a:t> di un nuovo </a:t>
            </a:r>
            <a:r>
              <a:rPr lang="en-US" sz="1100" b="0" i="0" u="none" strike="noStrike" kern="1200" cap="none" spc="0" baseline="0" err="1">
                <a:solidFill>
                  <a:srgbClr val="111111"/>
                </a:solidFill>
                <a:uFillTx/>
                <a:latin typeface="Plus Jakarta Sans"/>
                <a:ea typeface="Plus Jakarta Sans"/>
                <a:cs typeface="Plus Jakarta Sans"/>
              </a:rPr>
              <a:t>sistema</a:t>
            </a:r>
            <a:r>
              <a:rPr lang="en-US" sz="1100" b="0" i="0" u="none" strike="noStrike" kern="1200" cap="none" spc="0" baseline="0">
                <a:solidFill>
                  <a:srgbClr val="111111"/>
                </a:solidFill>
                <a:uFillTx/>
                <a:latin typeface="Plus Jakarta Sans"/>
                <a:ea typeface="Plus Jakarta Sans"/>
                <a:cs typeface="Plus Jakarta Sans"/>
              </a:rPr>
              <a:t> in cui ci </a:t>
            </a:r>
            <a:r>
              <a:rPr lang="en-US" sz="1100" b="0" i="0" u="none" strike="noStrike" kern="1200" cap="none" spc="0" baseline="0" err="1">
                <a:solidFill>
                  <a:srgbClr val="111111"/>
                </a:solidFill>
                <a:uFillTx/>
                <a:latin typeface="Plus Jakarta Sans"/>
                <a:ea typeface="Plus Jakarta Sans"/>
                <a:cs typeface="Plus Jakarta Sans"/>
              </a:rPr>
              <a:t>si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può</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allenare</a:t>
            </a:r>
            <a:r>
              <a:rPr lang="en-US" sz="1100" b="0" i="0" u="none" strike="noStrike" kern="1200" cap="none" spc="0" baseline="0">
                <a:solidFill>
                  <a:srgbClr val="111111"/>
                </a:solidFill>
                <a:uFillTx/>
                <a:latin typeface="Plus Jakarta Sans"/>
                <a:ea typeface="Plus Jakarta Sans"/>
                <a:cs typeface="Plus Jakarta Sans"/>
              </a:rPr>
              <a:t> a </a:t>
            </a:r>
            <a:r>
              <a:rPr lang="en-US" sz="1100" b="0" i="0" u="none" strike="noStrike" kern="1200" cap="none" spc="0" baseline="0" err="1">
                <a:solidFill>
                  <a:srgbClr val="111111"/>
                </a:solidFill>
                <a:uFillTx/>
                <a:latin typeface="Plus Jakarta Sans"/>
                <a:ea typeface="Plus Jakarta Sans"/>
                <a:cs typeface="Plus Jakarta Sans"/>
              </a:rPr>
              <a:t>riconoscere</a:t>
            </a:r>
            <a:r>
              <a:rPr lang="en-US" sz="1100" b="0" i="0" u="none" strike="noStrike" kern="1200" cap="none" spc="0" baseline="0">
                <a:solidFill>
                  <a:srgbClr val="111111"/>
                </a:solidFill>
                <a:uFillTx/>
                <a:latin typeface="Plus Jakarta Sans"/>
                <a:ea typeface="Plus Jakarta Sans"/>
                <a:cs typeface="Plus Jakarta Sans"/>
              </a:rPr>
              <a:t> deepfake. Lui, </a:t>
            </a:r>
            <a:r>
              <a:rPr lang="en-US" sz="1100" b="0" i="0" u="none" strike="noStrike" kern="1200" cap="none" spc="0" baseline="0" err="1">
                <a:solidFill>
                  <a:srgbClr val="111111"/>
                </a:solidFill>
                <a:uFillTx/>
                <a:latin typeface="Plus Jakarta Sans"/>
                <a:ea typeface="Plus Jakarta Sans"/>
                <a:cs typeface="Plus Jakarta Sans"/>
              </a:rPr>
              <a:t>che</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considera</a:t>
            </a:r>
            <a:r>
              <a:rPr lang="en-US" sz="1100" b="0"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a:solidFill>
                  <a:srgbClr val="111111"/>
                </a:solidFill>
                <a:uFillTx/>
                <a:latin typeface="Plus Jakarta Sans"/>
                <a:ea typeface="Plus Jakarta Sans"/>
                <a:cs typeface="Plus Jakarta Sans"/>
              </a:rPr>
              <a:t>il </a:t>
            </a:r>
            <a:r>
              <a:rPr lang="en-US" sz="1100" b="1" i="0" u="none" strike="noStrike" kern="1200" cap="none" spc="0" baseline="0" err="1">
                <a:solidFill>
                  <a:srgbClr val="111111"/>
                </a:solidFill>
                <a:uFillTx/>
                <a:latin typeface="Plus Jakarta Sans"/>
                <a:ea typeface="Plus Jakarta Sans"/>
                <a:cs typeface="Plus Jakarta Sans"/>
              </a:rPr>
              <a:t>più</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esperto</a:t>
            </a:r>
            <a:r>
              <a:rPr lang="en-US" sz="1100" b="1" i="0" u="none" strike="noStrike" kern="1200" cap="none" spc="0" baseline="0">
                <a:solidFill>
                  <a:srgbClr val="111111"/>
                </a:solidFill>
                <a:uFillTx/>
                <a:latin typeface="Plus Jakarta Sans"/>
                <a:ea typeface="Plus Jakarta Sans"/>
                <a:cs typeface="Plus Jakarta Sans"/>
              </a:rPr>
              <a:t> del </a:t>
            </a:r>
            <a:r>
              <a:rPr lang="en-US" sz="1100" b="1" i="0" u="none" strike="noStrike" kern="1200" cap="none" spc="0" baseline="0" err="1">
                <a:solidFill>
                  <a:srgbClr val="111111"/>
                </a:solidFill>
                <a:uFillTx/>
                <a:latin typeface="Plus Jakarta Sans"/>
                <a:ea typeface="Plus Jakarta Sans"/>
                <a:cs typeface="Plus Jakarta Sans"/>
              </a:rPr>
              <a:t>gruppo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accetta</a:t>
            </a:r>
            <a:r>
              <a:rPr lang="en-US" sz="1100" b="0" i="0" u="none" strike="noStrike" kern="1200" cap="none" spc="0" baseline="0">
                <a:solidFill>
                  <a:srgbClr val="111111"/>
                </a:solidFill>
                <a:uFillTx/>
                <a:latin typeface="Plus Jakarta Sans"/>
                <a:ea typeface="Plus Jakarta Sans"/>
                <a:cs typeface="Plus Jakarta Sans"/>
              </a:rPr>
              <a:t> subito: </a:t>
            </a:r>
            <a:r>
              <a:rPr lang="en-US" sz="1100" b="0" i="1" u="none" strike="noStrike" kern="1200" cap="none" spc="0" baseline="0">
                <a:solidFill>
                  <a:srgbClr val="111111"/>
                </a:solidFill>
                <a:uFillTx/>
                <a:latin typeface="Plus Jakarta Sans"/>
                <a:ea typeface="Plus Jakarta Sans"/>
                <a:cs typeface="Plus Jakarta Sans"/>
              </a:rPr>
              <a:t>“Tanto </a:t>
            </a:r>
            <a:r>
              <a:rPr lang="en-US" sz="1100" b="0" i="1" u="none" strike="noStrike" kern="1200" cap="none" spc="0" baseline="0" err="1">
                <a:solidFill>
                  <a:srgbClr val="111111"/>
                </a:solidFill>
                <a:uFillTx/>
                <a:latin typeface="Plus Jakarta Sans"/>
                <a:ea typeface="Plus Jakarta Sans"/>
                <a:cs typeface="Plus Jakarta Sans"/>
              </a:rPr>
              <a:t>i</a:t>
            </a:r>
            <a:r>
              <a:rPr lang="en-US" sz="1100" b="0" i="1" u="none" strike="noStrike" kern="1200" cap="none" spc="0" baseline="0">
                <a:solidFill>
                  <a:srgbClr val="111111"/>
                </a:solidFill>
                <a:uFillTx/>
                <a:latin typeface="Plus Jakarta Sans"/>
                <a:ea typeface="Plus Jakarta Sans"/>
                <a:cs typeface="Plus Jakarta Sans"/>
              </a:rPr>
              <a:t> </a:t>
            </a:r>
            <a:r>
              <a:rPr lang="en-US" sz="1100" b="0" i="1" u="none" strike="noStrike" kern="1200" cap="none" spc="0" baseline="0" err="1">
                <a:solidFill>
                  <a:srgbClr val="111111"/>
                </a:solidFill>
                <a:uFillTx/>
                <a:latin typeface="Plus Jakarta Sans"/>
                <a:ea typeface="Plus Jakarta Sans"/>
                <a:cs typeface="Plus Jakarta Sans"/>
              </a:rPr>
              <a:t>contenuti</a:t>
            </a:r>
            <a:r>
              <a:rPr lang="en-US" sz="1100" b="0" i="1" u="none" strike="noStrike" kern="1200" cap="none" spc="0" baseline="0">
                <a:solidFill>
                  <a:srgbClr val="111111"/>
                </a:solidFill>
                <a:uFillTx/>
                <a:latin typeface="Plus Jakarta Sans"/>
                <a:ea typeface="Plus Jakarta Sans"/>
                <a:cs typeface="Plus Jakarta Sans"/>
              </a:rPr>
              <a:t> </a:t>
            </a:r>
            <a:r>
              <a:rPr lang="en-US" sz="1100" b="0" i="1" u="none" strike="noStrike" kern="1200" cap="none" spc="0" baseline="0" err="1">
                <a:solidFill>
                  <a:srgbClr val="111111"/>
                </a:solidFill>
                <a:uFillTx/>
                <a:latin typeface="Plus Jakarta Sans"/>
                <a:ea typeface="Plus Jakarta Sans"/>
                <a:cs typeface="Plus Jakarta Sans"/>
              </a:rPr>
              <a:t>fatti</a:t>
            </a:r>
            <a:r>
              <a:rPr lang="en-US" sz="1100" b="0" i="1" u="none" strike="noStrike" kern="1200" cap="none" spc="0" baseline="0">
                <a:solidFill>
                  <a:srgbClr val="111111"/>
                </a:solidFill>
                <a:uFillTx/>
                <a:latin typeface="Plus Jakarta Sans"/>
                <a:ea typeface="Plus Jakarta Sans"/>
                <a:cs typeface="Plus Jakarta Sans"/>
              </a:rPr>
              <a:t> con </a:t>
            </a:r>
            <a:r>
              <a:rPr lang="en-US" sz="1100" b="0" i="1" u="none" strike="noStrike" kern="1200" cap="none" spc="0" baseline="0" err="1">
                <a:solidFill>
                  <a:srgbClr val="111111"/>
                </a:solidFill>
                <a:uFillTx/>
                <a:latin typeface="Plus Jakarta Sans"/>
                <a:ea typeface="Plus Jakarta Sans"/>
                <a:cs typeface="Plus Jakarta Sans"/>
              </a:rPr>
              <a:t>l’IA</a:t>
            </a:r>
            <a:r>
              <a:rPr lang="en-US" sz="1100" b="0" i="1" u="none" strike="noStrike" kern="1200" cap="none" spc="0" baseline="0">
                <a:solidFill>
                  <a:srgbClr val="111111"/>
                </a:solidFill>
                <a:uFillTx/>
                <a:latin typeface="Plus Jakarta Sans"/>
                <a:ea typeface="Plus Jakarta Sans"/>
                <a:cs typeface="Plus Jakarta Sans"/>
              </a:rPr>
              <a:t> </a:t>
            </a:r>
            <a:r>
              <a:rPr lang="en-US" sz="1100" b="0" i="1" u="none" strike="noStrike" kern="1200" cap="none" spc="0" baseline="0" err="1">
                <a:solidFill>
                  <a:srgbClr val="111111"/>
                </a:solidFill>
                <a:uFillTx/>
                <a:latin typeface="Plus Jakarta Sans"/>
                <a:ea typeface="Plus Jakarta Sans"/>
                <a:cs typeface="Plus Jakarta Sans"/>
              </a:rPr>
              <a:t>si</a:t>
            </a:r>
            <a:r>
              <a:rPr lang="en-US" sz="1100" b="0" i="1" u="none" strike="noStrike" kern="1200" cap="none" spc="0" baseline="0">
                <a:solidFill>
                  <a:srgbClr val="111111"/>
                </a:solidFill>
                <a:uFillTx/>
                <a:latin typeface="Plus Jakarta Sans"/>
                <a:ea typeface="Plus Jakarta Sans"/>
                <a:cs typeface="Plus Jakarta Sans"/>
              </a:rPr>
              <a:t> </a:t>
            </a:r>
            <a:r>
              <a:rPr lang="en-US" sz="1100" b="0" i="1" u="none" strike="noStrike" kern="1200" cap="none" spc="0" baseline="0" err="1">
                <a:solidFill>
                  <a:srgbClr val="111111"/>
                </a:solidFill>
                <a:uFillTx/>
                <a:latin typeface="Plus Jakarta Sans"/>
                <a:ea typeface="Plus Jakarta Sans"/>
                <a:cs typeface="Plus Jakarta Sans"/>
              </a:rPr>
              <a:t>riconoscono</a:t>
            </a:r>
            <a:r>
              <a:rPr lang="en-US" sz="1100" b="0" i="1" u="none" strike="noStrike" kern="1200" cap="none" spc="0" baseline="0">
                <a:solidFill>
                  <a:srgbClr val="111111"/>
                </a:solidFill>
                <a:uFillTx/>
                <a:latin typeface="Plus Jakarta Sans"/>
                <a:ea typeface="Plus Jakarta Sans"/>
                <a:cs typeface="Plus Jakarta Sans"/>
              </a:rPr>
              <a:t> subito”</a:t>
            </a:r>
            <a:r>
              <a:rPr lang="en-US" sz="1100" b="0" i="0" u="none" strike="noStrike" kern="1200" cap="none" spc="0" baseline="0">
                <a:solidFill>
                  <a:srgbClr val="111111"/>
                </a:solidFill>
                <a:uFillTx/>
                <a:latin typeface="Plus Jakarta Sans"/>
                <a:ea typeface="Plus Jakarta Sans"/>
                <a:cs typeface="Plus Jakarta Sans"/>
              </a:rPr>
              <a:t>.</a:t>
            </a:r>
            <a:endParaRPr lang="it-IT" sz="1100" b="0" i="0" u="none" strike="noStrike" kern="1200" cap="none" spc="0" baseline="0">
              <a:solidFill>
                <a:srgbClr val="111111"/>
              </a:solidFill>
              <a:uFillTx/>
              <a:latin typeface="Plus Jakarta Sans"/>
              <a:ea typeface="Plus Jakarta Sans"/>
              <a:cs typeface="Plus Jakarta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Prima di </a:t>
            </a:r>
            <a:r>
              <a:rPr lang="en-US" sz="1100" b="0" i="0" u="none" strike="noStrike" kern="1200" cap="none" spc="0" baseline="0" err="1">
                <a:solidFill>
                  <a:srgbClr val="111111"/>
                </a:solidFill>
                <a:uFillTx/>
                <a:latin typeface="Plus Jakarta Sans"/>
                <a:ea typeface="Plus Jakarta Sans"/>
                <a:cs typeface="Plus Jakarta Sans"/>
              </a:rPr>
              <a:t>iniziare</a:t>
            </a:r>
            <a:r>
              <a:rPr lang="en-US" sz="1100" b="0" i="0" u="none" strike="noStrike" kern="1200" cap="none" spc="0" baseline="0">
                <a:solidFill>
                  <a:srgbClr val="111111"/>
                </a:solidFill>
                <a:uFillTx/>
                <a:latin typeface="Plus Jakarta Sans"/>
                <a:ea typeface="Plus Jakarta Sans"/>
                <a:cs typeface="Plus Jakarta Sans"/>
              </a:rPr>
              <a:t> il </a:t>
            </a:r>
            <a:r>
              <a:rPr lang="en-US" sz="1100" b="0" i="0" u="none" strike="noStrike" kern="1200" cap="none" spc="0" baseline="0" err="1">
                <a:solidFill>
                  <a:srgbClr val="111111"/>
                </a:solidFill>
                <a:uFillTx/>
                <a:latin typeface="Plus Jakarta Sans"/>
                <a:ea typeface="Plus Jakarta Sans"/>
                <a:cs typeface="Plus Jakarta Sans"/>
              </a:rPr>
              <a:t>sistema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gli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chiede</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quanto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si</a:t>
            </a:r>
            <a:r>
              <a:rPr lang="en-US" sz="1100" b="0" i="0" u="none" strike="noStrike" kern="1200" cap="none" spc="0" baseline="0">
                <a:solidFill>
                  <a:srgbClr val="111111"/>
                </a:solidFill>
                <a:uFillTx/>
                <a:latin typeface="Plus Jakarta Sans"/>
                <a:ea typeface="Plus Jakarta Sans"/>
                <a:cs typeface="Plus Jakarta Sans"/>
              </a:rPr>
              <a:t> sente </a:t>
            </a:r>
            <a:r>
              <a:rPr lang="en-US" sz="1100" b="0" i="0" u="none" strike="noStrike" kern="1200" cap="none" spc="0" baseline="0" err="1">
                <a:solidFill>
                  <a:srgbClr val="111111"/>
                </a:solidFill>
                <a:uFillTx/>
                <a:latin typeface="Plus Jakarta Sans"/>
                <a:ea typeface="Plus Jakarta Sans"/>
                <a:cs typeface="Plus Jakarta Sans"/>
              </a:rPr>
              <a:t>sicuro</a:t>
            </a:r>
            <a:r>
              <a:rPr lang="en-US" sz="1100" b="0" i="0" u="none" strike="noStrike" kern="1200" cap="none" spc="0" baseline="0">
                <a:solidFill>
                  <a:srgbClr val="111111"/>
                </a:solidFill>
                <a:uFillTx/>
                <a:latin typeface="Plus Jakarta Sans"/>
                <a:ea typeface="Plus Jakarta Sans"/>
                <a:cs typeface="Plus Jakarta Sans"/>
              </a:rPr>
              <a:t>, e Tommaso </a:t>
            </a:r>
            <a:r>
              <a:rPr lang="en-US" sz="1100" b="1" i="0" u="none" strike="noStrike" kern="1200" cap="none" spc="0" baseline="0" err="1">
                <a:solidFill>
                  <a:srgbClr val="111111"/>
                </a:solidFill>
                <a:uFillTx/>
                <a:latin typeface="Plus Jakarta Sans"/>
                <a:ea typeface="Plus Jakarta Sans"/>
                <a:cs typeface="Plus Jakarta Sans"/>
              </a:rPr>
              <a:t>si</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dà</a:t>
            </a:r>
            <a:r>
              <a:rPr lang="en-US" sz="1100" b="1" i="0" u="none" strike="noStrike" kern="1200" cap="none" spc="0" baseline="0">
                <a:solidFill>
                  <a:srgbClr val="111111"/>
                </a:solidFill>
                <a:uFillTx/>
                <a:latin typeface="Plus Jakarta Sans"/>
                <a:ea typeface="Plus Jakarta Sans"/>
                <a:cs typeface="Plus Jakarta Sans"/>
              </a:rPr>
              <a:t> 9 </a:t>
            </a:r>
            <a:r>
              <a:rPr lang="en-US" sz="1100" b="1" i="0" u="none" strike="noStrike" kern="1200" cap="none" spc="0" baseline="0" err="1">
                <a:solidFill>
                  <a:srgbClr val="111111"/>
                </a:solidFill>
                <a:uFillTx/>
                <a:latin typeface="Plus Jakarta Sans"/>
                <a:ea typeface="Plus Jakarta Sans"/>
                <a:cs typeface="Plus Jakarta Sans"/>
              </a:rPr>
              <a:t>su</a:t>
            </a:r>
            <a:r>
              <a:rPr lang="en-US" sz="1100" b="1" i="0" u="none" strike="noStrike" kern="1200" cap="none" spc="0" baseline="0">
                <a:solidFill>
                  <a:srgbClr val="111111"/>
                </a:solidFill>
                <a:uFillTx/>
                <a:latin typeface="Plus Jakarta Sans"/>
                <a:ea typeface="Plus Jakarta Sans"/>
                <a:cs typeface="Plus Jakarta Sans"/>
              </a:rPr>
              <a:t> 10</a:t>
            </a:r>
            <a:r>
              <a:rPr lang="en-US" sz="1100" b="0" i="0" u="none" strike="noStrike" kern="1200" cap="none" spc="0" baseline="0">
                <a:solidFill>
                  <a:srgbClr val="111111"/>
                </a:solidFill>
                <a:uFillTx/>
                <a:latin typeface="Plus Jakarta Sans"/>
                <a:ea typeface="Plus Jakarta Sans"/>
                <a:cs typeface="Plus Jakarta Sans"/>
              </a:rPr>
              <a:t>. Poi </a:t>
            </a:r>
            <a:r>
              <a:rPr lang="en-US" sz="1100" b="0" i="0" u="none" strike="noStrike" kern="1200" cap="none" spc="0" baseline="0" err="1">
                <a:solidFill>
                  <a:srgbClr val="111111"/>
                </a:solidFill>
                <a:uFillTx/>
                <a:latin typeface="Plus Jakarta Sans"/>
                <a:ea typeface="Plus Jakarta Sans"/>
                <a:cs typeface="Plus Jakarta Sans"/>
              </a:rPr>
              <a:t>affronta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contenuti</a:t>
            </a:r>
            <a:r>
              <a:rPr lang="en-US" sz="1100" b="0" i="0" u="none" strike="noStrike" kern="1200" cap="none" spc="0" baseline="0">
                <a:solidFill>
                  <a:srgbClr val="111111"/>
                </a:solidFill>
                <a:uFillTx/>
                <a:latin typeface="Plus Jakarta Sans"/>
                <a:ea typeface="Plus Jakarta Sans"/>
                <a:cs typeface="Plus Jakarta Sans"/>
              </a:rPr>
              <a:t> di </a:t>
            </a:r>
            <a:r>
              <a:rPr lang="en-US" sz="1100" b="0" i="0" u="none" strike="noStrike" kern="1200" cap="none" spc="0" baseline="0" err="1">
                <a:solidFill>
                  <a:srgbClr val="111111"/>
                </a:solidFill>
                <a:uFillTx/>
                <a:latin typeface="Plus Jakarta Sans"/>
                <a:ea typeface="Plus Jakarta Sans"/>
                <a:cs typeface="Plus Jakarta Sans"/>
              </a:rPr>
              <a:t>difficoltà</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crescente</a:t>
            </a:r>
            <a:r>
              <a:rPr lang="en-US" sz="1100" b="0" i="0" u="none" strike="noStrike" kern="1200" cap="none" spc="0" baseline="0">
                <a:solidFill>
                  <a:srgbClr val="111111"/>
                </a:solidFill>
                <a:uFillTx/>
                <a:latin typeface="Plus Jakarta Sans"/>
                <a:ea typeface="Plus Jakarta Sans"/>
                <a:cs typeface="Plus Jakarta Sans"/>
              </a:rPr>
              <a:t>: sui </a:t>
            </a:r>
            <a:r>
              <a:rPr lang="en-US" sz="1100" b="0" i="0" u="none" strike="noStrike" kern="1200" cap="none" spc="0" baseline="0" err="1">
                <a:solidFill>
                  <a:srgbClr val="111111"/>
                </a:solidFill>
                <a:uFillTx/>
                <a:latin typeface="Plus Jakarta Sans"/>
                <a:ea typeface="Plus Jakarta Sans"/>
                <a:cs typeface="Plus Jakarta Sans"/>
              </a:rPr>
              <a:t>primi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va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spedito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inizia</a:t>
            </a:r>
            <a:r>
              <a:rPr lang="en-US" sz="1100" b="0" i="0" u="none" strike="noStrike" kern="1200" cap="none" spc="0" baseline="0">
                <a:solidFill>
                  <a:srgbClr val="111111"/>
                </a:solidFill>
                <a:uFillTx/>
                <a:latin typeface="Plus Jakarta Sans"/>
                <a:ea typeface="Plus Jakarta Sans"/>
                <a:cs typeface="Plus Jakarta Sans"/>
              </a:rPr>
              <a:t> a </a:t>
            </a:r>
            <a:r>
              <a:rPr lang="en-US" sz="1100" b="0" i="0" u="none" strike="noStrike" kern="1200" cap="none" spc="0" baseline="0" err="1">
                <a:solidFill>
                  <a:srgbClr val="111111"/>
                </a:solidFill>
                <a:uFillTx/>
                <a:latin typeface="Plus Jakarta Sans"/>
                <a:ea typeface="Plus Jakarta Sans"/>
                <a:cs typeface="Plus Jakarta Sans"/>
              </a:rPr>
              <a:t>pensare</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che</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siano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troppo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facili</a:t>
            </a:r>
            <a:r>
              <a:rPr lang="en-US" sz="1100" b="0" i="0" u="none" strike="noStrike" kern="1200" cap="none" spc="0" baseline="0">
                <a:solidFill>
                  <a:srgbClr val="111111"/>
                </a:solidFill>
                <a:uFillTx/>
                <a:latin typeface="Plus Jakarta Sans"/>
                <a:ea typeface="Plus Jakarta Sans"/>
                <a:cs typeface="Plus Jakarta Sans"/>
              </a:rPr>
              <a:t>, ma </a:t>
            </a:r>
            <a:r>
              <a:rPr lang="en-US" sz="1100" b="0" i="0" u="none" strike="noStrike" kern="1200" cap="none" spc="0" baseline="0" err="1">
                <a:solidFill>
                  <a:srgbClr val="111111"/>
                </a:solidFill>
                <a:uFillTx/>
                <a:latin typeface="Plus Jakarta Sans"/>
                <a:ea typeface="Plus Jakarta Sans"/>
                <a:cs typeface="Plus Jakarta Sans"/>
              </a:rPr>
              <a:t>su</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quelli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più</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difficili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sbaglia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spesso</a:t>
            </a:r>
            <a:r>
              <a:rPr lang="en-US" sz="1100" b="0" i="0" u="none" strike="noStrike" kern="1200" cap="none" spc="0" baseline="0">
                <a:solidFill>
                  <a:srgbClr val="111111"/>
                </a:solidFill>
                <a:uFillTx/>
                <a:latin typeface="Plus Jakarta Sans"/>
                <a:ea typeface="Plus Jakarta Sans"/>
                <a:cs typeface="Plus Jakarta Sans"/>
              </a:rPr>
              <a:t> e </a:t>
            </a:r>
            <a:r>
              <a:rPr lang="en-US" sz="1100" b="1" i="0" u="none" strike="noStrike" kern="1200" cap="none" spc="0" baseline="0">
                <a:solidFill>
                  <a:srgbClr val="111111"/>
                </a:solidFill>
                <a:uFillTx/>
                <a:latin typeface="Plus Jakarta Sans"/>
                <a:ea typeface="Plus Jakarta Sans"/>
                <a:cs typeface="Plus Jakarta Sans"/>
              </a:rPr>
              <a:t>non </a:t>
            </a:r>
            <a:r>
              <a:rPr lang="en-US" sz="1100" b="1" i="0" u="none" strike="noStrike" kern="1200" cap="none" spc="0" baseline="0" err="1">
                <a:solidFill>
                  <a:srgbClr val="111111"/>
                </a:solidFill>
                <a:uFillTx/>
                <a:latin typeface="Plus Jakarta Sans"/>
                <a:ea typeface="Plus Jakarta Sans"/>
                <a:cs typeface="Plus Jakarta Sans"/>
              </a:rPr>
              <a:t>riesce</a:t>
            </a:r>
            <a:r>
              <a:rPr lang="en-US" sz="1100" b="1" i="0" u="none" strike="noStrike" kern="1200" cap="none" spc="0" baseline="0">
                <a:solidFill>
                  <a:srgbClr val="111111"/>
                </a:solidFill>
                <a:uFillTx/>
                <a:latin typeface="Plus Jakarta Sans"/>
                <a:ea typeface="Plus Jakarta Sans"/>
                <a:cs typeface="Plus Jakarta Sans"/>
              </a:rPr>
              <a:t> a </a:t>
            </a:r>
            <a:r>
              <a:rPr lang="en-US" sz="1100" b="1" i="0" u="none" strike="noStrike" kern="1200" cap="none" spc="0" baseline="0" err="1">
                <a:solidFill>
                  <a:srgbClr val="111111"/>
                </a:solidFill>
                <a:uFillTx/>
                <a:latin typeface="Plus Jakarta Sans"/>
                <a:ea typeface="Plus Jakarta Sans"/>
                <a:cs typeface="Plus Jakarta Sans"/>
              </a:rPr>
              <a:t>superare</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i</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livelli</a:t>
            </a:r>
            <a:r>
              <a:rPr lang="en-US" sz="1100" b="1" i="0" u="none" strike="noStrike" kern="1200" cap="none" spc="0" baseline="0">
                <a:solidFill>
                  <a:srgbClr val="111111"/>
                </a:solidFill>
                <a:uFillTx/>
                <a:latin typeface="Plus Jakarta Sans"/>
                <a:ea typeface="Plus Jakarta Sans"/>
                <a:cs typeface="Plus Jakarta Sans"/>
              </a:rPr>
              <a:t>. </a:t>
            </a:r>
            <a:endParaRPr lang="en-US" sz="11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Alla fine il </a:t>
            </a:r>
            <a:r>
              <a:rPr lang="en-US" sz="1100" b="0" i="0" u="none" strike="noStrike" kern="1200" cap="none" spc="0" baseline="0" err="1">
                <a:solidFill>
                  <a:srgbClr val="111111"/>
                </a:solidFill>
                <a:uFillTx/>
                <a:latin typeface="Plus Jakarta Sans"/>
                <a:ea typeface="Plus Jakarta Sans"/>
                <a:cs typeface="Plus Jakarta Sans"/>
              </a:rPr>
              <a:t>sistema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calcola</a:t>
            </a:r>
            <a:r>
              <a:rPr lang="en-US" sz="1100" b="0" i="0" u="none" strike="noStrike" kern="1200" cap="none" spc="0" baseline="0">
                <a:solidFill>
                  <a:srgbClr val="111111"/>
                </a:solidFill>
                <a:uFillTx/>
                <a:latin typeface="Plus Jakarta Sans"/>
                <a:ea typeface="Plus Jakarta Sans"/>
                <a:cs typeface="Plus Jakarta Sans"/>
              </a:rPr>
              <a:t> il </a:t>
            </a:r>
            <a:r>
              <a:rPr lang="en-US" sz="1100" b="0" i="0" u="none" strike="noStrike" kern="1200" cap="none" spc="0" baseline="0" err="1">
                <a:solidFill>
                  <a:srgbClr val="111111"/>
                </a:solidFill>
                <a:uFillTx/>
                <a:latin typeface="Plus Jakarta Sans"/>
                <a:ea typeface="Plus Jakarta Sans"/>
                <a:cs typeface="Plus Jakarta Sans"/>
              </a:rPr>
              <a:t>risultato</a:t>
            </a:r>
            <a:r>
              <a:rPr lang="en-US" sz="1100" b="0" i="0" u="none" strike="noStrike" kern="1200" cap="none" spc="0" baseline="0">
                <a:solidFill>
                  <a:srgbClr val="111111"/>
                </a:solidFill>
                <a:uFillTx/>
                <a:latin typeface="Plus Jakarta Sans"/>
                <a:ea typeface="Plus Jakarta Sans"/>
                <a:cs typeface="Plus Jakarta Sans"/>
              </a:rPr>
              <a:t> finale e lo </a:t>
            </a:r>
            <a:r>
              <a:rPr lang="en-US" sz="1100" b="0" i="0" u="none" strike="noStrike" kern="1200" cap="none" spc="0" baseline="0" err="1">
                <a:solidFill>
                  <a:srgbClr val="111111"/>
                </a:solidFill>
                <a:uFillTx/>
                <a:latin typeface="Plus Jakarta Sans"/>
                <a:ea typeface="Plus Jakarta Sans"/>
                <a:cs typeface="Plus Jakarta Sans"/>
              </a:rPr>
              <a:t>confronta</a:t>
            </a:r>
            <a:r>
              <a:rPr lang="en-US" sz="1100" b="0" i="0" u="none" strike="noStrike" kern="1200" cap="none" spc="0" baseline="0">
                <a:solidFill>
                  <a:srgbClr val="111111"/>
                </a:solidFill>
                <a:uFillTx/>
                <a:latin typeface="Plus Jakarta Sans"/>
                <a:ea typeface="Plus Jakarta Sans"/>
                <a:cs typeface="Plus Jakarta Sans"/>
              </a:rPr>
              <a:t> con </a:t>
            </a:r>
            <a:r>
              <a:rPr lang="en-US" sz="1100" b="0" i="0" u="none" strike="noStrike" kern="1200" cap="none" spc="0" baseline="0" err="1">
                <a:solidFill>
                  <a:srgbClr val="111111"/>
                </a:solidFill>
                <a:uFillTx/>
                <a:latin typeface="Plus Jakarta Sans"/>
                <a:ea typeface="Plus Jakarta Sans"/>
                <a:cs typeface="Plus Jakarta Sans"/>
              </a:rPr>
              <a:t>ciò</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che</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aveva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dichiarato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inizialmente</a:t>
            </a:r>
            <a:r>
              <a:rPr lang="en-US" sz="1100" b="0" i="0" u="none" strike="noStrike" kern="1200" cap="none" spc="0" baseline="0">
                <a:solidFill>
                  <a:srgbClr val="111111"/>
                </a:solidFill>
                <a:uFillTx/>
                <a:latin typeface="Plus Jakarta Sans"/>
                <a:ea typeface="Plus Jakarta Sans"/>
                <a:cs typeface="Plus Jakarta Sans"/>
              </a:rPr>
              <a:t>  e </a:t>
            </a:r>
            <a:r>
              <a:rPr lang="en-US" sz="1100" b="0" i="0" u="none" strike="noStrike" kern="1200" cap="none" spc="0" baseline="0" err="1">
                <a:solidFill>
                  <a:srgbClr val="111111"/>
                </a:solidFill>
                <a:uFillTx/>
                <a:latin typeface="Plus Jakarta Sans"/>
                <a:ea typeface="Plus Jakarta Sans"/>
                <a:cs typeface="Plus Jakarta Sans"/>
              </a:rPr>
              <a:t>gli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mostra</a:t>
            </a:r>
            <a:r>
              <a:rPr lang="en-US" sz="1100" b="0" i="0" u="none" strike="noStrike" kern="1200" cap="none" spc="0" baseline="0">
                <a:solidFill>
                  <a:srgbClr val="111111"/>
                </a:solidFill>
                <a:uFillTx/>
                <a:latin typeface="Plus Jakarta Sans"/>
                <a:ea typeface="Plus Jakarta Sans"/>
                <a:cs typeface="Plus Jakarta Sans"/>
              </a:rPr>
              <a:t> come </a:t>
            </a:r>
            <a:r>
              <a:rPr lang="en-US" sz="1100" b="0" i="0" u="none" strike="noStrike" kern="1200" cap="none" spc="0" baseline="0" err="1">
                <a:solidFill>
                  <a:srgbClr val="111111"/>
                </a:solidFill>
                <a:uFillTx/>
                <a:latin typeface="Plus Jakarta Sans"/>
                <a:ea typeface="Plus Jakarta Sans"/>
                <a:cs typeface="Plus Jakarta Sans"/>
              </a:rPr>
              <a:t>erano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stati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creati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falsi</a:t>
            </a:r>
            <a:r>
              <a:rPr lang="en-US" sz="1100" b="0" i="0" u="none" strike="noStrike" kern="1200" cap="none" spc="0" baseline="0">
                <a:solidFill>
                  <a:srgbClr val="111111"/>
                </a:solidFill>
                <a:uFillTx/>
                <a:latin typeface="Plus Jakarta Sans"/>
                <a:ea typeface="Plus Jakarta Sans"/>
                <a:cs typeface="Plus Jakarta Sans"/>
              </a:rPr>
              <a:t>: un </a:t>
            </a:r>
            <a:r>
              <a:rPr lang="en-US" sz="1100" b="0" i="0" u="none" strike="noStrike" kern="1200" cap="none" spc="0" baseline="0" err="1">
                <a:solidFill>
                  <a:srgbClr val="111111"/>
                </a:solidFill>
                <a:uFillTx/>
                <a:latin typeface="Plus Jakarta Sans"/>
                <a:ea typeface="Plus Jakarta Sans"/>
                <a:cs typeface="Plus Jakarta Sans"/>
              </a:rPr>
              <a:t>filtro</a:t>
            </a:r>
            <a:r>
              <a:rPr lang="en-US" sz="1100" b="0" i="0" u="none" strike="noStrike" kern="1200" cap="none" spc="0" baseline="0">
                <a:solidFill>
                  <a:srgbClr val="111111"/>
                </a:solidFill>
                <a:uFillTx/>
                <a:latin typeface="Plus Jakarta Sans"/>
                <a:ea typeface="Plus Jakarta Sans"/>
                <a:cs typeface="Plus Jakarta Sans"/>
              </a:rPr>
              <a:t>, un </a:t>
            </a:r>
            <a:r>
              <a:rPr lang="en-US" sz="1100" b="0" i="0" u="none" strike="noStrike" kern="1200" cap="none" spc="0" baseline="0" err="1">
                <a:solidFill>
                  <a:srgbClr val="111111"/>
                </a:solidFill>
                <a:uFillTx/>
                <a:latin typeface="Plus Jakarta Sans"/>
                <a:ea typeface="Plus Jakarta Sans"/>
                <a:cs typeface="Plus Jakarta Sans"/>
              </a:rPr>
              <a:t>ritocco</a:t>
            </a:r>
            <a:r>
              <a:rPr lang="en-US" sz="1100" b="0" i="0" u="none" strike="noStrike" kern="1200" cap="none" spc="0" baseline="0">
                <a:solidFill>
                  <a:srgbClr val="111111"/>
                </a:solidFill>
                <a:uFillTx/>
                <a:latin typeface="Plus Jakarta Sans"/>
                <a:ea typeface="Plus Jakarta Sans"/>
                <a:cs typeface="Plus Jakarta Sans"/>
              </a:rPr>
              <a:t>, un video in cui </a:t>
            </a:r>
            <a:r>
              <a:rPr lang="en-US" sz="1100" b="0" i="0" u="none" strike="noStrike" kern="1200" cap="none" spc="0" baseline="0" err="1">
                <a:solidFill>
                  <a:srgbClr val="111111"/>
                </a:solidFill>
                <a:uFillTx/>
                <a:latin typeface="Plus Jakarta Sans"/>
                <a:ea typeface="Plus Jakarta Sans"/>
                <a:cs typeface="Plus Jakarta Sans"/>
              </a:rPr>
              <a:t>l’IA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aveva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cambiato</a:t>
            </a:r>
            <a:r>
              <a:rPr lang="en-US" sz="1100" b="0" i="0" u="none" strike="noStrike" kern="1200" cap="none" spc="0" baseline="0">
                <a:solidFill>
                  <a:srgbClr val="111111"/>
                </a:solidFill>
                <a:uFillTx/>
                <a:latin typeface="Plus Jakarta Sans"/>
                <a:ea typeface="Plus Jakarta Sans"/>
                <a:cs typeface="Plus Jakarta Sans"/>
              </a:rPr>
              <a:t> solo voce e </a:t>
            </a:r>
            <a:r>
              <a:rPr lang="en-US" sz="1100" b="0" i="0" u="none" strike="noStrike" kern="1200" cap="none" spc="0" baseline="0" err="1">
                <a:solidFill>
                  <a:srgbClr val="111111"/>
                </a:solidFill>
                <a:uFillTx/>
                <a:latin typeface="Plus Jakarta Sans"/>
                <a:ea typeface="Plus Jakarta Sans"/>
                <a:cs typeface="Plus Jakarta Sans"/>
              </a:rPr>
              <a:t>labbra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partendo</a:t>
            </a:r>
            <a:r>
              <a:rPr lang="en-US" sz="1100" b="0" i="0" u="none" strike="noStrike" kern="1200" cap="none" spc="0" baseline="0">
                <a:solidFill>
                  <a:srgbClr val="111111"/>
                </a:solidFill>
                <a:uFillTx/>
                <a:latin typeface="Plus Jakarta Sans"/>
                <a:ea typeface="Plus Jakarta Sans"/>
                <a:cs typeface="Plus Jakarta Sans"/>
              </a:rPr>
              <a:t> da uno </a:t>
            </a:r>
            <a:r>
              <a:rPr lang="en-US" sz="1100" b="0" i="0" u="none" strike="noStrike" kern="1200" cap="none" spc="0" baseline="0" err="1">
                <a:solidFill>
                  <a:srgbClr val="111111"/>
                </a:solidFill>
                <a:uFillTx/>
                <a:latin typeface="Plus Jakarta Sans"/>
                <a:ea typeface="Plus Jakarta Sans"/>
                <a:cs typeface="Plus Jakarta Sans"/>
              </a:rPr>
              <a:t>vero</a:t>
            </a:r>
            <a:r>
              <a:rPr lang="en-US" sz="1100" b="0" i="0" u="none" strike="noStrike" kern="1200" cap="none" spc="0" baseline="0">
                <a:solidFill>
                  <a:srgbClr val="111111"/>
                </a:solidFill>
                <a:uFillTx/>
                <a:latin typeface="Plus Jakarta Sans"/>
                <a:ea typeface="Plus Jakarta Sans"/>
                <a:cs typeface="Plus Jakarta Sans"/>
              </a:rPr>
              <a:t>. Il </a:t>
            </a:r>
            <a:r>
              <a:rPr lang="en-US" sz="1100" b="0" i="0" u="none" strike="noStrike" kern="1200" cap="none" spc="0" baseline="0" err="1">
                <a:solidFill>
                  <a:srgbClr val="111111"/>
                </a:solidFill>
                <a:uFillTx/>
                <a:latin typeface="Plus Jakarta Sans"/>
                <a:ea typeface="Plus Jakarta Sans"/>
                <a:cs typeface="Plus Jakarta Sans"/>
              </a:rPr>
              <a:t>risultato</a:t>
            </a:r>
            <a:r>
              <a:rPr lang="en-US" sz="1100" b="0" i="0" u="none" strike="noStrike" kern="1200" cap="none" spc="0" baseline="0">
                <a:solidFill>
                  <a:srgbClr val="111111"/>
                </a:solidFill>
                <a:uFillTx/>
                <a:latin typeface="Plus Jakarta Sans"/>
                <a:ea typeface="Plus Jakarta Sans"/>
                <a:cs typeface="Plus Jakarta Sans"/>
              </a:rPr>
              <a:t> lo </a:t>
            </a:r>
            <a:r>
              <a:rPr lang="en-US" sz="1100" b="1" i="0" u="none" strike="noStrike" kern="1200" cap="none" spc="0" baseline="0" err="1">
                <a:solidFill>
                  <a:srgbClr val="111111"/>
                </a:solidFill>
                <a:uFillTx/>
                <a:latin typeface="Plus Jakarta Sans"/>
                <a:ea typeface="Plus Jakarta Sans"/>
                <a:cs typeface="Plus Jakarta Sans"/>
              </a:rPr>
              <a:t>sorprende</a:t>
            </a:r>
            <a:r>
              <a:rPr lang="en-US" sz="1100" b="0" i="0" u="none" strike="noStrike" kern="1200" cap="none" spc="0" baseline="0">
                <a:solidFill>
                  <a:srgbClr val="111111"/>
                </a:solidFill>
                <a:uFillTx/>
                <a:latin typeface="Plus Jakarta Sans"/>
                <a:ea typeface="Plus Jakarta Sans"/>
                <a:cs typeface="Plus Jakarta San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Tommaso capisce </a:t>
            </a:r>
            <a:r>
              <a:rPr lang="en-US" sz="1100" b="0" i="0" u="none" strike="noStrike" kern="1200" cap="none" spc="0" baseline="0" err="1">
                <a:solidFill>
                  <a:srgbClr val="111111"/>
                </a:solidFill>
                <a:uFillTx/>
                <a:latin typeface="Plus Jakarta Sans"/>
                <a:ea typeface="Plus Jakarta Sans"/>
                <a:cs typeface="Plus Jakarta Sans"/>
              </a:rPr>
              <a:t>che</a:t>
            </a:r>
            <a:r>
              <a:rPr lang="en-US" sz="1100" b="0" i="0" u="none" strike="noStrike" kern="1200" cap="none" spc="0" baseline="0">
                <a:solidFill>
                  <a:srgbClr val="111111"/>
                </a:solidFill>
                <a:uFillTx/>
                <a:latin typeface="Plus Jakarta Sans"/>
                <a:ea typeface="Plus Jakarta Sans"/>
                <a:cs typeface="Plus Jakarta Sans"/>
              </a:rPr>
              <a:t> le sue </a:t>
            </a:r>
            <a:r>
              <a:rPr lang="en-US" sz="1100" b="0" i="0" u="none" strike="noStrike" kern="1200" cap="none" spc="0" baseline="0" err="1">
                <a:solidFill>
                  <a:srgbClr val="111111"/>
                </a:solidFill>
                <a:uFillTx/>
                <a:latin typeface="Plus Jakarta Sans"/>
                <a:ea typeface="Plus Jakarta Sans"/>
                <a:cs typeface="Plus Jakarta Sans"/>
              </a:rPr>
              <a:t>convinzioni</a:t>
            </a:r>
            <a:r>
              <a:rPr lang="en-US" sz="1100" b="0" i="0" u="none" strike="noStrike" kern="1200" cap="none" spc="0" baseline="0">
                <a:solidFill>
                  <a:srgbClr val="111111"/>
                </a:solidFill>
                <a:uFillTx/>
                <a:latin typeface="Plus Jakarta Sans"/>
                <a:ea typeface="Plus Jakarta Sans"/>
                <a:cs typeface="Plus Jakarta Sans"/>
              </a:rPr>
              <a:t> non </a:t>
            </a:r>
            <a:r>
              <a:rPr lang="en-US" sz="1100" b="0" i="0" u="none" strike="noStrike" kern="1200" cap="none" spc="0" baseline="0" err="1">
                <a:solidFill>
                  <a:srgbClr val="111111"/>
                </a:solidFill>
                <a:uFillTx/>
                <a:latin typeface="Plus Jakarta Sans"/>
                <a:ea typeface="Plus Jakarta Sans"/>
                <a:cs typeface="Plus Jakarta Sans"/>
              </a:rPr>
              <a:t>si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basavano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su</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una</a:t>
            </a:r>
            <a:r>
              <a:rPr lang="en-US" sz="1100" b="0"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reale</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competenza</a:t>
            </a:r>
            <a:r>
              <a:rPr lang="en-US" sz="1100" b="0" i="0" u="none" strike="noStrike" kern="1200" cap="none" spc="0" baseline="0">
                <a:solidFill>
                  <a:srgbClr val="111111"/>
                </a:solidFill>
                <a:uFillTx/>
                <a:latin typeface="Plus Jakarta Sans"/>
                <a:ea typeface="Plus Jakarta Sans"/>
                <a:cs typeface="Plus Jakarta Sans"/>
              </a:rPr>
              <a:t>, ma solo </a:t>
            </a:r>
            <a:r>
              <a:rPr lang="en-US" sz="1100" b="0" i="0" u="none" strike="noStrike" kern="1200" cap="none" spc="0" baseline="0" err="1">
                <a:solidFill>
                  <a:srgbClr val="111111"/>
                </a:solidFill>
                <a:uFillTx/>
                <a:latin typeface="Plus Jakarta Sans"/>
                <a:ea typeface="Plus Jakarta Sans"/>
                <a:cs typeface="Plus Jakarta Sans"/>
              </a:rPr>
              <a:t>su</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una</a:t>
            </a:r>
            <a:r>
              <a:rPr lang="en-US" sz="1100" b="0"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sicurezza</a:t>
            </a:r>
            <a:r>
              <a:rPr lang="en-US" sz="1100" b="1" i="0" u="none" strike="noStrike" kern="1200" cap="none" spc="0" baseline="0">
                <a:solidFill>
                  <a:srgbClr val="111111"/>
                </a:solidFill>
                <a:uFillTx/>
                <a:latin typeface="Plus Jakarta Sans"/>
                <a:ea typeface="Plus Jakarta Sans"/>
                <a:cs typeface="Plus Jakarta Sans"/>
              </a:rPr>
              <a:t> </a:t>
            </a:r>
            <a:r>
              <a:rPr lang="en-US" sz="1100" b="1" i="0" u="none" strike="noStrike" kern="1200" cap="none" spc="0" baseline="0" err="1">
                <a:solidFill>
                  <a:srgbClr val="111111"/>
                </a:solidFill>
                <a:uFillTx/>
                <a:latin typeface="Plus Jakarta Sans"/>
                <a:ea typeface="Plus Jakarta Sans"/>
                <a:cs typeface="Plus Jakarta Sans"/>
              </a:rPr>
              <a:t>percepita</a:t>
            </a:r>
            <a:r>
              <a:rPr lang="en-US" sz="1100" b="0" i="0" u="none" strike="noStrike" kern="1200" cap="none" spc="0" baseline="0">
                <a:solidFill>
                  <a:srgbClr val="111111"/>
                </a:solidFill>
                <a:uFillTx/>
                <a:latin typeface="Plus Jakarta Sans"/>
                <a:ea typeface="Plus Jakarta Sans"/>
                <a:cs typeface="Plus Jakarta Sans"/>
              </a:rPr>
              <a:t>. Da </a:t>
            </a:r>
            <a:r>
              <a:rPr lang="en-US" sz="1100" b="0" i="0" u="none" strike="noStrike" kern="1200" cap="none" spc="0" baseline="0" err="1">
                <a:solidFill>
                  <a:srgbClr val="111111"/>
                </a:solidFill>
                <a:uFillTx/>
                <a:latin typeface="Plus Jakarta Sans"/>
                <a:ea typeface="Plus Jakarta Sans"/>
                <a:cs typeface="Plus Jakarta Sans"/>
              </a:rPr>
              <a:t>allora</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davanti</a:t>
            </a:r>
            <a:r>
              <a:rPr lang="en-US" sz="1100" b="0" i="0" u="none" strike="noStrike" kern="1200" cap="none" spc="0" baseline="0">
                <a:solidFill>
                  <a:srgbClr val="111111"/>
                </a:solidFill>
                <a:uFillTx/>
                <a:latin typeface="Plus Jakarta Sans"/>
                <a:ea typeface="Plus Jakarta Sans"/>
                <a:cs typeface="Plus Jakarta Sans"/>
              </a:rPr>
              <a:t> a un </a:t>
            </a:r>
            <a:r>
              <a:rPr lang="en-US" sz="1100" b="0" i="0" u="none" strike="noStrike" kern="1200" cap="none" spc="0" baseline="0" err="1">
                <a:solidFill>
                  <a:srgbClr val="111111"/>
                </a:solidFill>
                <a:uFillTx/>
                <a:latin typeface="Plus Jakarta Sans"/>
                <a:ea typeface="Plus Jakarta Sans"/>
                <a:cs typeface="Plus Jakarta Sans"/>
              </a:rPr>
              <a:t>contenuto</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si</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ferma</a:t>
            </a:r>
            <a:r>
              <a:rPr lang="en-US" sz="1100" b="0" i="0" u="none" strike="noStrike" kern="1200" cap="none" spc="0" baseline="0">
                <a:solidFill>
                  <a:srgbClr val="111111"/>
                </a:solidFill>
                <a:uFillTx/>
                <a:latin typeface="Plus Jakarta Sans"/>
                <a:ea typeface="Plus Jakarta Sans"/>
                <a:cs typeface="Plus Jakarta Sans"/>
              </a:rPr>
              <a:t> a </a:t>
            </a:r>
            <a:r>
              <a:rPr lang="en-US" sz="1100" b="0" i="0" u="none" strike="noStrike" kern="1200" cap="none" spc="0" baseline="0" err="1">
                <a:solidFill>
                  <a:srgbClr val="111111"/>
                </a:solidFill>
                <a:uFillTx/>
                <a:latin typeface="Plus Jakarta Sans"/>
                <a:ea typeface="Plus Jakarta Sans"/>
                <a:cs typeface="Plus Jakarta Sans"/>
              </a:rPr>
              <a:t>osservarlo</a:t>
            </a:r>
            <a:r>
              <a:rPr lang="en-US" sz="1100" b="0" i="0" u="none" strike="noStrike" kern="1200" cap="none" spc="0" baseline="0">
                <a:solidFill>
                  <a:srgbClr val="111111"/>
                </a:solidFill>
                <a:uFillTx/>
                <a:latin typeface="Plus Jakarta Sans"/>
                <a:ea typeface="Plus Jakarta Sans"/>
                <a:cs typeface="Plus Jakarta Sans"/>
              </a:rPr>
              <a:t> con </a:t>
            </a:r>
            <a:r>
              <a:rPr lang="en-US" sz="1100" b="0" i="0" u="none" strike="noStrike" kern="1200" cap="none" spc="0" baseline="0" err="1">
                <a:solidFill>
                  <a:srgbClr val="111111"/>
                </a:solidFill>
                <a:uFillTx/>
                <a:latin typeface="Plus Jakarta Sans"/>
                <a:ea typeface="Plus Jakarta Sans"/>
                <a:cs typeface="Plus Jakarta Sans"/>
              </a:rPr>
              <a:t>più</a:t>
            </a:r>
            <a:r>
              <a:rPr lang="en-US" sz="1100" b="0" i="0" u="none" strike="noStrike" kern="1200" cap="none" spc="0" baseline="0">
                <a:solidFill>
                  <a:srgbClr val="111111"/>
                </a:solidFill>
                <a:uFillTx/>
                <a:latin typeface="Plus Jakarta Sans"/>
                <a:ea typeface="Plus Jakarta Sans"/>
                <a:cs typeface="Plus Jakarta Sans"/>
              </a:rPr>
              <a:t> </a:t>
            </a:r>
            <a:r>
              <a:rPr lang="en-US" sz="1100" b="0" i="0" u="none" strike="noStrike" kern="1200" cap="none" spc="0" baseline="0" err="1">
                <a:solidFill>
                  <a:srgbClr val="111111"/>
                </a:solidFill>
                <a:uFillTx/>
                <a:latin typeface="Plus Jakarta Sans"/>
                <a:ea typeface="Plus Jakarta Sans"/>
                <a:cs typeface="Plus Jakarta Sans"/>
              </a:rPr>
              <a:t>attenzione</a:t>
            </a:r>
            <a:r>
              <a:rPr lang="en-US" sz="1100" b="0" i="0" u="none" strike="noStrike" kern="1200" cap="none" spc="0" baseline="0">
                <a:solidFill>
                  <a:srgbClr val="111111"/>
                </a:solidFill>
                <a:uFillTx/>
                <a:latin typeface="Plus Jakarta Sans"/>
                <a:ea typeface="Plus Jakarta Sans"/>
                <a:cs typeface="Plus Jakarta Sans"/>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1" i="0" u="none" strike="noStrike" kern="1200" cap="none" spc="0" baseline="0">
              <a:solidFill>
                <a:srgbClr val="111111"/>
              </a:solidFill>
              <a:uFillTx/>
              <a:latin typeface="Plus Jakarta Sans"/>
              <a:ea typeface="Plus Jakarta Sans"/>
              <a:cs typeface="Plus Jakarta Sans"/>
            </a:endParaRPr>
          </a:p>
        </p:txBody>
      </p:sp>
    </p:spTree>
    <p:extLst>
      <p:ext uri="{BB962C8B-B14F-4D97-AF65-F5344CB8AC3E}">
        <p14:creationId xmlns:p14="http://schemas.microsoft.com/office/powerpoint/2010/main" val="2328505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tratto ombra">
            <a:extLst>
              <a:ext uri="{FF2B5EF4-FFF2-40B4-BE49-F238E27FC236}">
                <a16:creationId xmlns:a16="http://schemas.microsoft.com/office/drawing/2014/main" id="{A298C269-0E47-77BD-E56A-E1F95B1AEB23}"/>
              </a:ext>
            </a:extLst>
          </p:cNvPr>
          <p:cNvSpPr/>
          <p:nvPr/>
        </p:nvSpPr>
        <p:spPr>
          <a:xfrm rot="21420016">
            <a:off x="585216" y="539496"/>
            <a:ext cx="1783080" cy="1783080"/>
          </a:xfrm>
          <a:prstGeom prst="rect">
            <a:avLst/>
          </a:prstGeom>
          <a:solidFill>
            <a:srgbClr val="E71224"/>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a:extLst>
              <a:ext uri="{FF2B5EF4-FFF2-40B4-BE49-F238E27FC236}">
                <a16:creationId xmlns:a16="http://schemas.microsoft.com/office/drawing/2014/main" id="{042827EF-A394-35B2-35F1-4BBB1808FFA7}"/>
              </a:ext>
            </a:extLst>
          </p:cNvPr>
          <p:cNvSpPr/>
          <p:nvPr/>
        </p:nvSpPr>
        <p:spPr>
          <a:xfrm rot="21420016">
            <a:off x="502920" y="457199"/>
            <a:ext cx="1783080" cy="17830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ritratto Chiara">
            <a:extLst>
              <a:ext uri="{FF2B5EF4-FFF2-40B4-BE49-F238E27FC236}">
                <a16:creationId xmlns:a16="http://schemas.microsoft.com/office/drawing/2014/main" id="{9115B7AA-67BB-E856-B01C-9473DCFDE7E0}"/>
              </a:ext>
            </a:extLst>
          </p:cNvPr>
          <p:cNvPicPr>
            <a:picLocks noChangeAspect="1"/>
          </p:cNvPicPr>
          <p:nvPr/>
        </p:nvPicPr>
        <p:blipFill>
          <a:blip r:embed="rId3"/>
          <a:stretch>
            <a:fillRect/>
          </a:stretch>
        </p:blipFill>
        <p:spPr>
          <a:xfrm rot="21420016">
            <a:off x="585216" y="539495"/>
            <a:ext cx="1618488" cy="1618488"/>
          </a:xfrm>
          <a:prstGeom prst="rect">
            <a:avLst/>
          </a:prstGeom>
          <a:noFill/>
          <a:ln>
            <a:noFill/>
          </a:ln>
        </p:spPr>
      </p:pic>
      <p:sp>
        <p:nvSpPr>
          <p:cNvPr id="5" name="tape">
            <a:extLst>
              <a:ext uri="{FF2B5EF4-FFF2-40B4-BE49-F238E27FC236}">
                <a16:creationId xmlns:a16="http://schemas.microsoft.com/office/drawing/2014/main" id="{72333817-B995-1D09-7183-4E321D2AFA45}"/>
              </a:ext>
            </a:extLst>
          </p:cNvPr>
          <p:cNvSpPr/>
          <p:nvPr/>
        </p:nvSpPr>
        <p:spPr>
          <a:xfrm rot="21120004">
            <a:off x="1005840" y="365760"/>
            <a:ext cx="777240" cy="155448"/>
          </a:xfrm>
          <a:prstGeom prst="rect">
            <a:avLst/>
          </a:prstGeom>
          <a:solidFill>
            <a:srgbClr val="111111">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Text 3">
            <a:extLst>
              <a:ext uri="{FF2B5EF4-FFF2-40B4-BE49-F238E27FC236}">
                <a16:creationId xmlns:a16="http://schemas.microsoft.com/office/drawing/2014/main" id="{48255E20-E8A1-6822-76CC-AB740184A887}"/>
              </a:ext>
            </a:extLst>
          </p:cNvPr>
          <p:cNvSpPr/>
          <p:nvPr/>
        </p:nvSpPr>
        <p:spPr>
          <a:xfrm>
            <a:off x="2514600" y="292608"/>
            <a:ext cx="201168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00" b="1" i="0" u="none" strike="noStrike" kern="1200" cap="none" spc="0" baseline="0">
                <a:solidFill>
                  <a:srgbClr val="E71224"/>
                </a:solidFill>
                <a:uFillTx/>
                <a:latin typeface="Space Mono"/>
                <a:ea typeface="Space Mono"/>
                <a:cs typeface="Space Mono"/>
              </a:rPr>
              <a:t>persona 03</a:t>
            </a:r>
            <a:endParaRPr lang="it-IT" sz="800" b="0" i="0" u="none" strike="noStrike" kern="1200" cap="none" spc="0" baseline="0">
              <a:solidFill>
                <a:srgbClr val="111111"/>
              </a:solidFill>
              <a:uFillTx/>
              <a:latin typeface="Space Mono"/>
              <a:ea typeface="Space Mono"/>
              <a:cs typeface="Space Mono"/>
            </a:endParaRPr>
          </a:p>
        </p:txBody>
      </p:sp>
      <p:sp>
        <p:nvSpPr>
          <p:cNvPr id="7" name="Text 1">
            <a:extLst>
              <a:ext uri="{FF2B5EF4-FFF2-40B4-BE49-F238E27FC236}">
                <a16:creationId xmlns:a16="http://schemas.microsoft.com/office/drawing/2014/main" id="{1827E686-F607-F87D-4874-0BB08B68212F}"/>
              </a:ext>
            </a:extLst>
          </p:cNvPr>
          <p:cNvSpPr txBox="1">
            <a:spLocks noGrp="1"/>
          </p:cNvSpPr>
          <p:nvPr>
            <p:ph type="title"/>
          </p:nvPr>
        </p:nvSpPr>
        <p:spPr/>
        <p:txBody>
          <a:bodyPr lIns="0" tIns="0" rIns="0" bIns="0" anchor="ctr"/>
          <a:lstStyle/>
          <a:p>
            <a:pPr lvl="0"/>
            <a:r>
              <a:rPr lang="it-IT">
                <a:latin typeface="Space Mono"/>
                <a:ea typeface="Space Mono"/>
                <a:cs typeface="Space Mono"/>
              </a:rPr>
              <a:t>Chiara</a:t>
            </a:r>
          </a:p>
        </p:txBody>
      </p:sp>
      <p:pic>
        <p:nvPicPr>
          <p:cNvPr id="8" name="scribble">
            <a:extLst>
              <a:ext uri="{FF2B5EF4-FFF2-40B4-BE49-F238E27FC236}">
                <a16:creationId xmlns:a16="http://schemas.microsoft.com/office/drawing/2014/main" id="{5216FDB9-4A47-DD41-B171-5B3DB5629EE9}"/>
              </a:ext>
            </a:extLst>
          </p:cNvPr>
          <p:cNvPicPr>
            <a:picLocks noChangeAspect="1"/>
          </p:cNvPicPr>
          <p:nvPr/>
        </p:nvPicPr>
        <p:blipFill>
          <a:blip r:embed="rId4"/>
          <a:stretch>
            <a:fillRect/>
          </a:stretch>
        </p:blipFill>
        <p:spPr>
          <a:xfrm>
            <a:off x="2377440" y="384048"/>
            <a:ext cx="1691640" cy="713232"/>
          </a:xfrm>
          <a:prstGeom prst="rect">
            <a:avLst/>
          </a:prstGeom>
          <a:noFill/>
          <a:ln>
            <a:noFill/>
          </a:ln>
        </p:spPr>
      </p:pic>
      <p:sp>
        <p:nvSpPr>
          <p:cNvPr id="9" name="highlight">
            <a:extLst>
              <a:ext uri="{FF2B5EF4-FFF2-40B4-BE49-F238E27FC236}">
                <a16:creationId xmlns:a16="http://schemas.microsoft.com/office/drawing/2014/main" id="{2276F32B-054F-F2C0-3EC4-8321183F2674}"/>
              </a:ext>
            </a:extLst>
          </p:cNvPr>
          <p:cNvSpPr/>
          <p:nvPr/>
        </p:nvSpPr>
        <p:spPr>
          <a:xfrm>
            <a:off x="2514600" y="1069848"/>
            <a:ext cx="834390" cy="219456"/>
          </a:xfrm>
          <a:prstGeom prst="rect">
            <a:avLst/>
          </a:prstGeom>
          <a:solidFill>
            <a:srgbClr val="1700E8"/>
          </a:solidFill>
          <a:ln>
            <a:noFill/>
            <a:prstDash val="solid"/>
          </a:ln>
        </p:spPr>
        <p:txBody>
          <a:bodyPr vert="horz" wrap="square" lIns="0" tIns="63495" rIns="63495"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1" u="none" strike="noStrike" kern="1200" cap="none" spc="0" baseline="0">
                <a:solidFill>
                  <a:srgbClr val="FFFFFF"/>
                </a:solidFill>
                <a:uFillTx/>
                <a:latin typeface="Plus Jakarta Sans"/>
                <a:ea typeface="Plus Jakarta Sans"/>
                <a:cs typeface="Plus Jakarta Sans"/>
              </a:rPr>
              <a:t>riflessiva</a:t>
            </a:r>
            <a:endParaRPr lang="it-IT" sz="1000" b="0" i="0" u="none" strike="noStrike" kern="1200" cap="none" spc="0" baseline="0">
              <a:solidFill>
                <a:srgbClr val="111111"/>
              </a:solidFill>
              <a:uFillTx/>
              <a:latin typeface="Plus Jakarta Sans"/>
              <a:ea typeface="Plus Jakarta Sans"/>
              <a:cs typeface="Plus Jakarta Sans"/>
            </a:endParaRPr>
          </a:p>
        </p:txBody>
      </p:sp>
      <p:sp>
        <p:nvSpPr>
          <p:cNvPr id="10" name="facts">
            <a:extLst>
              <a:ext uri="{FF2B5EF4-FFF2-40B4-BE49-F238E27FC236}">
                <a16:creationId xmlns:a16="http://schemas.microsoft.com/office/drawing/2014/main" id="{B69B46FE-D705-9EC7-B9E4-169DA88C82C0}"/>
              </a:ext>
            </a:extLst>
          </p:cNvPr>
          <p:cNvSpPr/>
          <p:nvPr/>
        </p:nvSpPr>
        <p:spPr>
          <a:xfrm>
            <a:off x="2514600" y="1417320"/>
            <a:ext cx="2011680" cy="77724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17 anni</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4° anno di liceo classico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Instagram, WhatsApp: legge molto, scrive poco</a:t>
            </a:r>
          </a:p>
        </p:txBody>
      </p:sp>
      <p:sp>
        <p:nvSpPr>
          <p:cNvPr id="11" name="Text 7">
            <a:extLst>
              <a:ext uri="{FF2B5EF4-FFF2-40B4-BE49-F238E27FC236}">
                <a16:creationId xmlns:a16="http://schemas.microsoft.com/office/drawing/2014/main" id="{8EA64203-8A3C-910F-0BFB-5C25DCD8ACE8}"/>
              </a:ext>
            </a:extLst>
          </p:cNvPr>
          <p:cNvSpPr/>
          <p:nvPr/>
        </p:nvSpPr>
        <p:spPr>
          <a:xfrm>
            <a:off x="502920" y="2395728"/>
            <a:ext cx="91440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bio</a:t>
            </a:r>
            <a:endParaRPr lang="it-IT" sz="1000" b="0" i="0" u="none" strike="noStrike" kern="1200" cap="none" spc="0" baseline="0">
              <a:solidFill>
                <a:srgbClr val="111111"/>
              </a:solidFill>
              <a:uFillTx/>
              <a:latin typeface="Space Mono"/>
              <a:ea typeface="Space Mono"/>
              <a:cs typeface="Space Mono"/>
            </a:endParaRPr>
          </a:p>
        </p:txBody>
      </p:sp>
      <p:sp>
        <p:nvSpPr>
          <p:cNvPr id="12" name="bio">
            <a:extLst>
              <a:ext uri="{FF2B5EF4-FFF2-40B4-BE49-F238E27FC236}">
                <a16:creationId xmlns:a16="http://schemas.microsoft.com/office/drawing/2014/main" id="{786B6EC7-B1C3-33AC-2EA0-FC3E126FC4DC}"/>
              </a:ext>
            </a:extLst>
          </p:cNvPr>
          <p:cNvSpPr/>
          <p:nvPr/>
        </p:nvSpPr>
        <p:spPr>
          <a:xfrm>
            <a:off x="537008" y="2569098"/>
            <a:ext cx="3997765" cy="857423"/>
          </a:xfrm>
          <a:prstGeom prst="rect">
            <a:avLst/>
          </a:prstGeom>
          <a:noFill/>
          <a:ln>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rgbClr val="0E0E0E"/>
                </a:solidFill>
                <a:uFillTx/>
                <a:latin typeface="Plus Jakarta Sans"/>
                <a:ea typeface="Plus Jakarta Sans"/>
                <a:cs typeface="Plus Jakarta Sans"/>
              </a:rPr>
              <a:t>Chiara è l’amica a cui le altre raccontano i problemi, mentre della propria vita parla poco. Le piace aiutare le sue amiche e vorrebbe farlo nel miglior modo possibile infatti prima di consigliare qualcosa vuole capire bene la situazione. Quando un problema diventa serio, ha paura di sbagliare a dare consigli ma allo stesso tempo non vuole tradire la confidenza delle amiche. Per questo vorrebbe sapere se ci sono adulti che possano aiutare senza giudicare.</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50" b="0" i="0" u="none" strike="noStrike" kern="1200" cap="none" spc="0" baseline="0">
              <a:solidFill>
                <a:srgbClr val="111111"/>
              </a:solidFill>
              <a:uFillTx/>
              <a:latin typeface="Plus Jakarta Sans"/>
              <a:ea typeface="Plus Jakarta Sans"/>
              <a:cs typeface="Plus Jakarta Sans"/>
            </a:endParaRPr>
          </a:p>
        </p:txBody>
      </p:sp>
      <p:sp>
        <p:nvSpPr>
          <p:cNvPr id="13" name="personalità ombra">
            <a:extLst>
              <a:ext uri="{FF2B5EF4-FFF2-40B4-BE49-F238E27FC236}">
                <a16:creationId xmlns:a16="http://schemas.microsoft.com/office/drawing/2014/main" id="{F2DF7038-5541-1B04-DB23-17D1383088EE}"/>
              </a:ext>
            </a:extLst>
          </p:cNvPr>
          <p:cNvSpPr/>
          <p:nvPr/>
        </p:nvSpPr>
        <p:spPr>
          <a:xfrm>
            <a:off x="576072" y="3547872"/>
            <a:ext cx="3886200" cy="118872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4" name="personalità">
            <a:extLst>
              <a:ext uri="{FF2B5EF4-FFF2-40B4-BE49-F238E27FC236}">
                <a16:creationId xmlns:a16="http://schemas.microsoft.com/office/drawing/2014/main" id="{C2EB5797-8563-6DA5-0BBF-4B4120B6D6D3}"/>
              </a:ext>
            </a:extLst>
          </p:cNvPr>
          <p:cNvSpPr/>
          <p:nvPr/>
        </p:nvSpPr>
        <p:spPr>
          <a:xfrm>
            <a:off x="502920" y="347472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5" name="Text 11">
            <a:extLst>
              <a:ext uri="{FF2B5EF4-FFF2-40B4-BE49-F238E27FC236}">
                <a16:creationId xmlns:a16="http://schemas.microsoft.com/office/drawing/2014/main" id="{91918C03-4EB4-920E-F6E5-A3E4059AF678}"/>
              </a:ext>
            </a:extLst>
          </p:cNvPr>
          <p:cNvSpPr/>
          <p:nvPr/>
        </p:nvSpPr>
        <p:spPr>
          <a:xfrm>
            <a:off x="640080" y="3566160"/>
            <a:ext cx="3200400" cy="182880"/>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1700E8"/>
                </a:solidFill>
                <a:uFillTx/>
                <a:latin typeface="Space Mono"/>
                <a:ea typeface="Space Mono"/>
                <a:cs typeface="Space Mono"/>
              </a:rPr>
              <a:t>personalità e autovalutazione</a:t>
            </a:r>
            <a:endParaRPr lang="it-IT" sz="850" b="0" i="0" u="none" strike="noStrike" kern="1200" cap="none" spc="0" baseline="0">
              <a:solidFill>
                <a:srgbClr val="111111"/>
              </a:solidFill>
              <a:uFillTx/>
              <a:latin typeface="Space Mono"/>
              <a:ea typeface="Space Mono"/>
              <a:cs typeface="Space Mono"/>
            </a:endParaRPr>
          </a:p>
        </p:txBody>
      </p:sp>
      <p:sp>
        <p:nvSpPr>
          <p:cNvPr id="16" name="Text 12">
            <a:extLst>
              <a:ext uri="{FF2B5EF4-FFF2-40B4-BE49-F238E27FC236}">
                <a16:creationId xmlns:a16="http://schemas.microsoft.com/office/drawing/2014/main" id="{EBF82534-B0FD-39C0-1A2A-A082906EBF68}"/>
              </a:ext>
            </a:extLst>
          </p:cNvPr>
          <p:cNvSpPr/>
          <p:nvPr/>
        </p:nvSpPr>
        <p:spPr>
          <a:xfrm>
            <a:off x="640080" y="3822191"/>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Introversa</a:t>
            </a:r>
          </a:p>
        </p:txBody>
      </p:sp>
      <p:sp>
        <p:nvSpPr>
          <p:cNvPr id="17" name="Text 13">
            <a:extLst>
              <a:ext uri="{FF2B5EF4-FFF2-40B4-BE49-F238E27FC236}">
                <a16:creationId xmlns:a16="http://schemas.microsoft.com/office/drawing/2014/main" id="{4E45957F-2E97-57C8-A7B3-E7ED3DE731F0}"/>
              </a:ext>
            </a:extLst>
          </p:cNvPr>
          <p:cNvSpPr/>
          <p:nvPr/>
        </p:nvSpPr>
        <p:spPr>
          <a:xfrm>
            <a:off x="3154679" y="3822191"/>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Estroversa</a:t>
            </a:r>
          </a:p>
        </p:txBody>
      </p:sp>
      <p:sp>
        <p:nvSpPr>
          <p:cNvPr id="18" name="Shape 14">
            <a:extLst>
              <a:ext uri="{FF2B5EF4-FFF2-40B4-BE49-F238E27FC236}">
                <a16:creationId xmlns:a16="http://schemas.microsoft.com/office/drawing/2014/main" id="{0D8D354D-108B-F7E9-FE7B-C25B50061CFF}"/>
              </a:ext>
            </a:extLst>
          </p:cNvPr>
          <p:cNvSpPr/>
          <p:nvPr/>
        </p:nvSpPr>
        <p:spPr>
          <a:xfrm>
            <a:off x="640080" y="398678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9" name="slider fill">
            <a:extLst>
              <a:ext uri="{FF2B5EF4-FFF2-40B4-BE49-F238E27FC236}">
                <a16:creationId xmlns:a16="http://schemas.microsoft.com/office/drawing/2014/main" id="{0F830B6F-6BEE-CD1D-3BF4-5E6DD4056C4A}"/>
              </a:ext>
            </a:extLst>
          </p:cNvPr>
          <p:cNvSpPr/>
          <p:nvPr/>
        </p:nvSpPr>
        <p:spPr>
          <a:xfrm>
            <a:off x="640080" y="3986783"/>
            <a:ext cx="90296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0" name="slider knob">
            <a:extLst>
              <a:ext uri="{FF2B5EF4-FFF2-40B4-BE49-F238E27FC236}">
                <a16:creationId xmlns:a16="http://schemas.microsoft.com/office/drawing/2014/main" id="{A49A9D8A-722C-0934-33BF-09EAAF47FF04}"/>
              </a:ext>
            </a:extLst>
          </p:cNvPr>
          <p:cNvSpPr/>
          <p:nvPr/>
        </p:nvSpPr>
        <p:spPr>
          <a:xfrm>
            <a:off x="1479042" y="395020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1" name="Text 17">
            <a:extLst>
              <a:ext uri="{FF2B5EF4-FFF2-40B4-BE49-F238E27FC236}">
                <a16:creationId xmlns:a16="http://schemas.microsoft.com/office/drawing/2014/main" id="{4F2953A4-40B5-A9E2-BA69-3547DED6B542}"/>
              </a:ext>
            </a:extLst>
          </p:cNvPr>
          <p:cNvSpPr/>
          <p:nvPr/>
        </p:nvSpPr>
        <p:spPr>
          <a:xfrm>
            <a:off x="640080" y="409651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Sapere a chi rivolgersi</a:t>
            </a:r>
          </a:p>
        </p:txBody>
      </p:sp>
      <p:sp>
        <p:nvSpPr>
          <p:cNvPr id="22" name="Text 18">
            <a:extLst>
              <a:ext uri="{FF2B5EF4-FFF2-40B4-BE49-F238E27FC236}">
                <a16:creationId xmlns:a16="http://schemas.microsoft.com/office/drawing/2014/main" id="{B64D8C52-8828-226E-E777-4B946C9C67DE}"/>
              </a:ext>
            </a:extLst>
          </p:cNvPr>
          <p:cNvSpPr/>
          <p:nvPr/>
        </p:nvSpPr>
        <p:spPr>
          <a:xfrm>
            <a:off x="3154679" y="409651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1700E8"/>
                </a:solidFill>
                <a:uFillTx/>
                <a:latin typeface="Space Mono"/>
                <a:ea typeface="Space Mono"/>
                <a:cs typeface="Space Mono"/>
              </a:rPr>
              <a:t>6/10</a:t>
            </a:r>
            <a:endParaRPr lang="it-IT" sz="750" b="0" i="0" u="none" strike="noStrike" kern="1200" cap="none" spc="0" baseline="0">
              <a:solidFill>
                <a:srgbClr val="111111"/>
              </a:solidFill>
              <a:uFillTx/>
              <a:latin typeface="Space Mono"/>
              <a:ea typeface="Space Mono"/>
              <a:cs typeface="Space Mono"/>
            </a:endParaRPr>
          </a:p>
        </p:txBody>
      </p:sp>
      <p:sp>
        <p:nvSpPr>
          <p:cNvPr id="23" name="Shape 19">
            <a:extLst>
              <a:ext uri="{FF2B5EF4-FFF2-40B4-BE49-F238E27FC236}">
                <a16:creationId xmlns:a16="http://schemas.microsoft.com/office/drawing/2014/main" id="{303AB220-9BD5-EB9A-BD78-46AC2D069516}"/>
              </a:ext>
            </a:extLst>
          </p:cNvPr>
          <p:cNvSpPr/>
          <p:nvPr/>
        </p:nvSpPr>
        <p:spPr>
          <a:xfrm>
            <a:off x="640080" y="4261103"/>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4" name="slider fill">
            <a:extLst>
              <a:ext uri="{FF2B5EF4-FFF2-40B4-BE49-F238E27FC236}">
                <a16:creationId xmlns:a16="http://schemas.microsoft.com/office/drawing/2014/main" id="{F8CF0608-DF87-15EB-949F-1860515DCE35}"/>
              </a:ext>
            </a:extLst>
          </p:cNvPr>
          <p:cNvSpPr/>
          <p:nvPr/>
        </p:nvSpPr>
        <p:spPr>
          <a:xfrm>
            <a:off x="640080" y="4261103"/>
            <a:ext cx="2167127"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5" name="slider knob">
            <a:extLst>
              <a:ext uri="{FF2B5EF4-FFF2-40B4-BE49-F238E27FC236}">
                <a16:creationId xmlns:a16="http://schemas.microsoft.com/office/drawing/2014/main" id="{4851A8E3-F787-F8D1-7378-3121767C1FC3}"/>
              </a:ext>
            </a:extLst>
          </p:cNvPr>
          <p:cNvSpPr/>
          <p:nvPr/>
        </p:nvSpPr>
        <p:spPr>
          <a:xfrm>
            <a:off x="2743200" y="4224527"/>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6" name="Text 22">
            <a:extLst>
              <a:ext uri="{FF2B5EF4-FFF2-40B4-BE49-F238E27FC236}">
                <a16:creationId xmlns:a16="http://schemas.microsoft.com/office/drawing/2014/main" id="{F313C975-AE22-F9B6-D2F6-6A687EE7921B}"/>
              </a:ext>
            </a:extLst>
          </p:cNvPr>
          <p:cNvSpPr/>
          <p:nvPr/>
        </p:nvSpPr>
        <p:spPr>
          <a:xfrm>
            <a:off x="640080" y="4370832"/>
            <a:ext cx="2377440" cy="137160"/>
          </a:xfrm>
          <a:prstGeom prst="rect">
            <a:avLst/>
          </a:prstGeom>
          <a:noFill/>
          <a:ln>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0" i="0" u="none" strike="noStrike" kern="1200" cap="none" spc="0" baseline="0">
                <a:solidFill>
                  <a:srgbClr val="111111"/>
                </a:solidFill>
                <a:uFillTx/>
                <a:latin typeface="Plus Jakarta Sans"/>
                <a:ea typeface="Plus Jakarta Sans"/>
                <a:cs typeface="Plus Jakarta Sans"/>
              </a:rPr>
              <a:t>Ascoltare senza giudicare</a:t>
            </a:r>
          </a:p>
        </p:txBody>
      </p:sp>
      <p:sp>
        <p:nvSpPr>
          <p:cNvPr id="27" name="Text 23">
            <a:extLst>
              <a:ext uri="{FF2B5EF4-FFF2-40B4-BE49-F238E27FC236}">
                <a16:creationId xmlns:a16="http://schemas.microsoft.com/office/drawing/2014/main" id="{6BC63839-FB29-5F3A-5EE2-72719BC0FE56}"/>
              </a:ext>
            </a:extLst>
          </p:cNvPr>
          <p:cNvSpPr/>
          <p:nvPr/>
        </p:nvSpPr>
        <p:spPr>
          <a:xfrm>
            <a:off x="3154679" y="4370832"/>
            <a:ext cx="1097280" cy="137160"/>
          </a:xfrm>
          <a:prstGeom prst="rect">
            <a:avLst/>
          </a:prstGeom>
          <a:noFill/>
          <a:ln>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50" b="1" i="0" u="none" strike="noStrike" kern="1200" cap="none" spc="0" baseline="0">
                <a:solidFill>
                  <a:srgbClr val="1700E8"/>
                </a:solidFill>
                <a:uFillTx/>
                <a:latin typeface="Space Mono"/>
                <a:ea typeface="Space Mono"/>
                <a:cs typeface="Space Mono"/>
              </a:rPr>
              <a:t>8/10</a:t>
            </a:r>
            <a:endParaRPr lang="it-IT" sz="750" b="0" i="0" u="none" strike="noStrike" kern="1200" cap="none" spc="0" baseline="0">
              <a:solidFill>
                <a:srgbClr val="111111"/>
              </a:solidFill>
              <a:uFillTx/>
              <a:latin typeface="Space Mono"/>
              <a:ea typeface="Space Mono"/>
              <a:cs typeface="Space Mono"/>
            </a:endParaRPr>
          </a:p>
        </p:txBody>
      </p:sp>
      <p:sp>
        <p:nvSpPr>
          <p:cNvPr id="28" name="Shape 24">
            <a:extLst>
              <a:ext uri="{FF2B5EF4-FFF2-40B4-BE49-F238E27FC236}">
                <a16:creationId xmlns:a16="http://schemas.microsoft.com/office/drawing/2014/main" id="{37CB6927-5609-C20C-EBCC-B516441541BD}"/>
              </a:ext>
            </a:extLst>
          </p:cNvPr>
          <p:cNvSpPr/>
          <p:nvPr/>
        </p:nvSpPr>
        <p:spPr>
          <a:xfrm>
            <a:off x="640080" y="4535424"/>
            <a:ext cx="3611879"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EDA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9" name="slider fill">
            <a:extLst>
              <a:ext uri="{FF2B5EF4-FFF2-40B4-BE49-F238E27FC236}">
                <a16:creationId xmlns:a16="http://schemas.microsoft.com/office/drawing/2014/main" id="{67AE3ECB-4443-DB33-0DFF-9FC0F0A2C021}"/>
              </a:ext>
            </a:extLst>
          </p:cNvPr>
          <p:cNvSpPr/>
          <p:nvPr/>
        </p:nvSpPr>
        <p:spPr>
          <a:xfrm>
            <a:off x="640080" y="4535424"/>
            <a:ext cx="2889504" cy="5486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0" name="slider knob">
            <a:extLst>
              <a:ext uri="{FF2B5EF4-FFF2-40B4-BE49-F238E27FC236}">
                <a16:creationId xmlns:a16="http://schemas.microsoft.com/office/drawing/2014/main" id="{6E3D2EBA-9196-DD17-1AF7-DA07114FDE0A}"/>
              </a:ext>
            </a:extLst>
          </p:cNvPr>
          <p:cNvSpPr/>
          <p:nvPr/>
        </p:nvSpPr>
        <p:spPr>
          <a:xfrm>
            <a:off x="3465576" y="449884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1" name="card motivazioni ombra">
            <a:extLst>
              <a:ext uri="{FF2B5EF4-FFF2-40B4-BE49-F238E27FC236}">
                <a16:creationId xmlns:a16="http://schemas.microsoft.com/office/drawing/2014/main" id="{4818F593-A214-089E-3602-E16DE16755DF}"/>
              </a:ext>
            </a:extLst>
          </p:cNvPr>
          <p:cNvSpPr/>
          <p:nvPr/>
        </p:nvSpPr>
        <p:spPr>
          <a:xfrm>
            <a:off x="4782312" y="484632"/>
            <a:ext cx="3886200" cy="118872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2" name="card motivazioni">
            <a:extLst>
              <a:ext uri="{FF2B5EF4-FFF2-40B4-BE49-F238E27FC236}">
                <a16:creationId xmlns:a16="http://schemas.microsoft.com/office/drawing/2014/main" id="{9F7AA597-9D10-7838-2DB6-E11AA0266D81}"/>
              </a:ext>
            </a:extLst>
          </p:cNvPr>
          <p:cNvSpPr/>
          <p:nvPr/>
        </p:nvSpPr>
        <p:spPr>
          <a:xfrm>
            <a:off x="4709159" y="411480"/>
            <a:ext cx="3886200" cy="118872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3" name="Shape 29">
            <a:extLst>
              <a:ext uri="{FF2B5EF4-FFF2-40B4-BE49-F238E27FC236}">
                <a16:creationId xmlns:a16="http://schemas.microsoft.com/office/drawing/2014/main" id="{843F3A36-61EB-6300-3AFE-648CCCDD0ED2}"/>
              </a:ext>
            </a:extLst>
          </p:cNvPr>
          <p:cNvSpPr/>
          <p:nvPr/>
        </p:nvSpPr>
        <p:spPr>
          <a:xfrm>
            <a:off x="4846320" y="5120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34" name="Image 2">
            <a:extLst>
              <a:ext uri="{FF2B5EF4-FFF2-40B4-BE49-F238E27FC236}">
                <a16:creationId xmlns:a16="http://schemas.microsoft.com/office/drawing/2014/main" id="{D6FEFAC0-E0B9-C324-76D3-2B5B8DF5D41D}"/>
              </a:ext>
            </a:extLst>
          </p:cNvPr>
          <p:cNvPicPr>
            <a:picLocks noChangeAspect="1"/>
          </p:cNvPicPr>
          <p:nvPr/>
        </p:nvPicPr>
        <p:blipFill>
          <a:blip r:embed="rId5"/>
          <a:stretch>
            <a:fillRect/>
          </a:stretch>
        </p:blipFill>
        <p:spPr>
          <a:xfrm>
            <a:off x="4905755" y="571500"/>
            <a:ext cx="137160" cy="137160"/>
          </a:xfrm>
          <a:prstGeom prst="rect">
            <a:avLst/>
          </a:prstGeom>
          <a:noFill/>
          <a:ln>
            <a:noFill/>
          </a:ln>
        </p:spPr>
      </p:pic>
      <p:sp>
        <p:nvSpPr>
          <p:cNvPr id="35" name="Text 30">
            <a:extLst>
              <a:ext uri="{FF2B5EF4-FFF2-40B4-BE49-F238E27FC236}">
                <a16:creationId xmlns:a16="http://schemas.microsoft.com/office/drawing/2014/main" id="{91C63A52-440C-4B5F-2EE3-8819A70A4F5F}"/>
              </a:ext>
            </a:extLst>
          </p:cNvPr>
          <p:cNvSpPr/>
          <p:nvPr/>
        </p:nvSpPr>
        <p:spPr>
          <a:xfrm>
            <a:off x="5184648" y="5303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motivazioni</a:t>
            </a:r>
            <a:endParaRPr lang="it-IT" sz="1000" b="0" i="0" u="none" strike="noStrike" kern="1200" cap="none" spc="0" baseline="0">
              <a:solidFill>
                <a:srgbClr val="111111"/>
              </a:solidFill>
              <a:uFillTx/>
              <a:latin typeface="Space Mono"/>
              <a:ea typeface="Space Mono"/>
              <a:cs typeface="Space Mono"/>
            </a:endParaRPr>
          </a:p>
        </p:txBody>
      </p:sp>
      <p:sp>
        <p:nvSpPr>
          <p:cNvPr id="36" name="Text 31">
            <a:extLst>
              <a:ext uri="{FF2B5EF4-FFF2-40B4-BE49-F238E27FC236}">
                <a16:creationId xmlns:a16="http://schemas.microsoft.com/office/drawing/2014/main" id="{E9DD2A7E-DC48-A97D-8146-05A418620C95}"/>
              </a:ext>
            </a:extLst>
          </p:cNvPr>
          <p:cNvSpPr/>
          <p:nvPr/>
        </p:nvSpPr>
        <p:spPr>
          <a:xfrm>
            <a:off x="4873752" y="850392"/>
            <a:ext cx="3557015" cy="68580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Essere presente senza lasciare l'amica sola</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Trovare un adulto che ascolti senza giudicare o punire</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Aiutare l'amica a chiedere aiuto mantenendo voce e controllo</a:t>
            </a:r>
          </a:p>
        </p:txBody>
      </p:sp>
      <p:sp>
        <p:nvSpPr>
          <p:cNvPr id="37" name="card bisogni e aspettative ombra">
            <a:extLst>
              <a:ext uri="{FF2B5EF4-FFF2-40B4-BE49-F238E27FC236}">
                <a16:creationId xmlns:a16="http://schemas.microsoft.com/office/drawing/2014/main" id="{76697679-8380-C6CB-9C08-53930E2FEAFF}"/>
              </a:ext>
            </a:extLst>
          </p:cNvPr>
          <p:cNvSpPr/>
          <p:nvPr/>
        </p:nvSpPr>
        <p:spPr>
          <a:xfrm>
            <a:off x="4782312" y="1856231"/>
            <a:ext cx="3886200" cy="1463040"/>
          </a:xfrm>
          <a:prstGeom prst="rect">
            <a:avLst/>
          </a:prstGeom>
          <a:solidFill>
            <a:srgbClr val="111111"/>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8" name="card bisogni e aspettative">
            <a:extLst>
              <a:ext uri="{FF2B5EF4-FFF2-40B4-BE49-F238E27FC236}">
                <a16:creationId xmlns:a16="http://schemas.microsoft.com/office/drawing/2014/main" id="{3F3CEE3D-4F80-D24A-DEAA-0A56FFEF80D6}"/>
              </a:ext>
            </a:extLst>
          </p:cNvPr>
          <p:cNvSpPr/>
          <p:nvPr/>
        </p:nvSpPr>
        <p:spPr>
          <a:xfrm>
            <a:off x="4709159" y="1783080"/>
            <a:ext cx="3886200" cy="1463040"/>
          </a:xfrm>
          <a:prstGeom prst="rect">
            <a:avLst/>
          </a:prstGeom>
          <a:solidFill>
            <a:srgbClr val="1700E8"/>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9" name="Shape 34">
            <a:extLst>
              <a:ext uri="{FF2B5EF4-FFF2-40B4-BE49-F238E27FC236}">
                <a16:creationId xmlns:a16="http://schemas.microsoft.com/office/drawing/2014/main" id="{762C670E-A537-ED05-EA8D-6710CEC19864}"/>
              </a:ext>
            </a:extLst>
          </p:cNvPr>
          <p:cNvSpPr/>
          <p:nvPr/>
        </p:nvSpPr>
        <p:spPr>
          <a:xfrm>
            <a:off x="4846320" y="188366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0" name="Image 3">
            <a:extLst>
              <a:ext uri="{FF2B5EF4-FFF2-40B4-BE49-F238E27FC236}">
                <a16:creationId xmlns:a16="http://schemas.microsoft.com/office/drawing/2014/main" id="{FAEAF941-98A2-07C5-5F6A-CCF1D1002F97}"/>
              </a:ext>
            </a:extLst>
          </p:cNvPr>
          <p:cNvPicPr>
            <a:picLocks noChangeAspect="1"/>
          </p:cNvPicPr>
          <p:nvPr/>
        </p:nvPicPr>
        <p:blipFill>
          <a:blip r:embed="rId6"/>
          <a:stretch>
            <a:fillRect/>
          </a:stretch>
        </p:blipFill>
        <p:spPr>
          <a:xfrm>
            <a:off x="4905755" y="1943100"/>
            <a:ext cx="137160" cy="137160"/>
          </a:xfrm>
          <a:prstGeom prst="rect">
            <a:avLst/>
          </a:prstGeom>
          <a:noFill/>
          <a:ln>
            <a:noFill/>
          </a:ln>
        </p:spPr>
      </p:pic>
      <p:sp>
        <p:nvSpPr>
          <p:cNvPr id="41" name="Text 35">
            <a:extLst>
              <a:ext uri="{FF2B5EF4-FFF2-40B4-BE49-F238E27FC236}">
                <a16:creationId xmlns:a16="http://schemas.microsoft.com/office/drawing/2014/main" id="{590B2900-B5ED-F227-C05E-0AC75121C558}"/>
              </a:ext>
            </a:extLst>
          </p:cNvPr>
          <p:cNvSpPr/>
          <p:nvPr/>
        </p:nvSpPr>
        <p:spPr>
          <a:xfrm>
            <a:off x="5184648" y="190195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FFFFFF"/>
                </a:solidFill>
                <a:uFillTx/>
                <a:latin typeface="Space Mono"/>
                <a:ea typeface="Space Mono"/>
                <a:cs typeface="Space Mono"/>
              </a:rPr>
              <a:t>bisogni e aspettative</a:t>
            </a:r>
            <a:endParaRPr lang="it-IT" sz="1000" b="0" i="0" u="none" strike="noStrike" kern="1200" cap="none" spc="0" baseline="0">
              <a:solidFill>
                <a:srgbClr val="111111"/>
              </a:solidFill>
              <a:uFillTx/>
              <a:latin typeface="Space Mono"/>
              <a:ea typeface="Space Mono"/>
              <a:cs typeface="Space Mono"/>
            </a:endParaRPr>
          </a:p>
        </p:txBody>
      </p:sp>
      <p:sp>
        <p:nvSpPr>
          <p:cNvPr id="42" name="Text 36">
            <a:extLst>
              <a:ext uri="{FF2B5EF4-FFF2-40B4-BE49-F238E27FC236}">
                <a16:creationId xmlns:a16="http://schemas.microsoft.com/office/drawing/2014/main" id="{C213D0D2-FED7-3CBD-A081-7AED52FDB4E0}"/>
              </a:ext>
            </a:extLst>
          </p:cNvPr>
          <p:cNvSpPr/>
          <p:nvPr/>
        </p:nvSpPr>
        <p:spPr>
          <a:xfrm>
            <a:off x="4873752" y="2221991"/>
            <a:ext cx="3557015" cy="960120"/>
          </a:xfrm>
          <a:prstGeom prst="rect">
            <a:avLst/>
          </a:prstGeom>
          <a:noFill/>
          <a:ln>
            <a:noFill/>
            <a:prstDash val="solid"/>
          </a:ln>
        </p:spPr>
        <p:txBody>
          <a:bodyPr vert="horz" wrap="square" lIns="0" tIns="0" rIns="0" bIns="0" anchor="t" anchorCtr="0" compatLnSpc="1">
            <a:noAutofit/>
          </a:bodyPr>
          <a:lstStyle/>
          <a:p>
            <a:pPr marL="171450" marR="0" lvl="0" indent="-171450" algn="l" defTabSz="914400" rtl="0" fontAlgn="auto" hangingPunct="1">
              <a:lnSpc>
                <a:spcPct val="100000"/>
              </a:lnSpc>
              <a:spcBef>
                <a:spcPts val="0"/>
              </a:spcBef>
              <a:spcAft>
                <a:spcPts val="0"/>
              </a:spcAft>
              <a:buSzPct val="100000"/>
              <a:buFont typeface="Calibri"/>
              <a:buChar char="-"/>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Space Mono"/>
                <a:ea typeface="Space Mono"/>
                <a:cs typeface="Space Mono"/>
              </a:rPr>
              <a:t>B5+B7  Chiedere aiuto senza paura</a:t>
            </a:r>
            <a:endParaRPr lang="it-IT" sz="800" b="0" i="0" u="none" strike="noStrike" kern="1200" cap="none" spc="0" baseline="0">
              <a:solidFill>
                <a:srgbClr val="FFFFFF"/>
              </a:solidFill>
              <a:uFillTx/>
              <a:latin typeface="Space Mono"/>
              <a:ea typeface="Space Mono"/>
              <a:cs typeface="Space Mono"/>
            </a:endParaRPr>
          </a:p>
          <a:p>
            <a:pPr marL="171450" marR="0" lvl="0" indent="-171450" algn="just" defTabSz="914400" rtl="0" fontAlgn="auto" hangingPunct="1">
              <a:lnSpc>
                <a:spcPct val="100000"/>
              </a:lnSpc>
              <a:spcBef>
                <a:spcPts val="0"/>
              </a:spcBef>
              <a:spcAft>
                <a:spcPts val="0"/>
              </a:spcAft>
              <a:buSzPct val="100000"/>
              <a:buFont typeface="Calibri"/>
              <a:buChar char="-"/>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Sapere cosa fare per primo e a chi rivolgersi</a:t>
            </a:r>
            <a:endParaRPr lang="it-IT" sz="800" b="0" i="0" u="none" strike="noStrike" kern="1200" cap="none" spc="0" baseline="0">
              <a:solidFill>
                <a:srgbClr val="FFFFFF"/>
              </a:solidFill>
              <a:uFillTx/>
              <a:latin typeface="Plus Jakarta Sans"/>
              <a:ea typeface="Plus Jakarta Sans"/>
              <a:cs typeface="Plus Jakarta Sans"/>
            </a:endParaRPr>
          </a:p>
          <a:p>
            <a:pPr marL="171450" marR="0" lvl="0" indent="-171450" algn="just" defTabSz="914400" rtl="0" fontAlgn="auto" hangingPunct="1">
              <a:lnSpc>
                <a:spcPct val="100000"/>
              </a:lnSpc>
              <a:spcBef>
                <a:spcPts val="0"/>
              </a:spcBef>
              <a:spcAft>
                <a:spcPts val="0"/>
              </a:spcAft>
              <a:buSzPct val="100000"/>
              <a:buFont typeface="Calibri"/>
              <a:buChar char="-"/>
              <a:tabLst/>
              <a:defRPr sz="1800" b="0" i="0" u="none" strike="noStrike" kern="0" cap="none" spc="0" baseline="0">
                <a:solidFill>
                  <a:srgbClr val="000000"/>
                </a:solidFill>
                <a:uFillTx/>
              </a:defRPr>
            </a:pPr>
            <a:r>
              <a:rPr lang="it-IT" sz="800" b="1" i="0" u="none" strike="noStrike" kern="1200" cap="none" spc="0" baseline="0">
                <a:solidFill>
                  <a:srgbClr val="FFFFFF"/>
                </a:solidFill>
                <a:uFillTx/>
                <a:latin typeface="Plus Jakarta Sans"/>
                <a:ea typeface="Plus Jakarta Sans"/>
                <a:cs typeface="Plus Jakarta Sans"/>
              </a:rPr>
              <a:t>Capire cosa succede dopo aver coinvolto scuola, famiglia o servizi competenti</a:t>
            </a:r>
            <a:endParaRPr lang="it-IT" sz="800" b="0" i="0" u="none" strike="noStrike" kern="1200" cap="none" spc="0" baseline="0">
              <a:solidFill>
                <a:srgbClr val="FFFFFF"/>
              </a:solidFill>
              <a:uFillTx/>
              <a:latin typeface="Plus Jakarta Sans"/>
              <a:ea typeface="Plus Jakarta Sans"/>
              <a:cs typeface="Plus Jakarta Sans"/>
            </a:endParaRPr>
          </a:p>
        </p:txBody>
      </p:sp>
      <p:sp>
        <p:nvSpPr>
          <p:cNvPr id="43" name="card frustrazioni ombra">
            <a:extLst>
              <a:ext uri="{FF2B5EF4-FFF2-40B4-BE49-F238E27FC236}">
                <a16:creationId xmlns:a16="http://schemas.microsoft.com/office/drawing/2014/main" id="{3358EF50-0BFC-F14A-4979-360DA95A3595}"/>
              </a:ext>
            </a:extLst>
          </p:cNvPr>
          <p:cNvSpPr/>
          <p:nvPr/>
        </p:nvSpPr>
        <p:spPr>
          <a:xfrm>
            <a:off x="4782312" y="3502151"/>
            <a:ext cx="3886200" cy="123444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4" name="card frustrazioni">
            <a:extLst>
              <a:ext uri="{FF2B5EF4-FFF2-40B4-BE49-F238E27FC236}">
                <a16:creationId xmlns:a16="http://schemas.microsoft.com/office/drawing/2014/main" id="{D2314DB0-6C19-059D-EE48-3D58263DCB3F}"/>
              </a:ext>
            </a:extLst>
          </p:cNvPr>
          <p:cNvSpPr/>
          <p:nvPr/>
        </p:nvSpPr>
        <p:spPr>
          <a:xfrm>
            <a:off x="4709159" y="3429000"/>
            <a:ext cx="3886200" cy="123444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45" name="Shape 39">
            <a:extLst>
              <a:ext uri="{FF2B5EF4-FFF2-40B4-BE49-F238E27FC236}">
                <a16:creationId xmlns:a16="http://schemas.microsoft.com/office/drawing/2014/main" id="{A04F16CC-021E-29AC-25FC-8730CC72049D}"/>
              </a:ext>
            </a:extLst>
          </p:cNvPr>
          <p:cNvSpPr/>
          <p:nvPr/>
        </p:nvSpPr>
        <p:spPr>
          <a:xfrm>
            <a:off x="4846320" y="352958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6" name="Image 4">
            <a:extLst>
              <a:ext uri="{FF2B5EF4-FFF2-40B4-BE49-F238E27FC236}">
                <a16:creationId xmlns:a16="http://schemas.microsoft.com/office/drawing/2014/main" id="{C7FF7A4D-60C8-8BCE-072C-E6B29BAC7117}"/>
              </a:ext>
            </a:extLst>
          </p:cNvPr>
          <p:cNvPicPr>
            <a:picLocks noChangeAspect="1"/>
          </p:cNvPicPr>
          <p:nvPr/>
        </p:nvPicPr>
        <p:blipFill>
          <a:blip r:embed="rId7"/>
          <a:stretch>
            <a:fillRect/>
          </a:stretch>
        </p:blipFill>
        <p:spPr>
          <a:xfrm>
            <a:off x="4905755" y="3589020"/>
            <a:ext cx="137160" cy="137160"/>
          </a:xfrm>
          <a:prstGeom prst="rect">
            <a:avLst/>
          </a:prstGeom>
          <a:noFill/>
          <a:ln>
            <a:noFill/>
          </a:ln>
        </p:spPr>
      </p:pic>
      <p:sp>
        <p:nvSpPr>
          <p:cNvPr id="47" name="Text 40">
            <a:extLst>
              <a:ext uri="{FF2B5EF4-FFF2-40B4-BE49-F238E27FC236}">
                <a16:creationId xmlns:a16="http://schemas.microsoft.com/office/drawing/2014/main" id="{E60CF181-E5FF-CD01-C43D-8B781F222268}"/>
              </a:ext>
            </a:extLst>
          </p:cNvPr>
          <p:cNvSpPr/>
          <p:nvPr/>
        </p:nvSpPr>
        <p:spPr>
          <a:xfrm>
            <a:off x="5184648" y="3547872"/>
            <a:ext cx="2743200" cy="219456"/>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000" b="1" i="0" u="none" strike="noStrike" kern="1200" cap="none" spc="0" baseline="0">
                <a:solidFill>
                  <a:srgbClr val="1700E8"/>
                </a:solidFill>
                <a:uFillTx/>
                <a:latin typeface="Space Mono"/>
                <a:ea typeface="Space Mono"/>
                <a:cs typeface="Space Mono"/>
              </a:rPr>
              <a:t>frustrazioni</a:t>
            </a:r>
            <a:endParaRPr lang="it-IT" sz="1000" b="0" i="0" u="none" strike="noStrike" kern="1200" cap="none" spc="0" baseline="0">
              <a:solidFill>
                <a:srgbClr val="111111"/>
              </a:solidFill>
              <a:uFillTx/>
              <a:latin typeface="Space Mono"/>
              <a:ea typeface="Space Mono"/>
              <a:cs typeface="Space Mono"/>
            </a:endParaRPr>
          </a:p>
        </p:txBody>
      </p:sp>
      <p:sp>
        <p:nvSpPr>
          <p:cNvPr id="48" name="Text 41">
            <a:extLst>
              <a:ext uri="{FF2B5EF4-FFF2-40B4-BE49-F238E27FC236}">
                <a16:creationId xmlns:a16="http://schemas.microsoft.com/office/drawing/2014/main" id="{F0BE7CAC-622B-C58E-1DE0-4D97026124CB}"/>
              </a:ext>
            </a:extLst>
          </p:cNvPr>
          <p:cNvSpPr/>
          <p:nvPr/>
        </p:nvSpPr>
        <p:spPr>
          <a:xfrm>
            <a:off x="4873752" y="3867912"/>
            <a:ext cx="3557015" cy="731520"/>
          </a:xfrm>
          <a:prstGeom prst="rect">
            <a:avLst/>
          </a:prstGeom>
          <a:noFill/>
          <a:ln>
            <a:noFill/>
            <a:prstDash val="solid"/>
          </a:ln>
        </p:spPr>
        <p:txBody>
          <a:bodyPr vert="horz" wrap="square" lIns="0" tIns="0" rIns="0" bIns="0" anchor="t" anchorCtr="0" compatLnSpc="1">
            <a:noAutofit/>
          </a:bodyPr>
          <a:lstStyle/>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Paura di tradire la fiducia dell'amica</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Timore che gli adulti giudichino o tolgano il telefono</a:t>
            </a:r>
          </a:p>
          <a:p>
            <a:pPr marL="127001" marR="0" lvl="0" indent="-127001" algn="just" defTabSz="914400" rtl="0" fontAlgn="auto" hangingPunct="1">
              <a:lnSpc>
                <a:spcPct val="100000"/>
              </a:lnSpc>
              <a:spcBef>
                <a:spcPts val="0"/>
              </a:spcBef>
              <a:spcAft>
                <a:spcPts val="400"/>
              </a:spcAft>
              <a:buSzPct val="100000"/>
              <a:buChar char="•"/>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Informazioni frammentate e nessuna guida chiara sui primi passi</a:t>
            </a:r>
          </a:p>
        </p:txBody>
      </p:sp>
      <p:sp>
        <p:nvSpPr>
          <p:cNvPr id="49" name="Slide Number Placeholder 0">
            <a:extLst>
              <a:ext uri="{FF2B5EF4-FFF2-40B4-BE49-F238E27FC236}">
                <a16:creationId xmlns:a16="http://schemas.microsoft.com/office/drawing/2014/main" id="{01B5411B-0FA9-8334-3BEA-BBB6BAEE08ED}"/>
              </a:ext>
            </a:extLst>
          </p:cNvPr>
          <p:cNvSpPr txBox="1">
            <a:spLocks noGrp="1"/>
          </p:cNvSpPr>
          <p:nvPr>
            <p:ph type="sldNum" sz="quarter" idx="8"/>
          </p:nvPr>
        </p:nvSpPr>
        <p:spPr/>
        <p:txBody>
          <a:bodyPr/>
          <a:lstStyle/>
          <a:p>
            <a:pPr lvl="0"/>
            <a:fld id="{197272D7-D7A4-42F0-A282-4ACCC89891BB}" type="slidenum">
              <a:t>20</a:t>
            </a:fld>
            <a:endParaRPr lang="it-IT"/>
          </a:p>
        </p:txBody>
      </p:sp>
    </p:spTree>
    <p:extLst>
      <p:ext uri="{BB962C8B-B14F-4D97-AF65-F5344CB8AC3E}">
        <p14:creationId xmlns:p14="http://schemas.microsoft.com/office/powerpoint/2010/main" val="207438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cena ombra">
            <a:extLst>
              <a:ext uri="{FF2B5EF4-FFF2-40B4-BE49-F238E27FC236}">
                <a16:creationId xmlns:a16="http://schemas.microsoft.com/office/drawing/2014/main" id="{B3405F5B-7EE9-C35D-8623-052D5FE0ACAD}"/>
              </a:ext>
            </a:extLst>
          </p:cNvPr>
          <p:cNvSpPr/>
          <p:nvPr/>
        </p:nvSpPr>
        <p:spPr>
          <a:xfrm rot="149989">
            <a:off x="5166360" y="502920"/>
            <a:ext cx="3611879" cy="3886200"/>
          </a:xfrm>
          <a:prstGeom prst="rect">
            <a:avLst/>
          </a:prstGeom>
          <a:solidFill>
            <a:srgbClr val="1700E8"/>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3" name="cornice scena">
            <a:extLst>
              <a:ext uri="{FF2B5EF4-FFF2-40B4-BE49-F238E27FC236}">
                <a16:creationId xmlns:a16="http://schemas.microsoft.com/office/drawing/2014/main" id="{3609A795-08BD-F145-FB10-A89B63EA0D14}"/>
              </a:ext>
            </a:extLst>
          </p:cNvPr>
          <p:cNvSpPr/>
          <p:nvPr/>
        </p:nvSpPr>
        <p:spPr>
          <a:xfrm rot="149989">
            <a:off x="5074920" y="411479"/>
            <a:ext cx="3611879" cy="388620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4" name="illustrazione un'amica nei guai">
            <a:extLst>
              <a:ext uri="{FF2B5EF4-FFF2-40B4-BE49-F238E27FC236}">
                <a16:creationId xmlns:a16="http://schemas.microsoft.com/office/drawing/2014/main" id="{BF9A1964-1A57-FD1E-5990-491955A1A9A3}"/>
              </a:ext>
            </a:extLst>
          </p:cNvPr>
          <p:cNvPicPr>
            <a:picLocks noChangeAspect="1"/>
          </p:cNvPicPr>
          <p:nvPr/>
        </p:nvPicPr>
        <p:blipFill>
          <a:blip r:embed="rId3"/>
          <a:stretch>
            <a:fillRect/>
          </a:stretch>
        </p:blipFill>
        <p:spPr>
          <a:xfrm rot="149989">
            <a:off x="5212079" y="548640"/>
            <a:ext cx="3337560" cy="3291840"/>
          </a:xfrm>
          <a:prstGeom prst="rect">
            <a:avLst/>
          </a:prstGeom>
          <a:noFill/>
          <a:ln>
            <a:noFill/>
          </a:ln>
        </p:spPr>
      </p:pic>
      <p:sp>
        <p:nvSpPr>
          <p:cNvPr id="5" name="tape">
            <a:extLst>
              <a:ext uri="{FF2B5EF4-FFF2-40B4-BE49-F238E27FC236}">
                <a16:creationId xmlns:a16="http://schemas.microsoft.com/office/drawing/2014/main" id="{4FBCF61E-E724-5AE3-ED2C-27EDE9F99048}"/>
              </a:ext>
            </a:extLst>
          </p:cNvPr>
          <p:cNvSpPr/>
          <p:nvPr/>
        </p:nvSpPr>
        <p:spPr>
          <a:xfrm rot="21449993">
            <a:off x="6339077" y="320040"/>
            <a:ext cx="1083564" cy="155448"/>
          </a:xfrm>
          <a:prstGeom prst="rect">
            <a:avLst/>
          </a:prstGeom>
          <a:solidFill>
            <a:srgbClr val="E71224">
              <a:alpha val="70000"/>
            </a:srgbClr>
          </a:solidFill>
          <a:ln>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6" name="citazione">
            <a:extLst>
              <a:ext uri="{FF2B5EF4-FFF2-40B4-BE49-F238E27FC236}">
                <a16:creationId xmlns:a16="http://schemas.microsoft.com/office/drawing/2014/main" id="{5C4BCB4B-9A79-0247-BDED-B87D1CEFB1E8}"/>
              </a:ext>
            </a:extLst>
          </p:cNvPr>
          <p:cNvSpPr/>
          <p:nvPr/>
        </p:nvSpPr>
        <p:spPr>
          <a:xfrm rot="180000">
            <a:off x="4731837" y="3514176"/>
            <a:ext cx="3429000" cy="457200"/>
          </a:xfrm>
          <a:prstGeom prst="rect">
            <a:avLst/>
          </a:prstGeom>
          <a:solidFill>
            <a:srgbClr val="1700E8"/>
          </a:solidFill>
          <a:ln w="15873">
            <a:solidFill>
              <a:srgbClr val="111111"/>
            </a:solidFill>
            <a:prstDash val="solid"/>
          </a:ln>
          <a:effectLst>
            <a:outerShdw dist="38096" dir="2700000" algn="tl">
              <a:srgbClr val="111111"/>
            </a:outerShdw>
          </a:effectLst>
        </p:spPr>
        <p:txBody>
          <a:bodyPr vert="horz" wrap="square" lIns="25402" tIns="101598" rIns="101598" bIns="25402"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100" b="1" i="1" u="none" strike="noStrike" kern="1200" cap="none" spc="0" baseline="0">
                <a:solidFill>
                  <a:srgbClr val="FFFFFF"/>
                </a:solidFill>
                <a:uFillTx/>
                <a:latin typeface="Plus Jakarta Sans"/>
                <a:ea typeface="Plus Jakarta Sans"/>
                <a:cs typeface="Plus Jakarta Sans"/>
              </a:rPr>
              <a:t>Ti prego, non dirlo a nessuno</a:t>
            </a:r>
            <a:endParaRPr lang="it-IT" sz="1100" b="0" i="0" u="none" strike="noStrike" kern="1200" cap="none" spc="0" baseline="0">
              <a:solidFill>
                <a:srgbClr val="111111"/>
              </a:solidFill>
              <a:uFillTx/>
              <a:latin typeface="Plus Jakarta Sans"/>
              <a:ea typeface="Plus Jakarta Sans"/>
              <a:cs typeface="Plus Jakarta Sans"/>
            </a:endParaRPr>
          </a:p>
        </p:txBody>
      </p:sp>
      <p:sp>
        <p:nvSpPr>
          <p:cNvPr id="7" name="Text 5">
            <a:extLst>
              <a:ext uri="{FF2B5EF4-FFF2-40B4-BE49-F238E27FC236}">
                <a16:creationId xmlns:a16="http://schemas.microsoft.com/office/drawing/2014/main" id="{0091A578-BE4A-59A5-C482-3FB2ED5FFC0C}"/>
              </a:ext>
            </a:extLst>
          </p:cNvPr>
          <p:cNvSpPr/>
          <p:nvPr/>
        </p:nvSpPr>
        <p:spPr>
          <a:xfrm>
            <a:off x="457200" y="411480"/>
            <a:ext cx="2377440" cy="201168"/>
          </a:xfrm>
          <a:prstGeom prst="rect">
            <a:avLst/>
          </a:prstGeom>
          <a:noFill/>
          <a:ln>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850" b="1" i="0" u="none" strike="noStrike" kern="1200" cap="none" spc="0" baseline="0">
                <a:solidFill>
                  <a:srgbClr val="E71224"/>
                </a:solidFill>
                <a:uFillTx/>
                <a:latin typeface="Space Mono"/>
                <a:ea typeface="Space Mono"/>
                <a:cs typeface="Space Mono"/>
              </a:rPr>
              <a:t>la storia di chiara</a:t>
            </a:r>
            <a:endParaRPr lang="it-IT" sz="850" b="0" i="0" u="none" strike="noStrike" kern="1200" cap="none" spc="0" baseline="0">
              <a:solidFill>
                <a:srgbClr val="111111"/>
              </a:solidFill>
              <a:uFillTx/>
              <a:latin typeface="Space Mono"/>
              <a:ea typeface="Space Mono"/>
              <a:cs typeface="Space Mono"/>
            </a:endParaRPr>
          </a:p>
        </p:txBody>
      </p:sp>
      <p:sp>
        <p:nvSpPr>
          <p:cNvPr id="8" name="Text 6">
            <a:extLst>
              <a:ext uri="{FF2B5EF4-FFF2-40B4-BE49-F238E27FC236}">
                <a16:creationId xmlns:a16="http://schemas.microsoft.com/office/drawing/2014/main" id="{5B7CFF1D-D966-E6B3-EDB5-9A296556B34A}"/>
              </a:ext>
            </a:extLst>
          </p:cNvPr>
          <p:cNvSpPr/>
          <p:nvPr/>
        </p:nvSpPr>
        <p:spPr>
          <a:xfrm>
            <a:off x="3063239" y="384048"/>
            <a:ext cx="457200" cy="256032"/>
          </a:xfrm>
          <a:prstGeom prst="rect">
            <a:avLst/>
          </a:prstGeom>
          <a:noFill/>
          <a:ln>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900" b="1" i="0" u="none" strike="noStrike" kern="1200" cap="none" spc="0" baseline="0">
              <a:solidFill>
                <a:srgbClr val="E71224"/>
              </a:solidFill>
              <a:uFillTx/>
              <a:latin typeface="Space Mono"/>
              <a:ea typeface="Space Mono"/>
              <a:cs typeface="Plus Jakarta Sans"/>
            </a:endParaRPr>
          </a:p>
        </p:txBody>
      </p:sp>
      <p:sp>
        <p:nvSpPr>
          <p:cNvPr id="9" name="Text 1">
            <a:extLst>
              <a:ext uri="{FF2B5EF4-FFF2-40B4-BE49-F238E27FC236}">
                <a16:creationId xmlns:a16="http://schemas.microsoft.com/office/drawing/2014/main" id="{C5FAFD60-4DD5-3C50-992E-4AD0E76B7C4E}"/>
              </a:ext>
            </a:extLst>
          </p:cNvPr>
          <p:cNvSpPr txBox="1">
            <a:spLocks noGrp="1"/>
          </p:cNvSpPr>
          <p:nvPr>
            <p:ph type="title"/>
          </p:nvPr>
        </p:nvSpPr>
        <p:spPr/>
        <p:txBody>
          <a:bodyPr lIns="0" tIns="0" rIns="0" bIns="0" anchor="ctr"/>
          <a:lstStyle/>
          <a:p>
            <a:pPr lvl="0"/>
            <a:r>
              <a:rPr lang="it-IT">
                <a:latin typeface="Space Mono"/>
                <a:ea typeface="Space Mono"/>
                <a:cs typeface="Space Mono"/>
              </a:rPr>
              <a:t>un'amica nei guai</a:t>
            </a:r>
          </a:p>
        </p:txBody>
      </p:sp>
      <p:sp>
        <p:nvSpPr>
          <p:cNvPr id="10" name="chip B5+B7 · chiedere aiuto senza paura">
            <a:extLst>
              <a:ext uri="{FF2B5EF4-FFF2-40B4-BE49-F238E27FC236}">
                <a16:creationId xmlns:a16="http://schemas.microsoft.com/office/drawing/2014/main" id="{BACCD035-0BC3-84B5-46F1-82B2B3FA7CC2}"/>
              </a:ext>
            </a:extLst>
          </p:cNvPr>
          <p:cNvSpPr/>
          <p:nvPr/>
        </p:nvSpPr>
        <p:spPr>
          <a:xfrm>
            <a:off x="457200" y="1188720"/>
            <a:ext cx="2014724" cy="219456"/>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700E8"/>
          </a:solidFill>
          <a:ln w="12701">
            <a:solidFill>
              <a:srgbClr val="111111"/>
            </a:solid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700" b="1" i="0" u="none" strike="noStrike" kern="1200" cap="none" spc="0" baseline="0">
                <a:solidFill>
                  <a:srgbClr val="FFFFFF"/>
                </a:solidFill>
                <a:uFillTx/>
                <a:latin typeface="Space Mono"/>
                <a:ea typeface="Space Mono"/>
                <a:cs typeface="Space Mono"/>
              </a:rPr>
              <a:t>B5+B7 · chiedere aiuto senza paura</a:t>
            </a:r>
            <a:endParaRPr lang="it-IT" sz="700" b="0" i="0" u="none" strike="noStrike" kern="1200" cap="none" spc="0" baseline="0">
              <a:solidFill>
                <a:srgbClr val="111111"/>
              </a:solidFill>
              <a:uFillTx/>
              <a:latin typeface="Space Mono"/>
              <a:ea typeface="Space Mono"/>
              <a:cs typeface="Space Mono"/>
            </a:endParaRPr>
          </a:p>
        </p:txBody>
      </p:sp>
      <p:sp>
        <p:nvSpPr>
          <p:cNvPr id="11" name="story">
            <a:extLst>
              <a:ext uri="{FF2B5EF4-FFF2-40B4-BE49-F238E27FC236}">
                <a16:creationId xmlns:a16="http://schemas.microsoft.com/office/drawing/2014/main" id="{F98EE757-1A58-F6F8-5682-252570E6CEC7}"/>
              </a:ext>
            </a:extLst>
          </p:cNvPr>
          <p:cNvSpPr/>
          <p:nvPr/>
        </p:nvSpPr>
        <p:spPr>
          <a:xfrm>
            <a:off x="457200" y="1828800"/>
            <a:ext cx="4114800" cy="2926080"/>
          </a:xfrm>
          <a:prstGeom prst="rect">
            <a:avLst/>
          </a:prstGeom>
          <a:noFill/>
          <a:ln>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Una sera Marta, la compagna di banco di Chiara, le scrive in lacrime: un ragazzo conosciuto online la minaccia e le chiede di non coinvolgere nessuno. "Se lo scoprono i miei è finita", ripete.</a:t>
            </a:r>
          </a:p>
          <a:p>
            <a:pPr marL="0" marR="0" lvl="0" indent="0" algn="l"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endParaRPr lang="it-IT" sz="9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Chiara vuole aiutarla, ma ha paura di tradire la sua fiducia. Non sa chi contattare per primo e teme che un adulto reagisca giudicando Marta, sequestrandole il telefono o decidendo tutto al posto suo.</a:t>
            </a:r>
          </a:p>
          <a:p>
            <a:pPr marL="0" marR="0" lvl="0" indent="0" algn="l"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endParaRPr lang="it-IT" sz="9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Dopo alcune ricerche confuse scopre che a scuola c'è uno sportello con una psicologa. Prima di andarci, Chiara e Marta preparano insieme cosa raccontare e chiedono di essere coinvolte nelle decisioni successive. Il giorno dopo Chiara accompagna l'amica.</a:t>
            </a:r>
          </a:p>
          <a:p>
            <a:pPr marL="0" marR="0" lvl="0" indent="0" algn="l"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endParaRPr lang="it-IT" sz="9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it-IT" sz="900" b="0" i="0" u="none" strike="noStrike" kern="1200" cap="none" spc="0" baseline="0">
                <a:solidFill>
                  <a:srgbClr val="111111"/>
                </a:solidFill>
                <a:uFillTx/>
                <a:latin typeface="Plus Jakarta Sans"/>
                <a:ea typeface="Plus Jakarta Sans"/>
                <a:cs typeface="Plus Jakarta Sans"/>
              </a:rPr>
              <a:t>Marta non affronta più il problema da sola. Chiara capisce che chiedere aiuto può proteggere anche la fiducia tra loro, ma vorrebbe aver saputo subito a chi rivolgersi, cosa dire e che cosa sarebbe successo dopo.</a:t>
            </a:r>
          </a:p>
        </p:txBody>
      </p:sp>
      <p:sp>
        <p:nvSpPr>
          <p:cNvPr id="12" name="Slide Number Placeholder 0">
            <a:extLst>
              <a:ext uri="{FF2B5EF4-FFF2-40B4-BE49-F238E27FC236}">
                <a16:creationId xmlns:a16="http://schemas.microsoft.com/office/drawing/2014/main" id="{55E691EF-D958-F7B1-B263-801466FB1597}"/>
              </a:ext>
            </a:extLst>
          </p:cNvPr>
          <p:cNvSpPr txBox="1">
            <a:spLocks noGrp="1"/>
          </p:cNvSpPr>
          <p:nvPr>
            <p:ph type="sldNum" sz="quarter" idx="8"/>
          </p:nvPr>
        </p:nvSpPr>
        <p:spPr/>
        <p:txBody>
          <a:bodyPr/>
          <a:lstStyle/>
          <a:p>
            <a:pPr lvl="0"/>
            <a:fld id="{8C18B5AB-BCD6-4D75-AE5F-736C838B84F8}" type="slidenum">
              <a:t>21</a:t>
            </a:fld>
            <a:endParaRPr lang="it-IT"/>
          </a:p>
        </p:txBody>
      </p:sp>
    </p:spTree>
    <p:extLst>
      <p:ext uri="{BB962C8B-B14F-4D97-AF65-F5344CB8AC3E}">
        <p14:creationId xmlns:p14="http://schemas.microsoft.com/office/powerpoint/2010/main" val="509566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1F6B3-9E5F-1109-F6A6-95BC4C3380D2}"/>
              </a:ext>
            </a:extLst>
          </p:cNvPr>
          <p:cNvSpPr txBox="1"/>
          <p:nvPr/>
        </p:nvSpPr>
        <p:spPr>
          <a:xfrm>
            <a:off x="274320" y="73152"/>
            <a:ext cx="54864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1C14E6"/>
                </a:solidFill>
                <a:uFillTx/>
                <a:latin typeface="Space Mono" pitchFamily="34"/>
                <a:ea typeface="Space Mono" pitchFamily="34"/>
                <a:cs typeface="Space Mono" pitchFamily="34"/>
              </a:rPr>
              <a:t>22</a:t>
            </a:r>
            <a:endParaRPr lang="en-US" sz="9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2BD22C23-1131-6EB3-7077-0538E49041A3}"/>
              </a:ext>
            </a:extLst>
          </p:cNvPr>
          <p:cNvSpPr txBox="1"/>
          <p:nvPr/>
        </p:nvSpPr>
        <p:spPr>
          <a:xfrm>
            <a:off x="274320" y="4846320"/>
            <a:ext cx="36576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C14E6"/>
                </a:solidFill>
                <a:uFillTx/>
                <a:latin typeface="Space Mono"/>
                <a:ea typeface="Space Mono"/>
                <a:cs typeface="Space Mono"/>
              </a:rPr>
              <a:t>2026-27 ° polimi – Fondamenti di HCI</a:t>
            </a:r>
            <a:endParaRPr lang="en-US" sz="8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BB4E229F-9E43-9FE8-D166-7DCB7E58137D}"/>
              </a:ext>
            </a:extLst>
          </p:cNvPr>
          <p:cNvSpPr/>
          <p:nvPr/>
        </p:nvSpPr>
        <p:spPr>
          <a:xfrm rot="21420016">
            <a:off x="384048" y="475488"/>
            <a:ext cx="1783080" cy="1783080"/>
          </a:xfrm>
          <a:prstGeom prst="rect">
            <a:avLst/>
          </a:prstGeom>
          <a:solidFill>
            <a:srgbClr val="1C14E6"/>
          </a:solidFill>
          <a:ln w="12701">
            <a:solidFill>
              <a:srgbClr val="1C14E6"/>
            </a:solidFill>
            <a:prstDash val="solid"/>
          </a:ln>
        </p:spPr>
        <p:txBody>
          <a:bodyPr lIns="0" tIns="0" rIns="0" bIns="0"/>
          <a:lstStyle/>
          <a:p>
            <a:endParaRPr lang="it-IT"/>
          </a:p>
        </p:txBody>
      </p:sp>
      <p:sp>
        <p:nvSpPr>
          <p:cNvPr id="5" name="Shape 3">
            <a:extLst>
              <a:ext uri="{FF2B5EF4-FFF2-40B4-BE49-F238E27FC236}">
                <a16:creationId xmlns:a16="http://schemas.microsoft.com/office/drawing/2014/main" id="{656F0CE7-C8E0-5647-7C59-BA7901C8B9CC}"/>
              </a:ext>
            </a:extLst>
          </p:cNvPr>
          <p:cNvSpPr/>
          <p:nvPr/>
        </p:nvSpPr>
        <p:spPr>
          <a:xfrm rot="21420016">
            <a:off x="274320" y="384048"/>
            <a:ext cx="1783080" cy="1783080"/>
          </a:xfrm>
          <a:prstGeom prst="rect">
            <a:avLst/>
          </a:prstGeom>
          <a:solidFill>
            <a:srgbClr val="FFFFFF"/>
          </a:solidFill>
          <a:ln w="19046">
            <a:solidFill>
              <a:srgbClr val="111111"/>
            </a:solidFill>
            <a:prstDash val="solid"/>
          </a:ln>
        </p:spPr>
        <p:txBody>
          <a:bodyPr lIns="0" tIns="0" rIns="0" bIns="0"/>
          <a:lstStyle/>
          <a:p>
            <a:endParaRPr lang="it-IT"/>
          </a:p>
        </p:txBody>
      </p:sp>
      <p:sp>
        <p:nvSpPr>
          <p:cNvPr id="6" name="Shape 4">
            <a:extLst>
              <a:ext uri="{FF2B5EF4-FFF2-40B4-BE49-F238E27FC236}">
                <a16:creationId xmlns:a16="http://schemas.microsoft.com/office/drawing/2014/main" id="{98681EE4-386E-D362-71B9-1AD0E887511B}"/>
              </a:ext>
            </a:extLst>
          </p:cNvPr>
          <p:cNvSpPr/>
          <p:nvPr/>
        </p:nvSpPr>
        <p:spPr>
          <a:xfrm rot="21420016">
            <a:off x="411480" y="502920"/>
            <a:ext cx="1481328" cy="1481328"/>
          </a:xfrm>
          <a:prstGeom prst="rect">
            <a:avLst/>
          </a:prstGeom>
          <a:solidFill>
            <a:srgbClr val="1C14E6"/>
          </a:solidFill>
          <a:ln w="12701">
            <a:solidFill>
              <a:srgbClr val="1C14E6"/>
            </a:solidFill>
            <a:prstDash val="solid"/>
          </a:ln>
        </p:spPr>
        <p:txBody>
          <a:bodyPr lIns="0" tIns="0" rIns="0" bIns="0"/>
          <a:lstStyle/>
          <a:p>
            <a:endParaRPr lang="it-IT"/>
          </a:p>
        </p:txBody>
      </p:sp>
      <p:pic>
        <p:nvPicPr>
          <p:cNvPr id="7" name="Image 0" descr="preencoded.png">
            <a:extLst>
              <a:ext uri="{FF2B5EF4-FFF2-40B4-BE49-F238E27FC236}">
                <a16:creationId xmlns:a16="http://schemas.microsoft.com/office/drawing/2014/main" id="{1EDC3FD3-CEF9-01AB-9656-98C9115DC525}"/>
              </a:ext>
            </a:extLst>
          </p:cNvPr>
          <p:cNvPicPr>
            <a:picLocks noChangeAspect="1"/>
          </p:cNvPicPr>
          <p:nvPr/>
        </p:nvPicPr>
        <p:blipFill>
          <a:blip r:embed="rId3"/>
          <a:stretch>
            <a:fillRect/>
          </a:stretch>
        </p:blipFill>
        <p:spPr>
          <a:xfrm rot="21420016">
            <a:off x="411480" y="502920"/>
            <a:ext cx="1481328" cy="1481328"/>
          </a:xfrm>
          <a:prstGeom prst="rect">
            <a:avLst/>
          </a:prstGeom>
          <a:noFill/>
          <a:ln>
            <a:noFill/>
          </a:ln>
        </p:spPr>
      </p:pic>
      <p:sp>
        <p:nvSpPr>
          <p:cNvPr id="8" name="Shape 5">
            <a:extLst>
              <a:ext uri="{FF2B5EF4-FFF2-40B4-BE49-F238E27FC236}">
                <a16:creationId xmlns:a16="http://schemas.microsoft.com/office/drawing/2014/main" id="{5076DEA6-51BF-5F7A-1CE9-709EA0705A23}"/>
              </a:ext>
            </a:extLst>
          </p:cNvPr>
          <p:cNvSpPr/>
          <p:nvPr/>
        </p:nvSpPr>
        <p:spPr>
          <a:xfrm rot="21240015">
            <a:off x="777240" y="274320"/>
            <a:ext cx="777240" cy="182880"/>
          </a:xfrm>
          <a:prstGeom prst="rect">
            <a:avLst/>
          </a:prstGeom>
          <a:solidFill>
            <a:srgbClr val="555555"/>
          </a:solidFill>
          <a:ln w="12701">
            <a:solidFill>
              <a:srgbClr val="555555"/>
            </a:solidFill>
            <a:prstDash val="solid"/>
          </a:ln>
        </p:spPr>
        <p:txBody>
          <a:bodyPr lIns="0" tIns="0" rIns="0" bIns="0"/>
          <a:lstStyle/>
          <a:p>
            <a:endParaRPr lang="it-IT"/>
          </a:p>
        </p:txBody>
      </p:sp>
      <p:sp>
        <p:nvSpPr>
          <p:cNvPr id="9" name="Text 6">
            <a:extLst>
              <a:ext uri="{FF2B5EF4-FFF2-40B4-BE49-F238E27FC236}">
                <a16:creationId xmlns:a16="http://schemas.microsoft.com/office/drawing/2014/main" id="{6FC7F351-8A0F-37A5-76D6-3E7C9064C49B}"/>
              </a:ext>
            </a:extLst>
          </p:cNvPr>
          <p:cNvSpPr txBox="1"/>
          <p:nvPr/>
        </p:nvSpPr>
        <p:spPr>
          <a:xfrm>
            <a:off x="2377440" y="347472"/>
            <a:ext cx="182880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1200" cap="none" spc="0" baseline="0">
                <a:solidFill>
                  <a:srgbClr val="E3202B"/>
                </a:solidFill>
                <a:uFillTx/>
                <a:latin typeface="Space Mono" pitchFamily="34"/>
                <a:ea typeface="Space Mono" pitchFamily="34"/>
                <a:cs typeface="Space Mono" pitchFamily="34"/>
              </a:rPr>
              <a:t>persona 03</a:t>
            </a:r>
            <a:endParaRPr lang="en-US" sz="900" b="0" i="0" u="none" strike="noStrike" kern="1200" cap="none" spc="0" baseline="0">
              <a:solidFill>
                <a:srgbClr val="111111"/>
              </a:solidFill>
              <a:uFillTx/>
              <a:latin typeface="Space Mono"/>
              <a:ea typeface="Space Mono"/>
              <a:cs typeface="Space Mono"/>
            </a:endParaRPr>
          </a:p>
        </p:txBody>
      </p:sp>
      <p:sp>
        <p:nvSpPr>
          <p:cNvPr id="10" name="Shape 7">
            <a:extLst>
              <a:ext uri="{FF2B5EF4-FFF2-40B4-BE49-F238E27FC236}">
                <a16:creationId xmlns:a16="http://schemas.microsoft.com/office/drawing/2014/main" id="{36D26966-93F8-B1D0-D805-78FDC45AB0AA}"/>
              </a:ext>
            </a:extLst>
          </p:cNvPr>
          <p:cNvSpPr/>
          <p:nvPr/>
        </p:nvSpPr>
        <p:spPr>
          <a:xfrm>
            <a:off x="2286000" y="530352"/>
            <a:ext cx="1874519" cy="56692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5873">
            <a:solidFill>
              <a:srgbClr val="E3202B"/>
            </a:solidFill>
            <a:prstDash val="solid"/>
          </a:ln>
        </p:spPr>
        <p:txBody>
          <a:bodyPr lIns="0" tIns="0" rIns="0" bIns="0"/>
          <a:lstStyle/>
          <a:p>
            <a:endParaRPr lang="it-IT"/>
          </a:p>
        </p:txBody>
      </p:sp>
      <p:sp>
        <p:nvSpPr>
          <p:cNvPr id="11" name="Text 8">
            <a:extLst>
              <a:ext uri="{FF2B5EF4-FFF2-40B4-BE49-F238E27FC236}">
                <a16:creationId xmlns:a16="http://schemas.microsoft.com/office/drawing/2014/main" id="{A8424576-9BC2-5251-2E76-7B742D4D2A58}"/>
              </a:ext>
            </a:extLst>
          </p:cNvPr>
          <p:cNvSpPr txBox="1"/>
          <p:nvPr/>
        </p:nvSpPr>
        <p:spPr>
          <a:xfrm>
            <a:off x="2331720" y="548640"/>
            <a:ext cx="1828800" cy="530352"/>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000" b="1" i="0" u="none" strike="noStrike" kern="1200" cap="none" spc="0" baseline="0">
                <a:solidFill>
                  <a:srgbClr val="1C14E6"/>
                </a:solidFill>
                <a:uFillTx/>
                <a:latin typeface="Space Mono"/>
                <a:ea typeface="Space Mono"/>
                <a:cs typeface="Space Mono"/>
              </a:rPr>
              <a:t>Lorenzo</a:t>
            </a:r>
          </a:p>
        </p:txBody>
      </p:sp>
      <p:sp>
        <p:nvSpPr>
          <p:cNvPr id="12" name="Shape 9">
            <a:extLst>
              <a:ext uri="{FF2B5EF4-FFF2-40B4-BE49-F238E27FC236}">
                <a16:creationId xmlns:a16="http://schemas.microsoft.com/office/drawing/2014/main" id="{D913A5A2-A687-823D-AB23-013CAF534248}"/>
              </a:ext>
            </a:extLst>
          </p:cNvPr>
          <p:cNvSpPr/>
          <p:nvPr/>
        </p:nvSpPr>
        <p:spPr>
          <a:xfrm>
            <a:off x="2377440" y="1188720"/>
            <a:ext cx="1051560" cy="219456"/>
          </a:xfrm>
          <a:prstGeom prst="rect">
            <a:avLst/>
          </a:prstGeom>
          <a:solidFill>
            <a:srgbClr val="1C14E6"/>
          </a:solidFill>
          <a:ln w="12701">
            <a:solidFill>
              <a:srgbClr val="1C14E6"/>
            </a:solidFill>
            <a:prstDash val="solid"/>
          </a:ln>
        </p:spPr>
        <p:txBody>
          <a:bodyPr lIns="0" tIns="0" rIns="0" bIns="0"/>
          <a:lstStyle/>
          <a:p>
            <a:endParaRPr lang="it-IT"/>
          </a:p>
        </p:txBody>
      </p:sp>
      <p:sp>
        <p:nvSpPr>
          <p:cNvPr id="13" name="Text 10">
            <a:extLst>
              <a:ext uri="{FF2B5EF4-FFF2-40B4-BE49-F238E27FC236}">
                <a16:creationId xmlns:a16="http://schemas.microsoft.com/office/drawing/2014/main" id="{E4CC66E6-1000-0A95-7E16-504F233912D8}"/>
              </a:ext>
            </a:extLst>
          </p:cNvPr>
          <p:cNvSpPr txBox="1"/>
          <p:nvPr/>
        </p:nvSpPr>
        <p:spPr>
          <a:xfrm>
            <a:off x="2423160" y="1188720"/>
            <a:ext cx="1005840" cy="219456"/>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1" u="none" strike="noStrike" kern="1200" cap="none" spc="0" baseline="0">
                <a:solidFill>
                  <a:srgbClr val="FFFFFF"/>
                </a:solidFill>
                <a:uFillTx/>
                <a:latin typeface="Plus Jakarta Sans"/>
                <a:ea typeface="Plus Jakarta Sans"/>
                <a:cs typeface="Plus Jakarta Sans"/>
              </a:rPr>
              <a:t>ironico</a:t>
            </a:r>
            <a:endParaRPr lang="en-US" sz="1000" b="0" i="0" u="none" strike="noStrike" kern="1200" cap="none" spc="0" baseline="0">
              <a:solidFill>
                <a:srgbClr val="111111"/>
              </a:solidFill>
              <a:uFillTx/>
              <a:latin typeface="Plus Jakarta Sans"/>
              <a:ea typeface="Plus Jakarta Sans"/>
              <a:cs typeface="Plus Jakarta Sans"/>
            </a:endParaRPr>
          </a:p>
        </p:txBody>
      </p:sp>
      <p:sp>
        <p:nvSpPr>
          <p:cNvPr id="14" name="Text 11">
            <a:extLst>
              <a:ext uri="{FF2B5EF4-FFF2-40B4-BE49-F238E27FC236}">
                <a16:creationId xmlns:a16="http://schemas.microsoft.com/office/drawing/2014/main" id="{A2E60E6F-5BC0-6793-36EB-285B8B6592AF}"/>
              </a:ext>
            </a:extLst>
          </p:cNvPr>
          <p:cNvSpPr txBox="1"/>
          <p:nvPr/>
        </p:nvSpPr>
        <p:spPr>
          <a:xfrm>
            <a:off x="2377440" y="1481328"/>
            <a:ext cx="2011680" cy="822960"/>
          </a:xfrm>
          <a:prstGeom prst="rect">
            <a:avLst/>
          </a:prstGeom>
          <a:noFill/>
          <a:ln>
            <a:noFill/>
          </a:ln>
        </p:spPr>
        <p:txBody>
          <a:bodyPr vert="horz" wrap="square" lIns="0" tIns="0" rIns="0" bIns="0" anchor="t" anchorCtr="0" compatLnSpc="1">
            <a:noAutofit/>
          </a:bodyPr>
          <a:lstStyle/>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17 anni</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4° anno di liceo delle scienze applicate, Milano</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a:ea typeface="Plus Jakarta Sans"/>
                <a:cs typeface="Plus Jakarta Sans"/>
              </a:rPr>
              <a:t>WhatsApp, Instagram, TikTok</a:t>
            </a:r>
          </a:p>
        </p:txBody>
      </p:sp>
      <p:sp>
        <p:nvSpPr>
          <p:cNvPr id="15" name="Text 12">
            <a:extLst>
              <a:ext uri="{FF2B5EF4-FFF2-40B4-BE49-F238E27FC236}">
                <a16:creationId xmlns:a16="http://schemas.microsoft.com/office/drawing/2014/main" id="{18C26F4D-C56F-8740-89F1-0E55AC050CA2}"/>
              </a:ext>
            </a:extLst>
          </p:cNvPr>
          <p:cNvSpPr txBox="1"/>
          <p:nvPr/>
        </p:nvSpPr>
        <p:spPr>
          <a:xfrm>
            <a:off x="274320" y="2377440"/>
            <a:ext cx="91440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C14E6"/>
                </a:solidFill>
                <a:uFillTx/>
                <a:latin typeface="Space Mono" pitchFamily="34"/>
                <a:ea typeface="Space Mono" pitchFamily="34"/>
                <a:cs typeface="Space Mono" pitchFamily="34"/>
              </a:rPr>
              <a:t>bio</a:t>
            </a:r>
            <a:endParaRPr lang="en-US" sz="1100" b="0" i="0" u="none" strike="noStrike" kern="1200" cap="none" spc="0" baseline="0">
              <a:solidFill>
                <a:srgbClr val="111111"/>
              </a:solidFill>
              <a:uFillTx/>
              <a:latin typeface="Space Mono"/>
              <a:ea typeface="Space Mono"/>
              <a:cs typeface="Space Mono"/>
            </a:endParaRPr>
          </a:p>
        </p:txBody>
      </p:sp>
      <p:sp>
        <p:nvSpPr>
          <p:cNvPr id="16" name="Text 13">
            <a:extLst>
              <a:ext uri="{FF2B5EF4-FFF2-40B4-BE49-F238E27FC236}">
                <a16:creationId xmlns:a16="http://schemas.microsoft.com/office/drawing/2014/main" id="{A37D0AEF-EB4F-3E5F-6E31-0545E2576C1B}"/>
              </a:ext>
            </a:extLst>
          </p:cNvPr>
          <p:cNvSpPr txBox="1"/>
          <p:nvPr/>
        </p:nvSpPr>
        <p:spPr>
          <a:xfrm>
            <a:off x="274320" y="2578608"/>
            <a:ext cx="4114800" cy="82296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rgbClr val="111111"/>
                </a:solidFill>
                <a:uFillTx/>
                <a:latin typeface="Plus Jakarta Sans"/>
                <a:ea typeface="Plus Jakarta Sans"/>
                <a:cs typeface="Plus Jakarta Sans"/>
              </a:rPr>
              <a:t>Lorenzo è il più ironico della classe: nel gruppo WhatsApp è quello che manda meme e montaggi fatti con le app di IA, e le sue battute fanno ridere tutti. Non lo fa con cattiveria: per lui un fotomontaggio di un amico è solo un modo per divertirsi insieme. Giudica se uno scherzo è andato troppo in là guardando la reazione dell'altro: se ride, va tutto bene.</a:t>
            </a:r>
          </a:p>
        </p:txBody>
      </p:sp>
      <p:sp>
        <p:nvSpPr>
          <p:cNvPr id="17" name="Shape 14">
            <a:extLst>
              <a:ext uri="{FF2B5EF4-FFF2-40B4-BE49-F238E27FC236}">
                <a16:creationId xmlns:a16="http://schemas.microsoft.com/office/drawing/2014/main" id="{3D1940BD-5D61-0498-ED39-309326A2AB31}"/>
              </a:ext>
            </a:extLst>
          </p:cNvPr>
          <p:cNvSpPr/>
          <p:nvPr/>
        </p:nvSpPr>
        <p:spPr>
          <a:xfrm>
            <a:off x="402336" y="3575303"/>
            <a:ext cx="4023360" cy="1188720"/>
          </a:xfrm>
          <a:prstGeom prst="rect">
            <a:avLst/>
          </a:prstGeom>
          <a:solidFill>
            <a:srgbClr val="DCDAFB"/>
          </a:solidFill>
          <a:ln w="12701">
            <a:solidFill>
              <a:srgbClr val="DCDAFB"/>
            </a:solidFill>
            <a:prstDash val="solid"/>
          </a:ln>
        </p:spPr>
        <p:txBody>
          <a:bodyPr lIns="0" tIns="0" rIns="0" bIns="0"/>
          <a:lstStyle/>
          <a:p>
            <a:endParaRPr lang="it-IT"/>
          </a:p>
        </p:txBody>
      </p:sp>
      <p:sp>
        <p:nvSpPr>
          <p:cNvPr id="18" name="Shape 15">
            <a:extLst>
              <a:ext uri="{FF2B5EF4-FFF2-40B4-BE49-F238E27FC236}">
                <a16:creationId xmlns:a16="http://schemas.microsoft.com/office/drawing/2014/main" id="{76B40227-F43D-5994-EC06-6FB2186A2F31}"/>
              </a:ext>
            </a:extLst>
          </p:cNvPr>
          <p:cNvSpPr/>
          <p:nvPr/>
        </p:nvSpPr>
        <p:spPr>
          <a:xfrm>
            <a:off x="320040" y="3493008"/>
            <a:ext cx="4023360" cy="1188720"/>
          </a:xfrm>
          <a:prstGeom prst="rect">
            <a:avLst/>
          </a:prstGeom>
          <a:solidFill>
            <a:srgbClr val="FFFFFF"/>
          </a:solidFill>
          <a:ln w="15873">
            <a:solidFill>
              <a:srgbClr val="111111"/>
            </a:solidFill>
            <a:prstDash val="solid"/>
          </a:ln>
        </p:spPr>
        <p:txBody>
          <a:bodyPr lIns="0" tIns="0" rIns="0" bIns="0"/>
          <a:lstStyle/>
          <a:p>
            <a:endParaRPr lang="it-IT"/>
          </a:p>
        </p:txBody>
      </p:sp>
      <p:sp>
        <p:nvSpPr>
          <p:cNvPr id="19" name="Text 16">
            <a:extLst>
              <a:ext uri="{FF2B5EF4-FFF2-40B4-BE49-F238E27FC236}">
                <a16:creationId xmlns:a16="http://schemas.microsoft.com/office/drawing/2014/main" id="{CB4D216C-9E08-E855-B7FD-6BB3AE148459}"/>
              </a:ext>
            </a:extLst>
          </p:cNvPr>
          <p:cNvSpPr txBox="1"/>
          <p:nvPr/>
        </p:nvSpPr>
        <p:spPr>
          <a:xfrm>
            <a:off x="457200" y="3566160"/>
            <a:ext cx="36576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C14E6"/>
                </a:solidFill>
                <a:uFillTx/>
                <a:latin typeface="Space Mono" pitchFamily="34"/>
                <a:ea typeface="Space Mono" pitchFamily="34"/>
                <a:cs typeface="Space Mono" pitchFamily="34"/>
              </a:rPr>
              <a:t>personalità e autovalutazione</a:t>
            </a:r>
            <a:endParaRPr lang="en-US" sz="1000" b="0" i="0" u="none" strike="noStrike" kern="1200" cap="none" spc="0" baseline="0">
              <a:solidFill>
                <a:srgbClr val="111111"/>
              </a:solidFill>
              <a:uFillTx/>
              <a:latin typeface="Space Mono"/>
              <a:ea typeface="Space Mono"/>
              <a:cs typeface="Space Mono"/>
            </a:endParaRPr>
          </a:p>
        </p:txBody>
      </p:sp>
      <p:sp>
        <p:nvSpPr>
          <p:cNvPr id="20" name="Text 17">
            <a:extLst>
              <a:ext uri="{FF2B5EF4-FFF2-40B4-BE49-F238E27FC236}">
                <a16:creationId xmlns:a16="http://schemas.microsoft.com/office/drawing/2014/main" id="{C6486AA3-D077-2321-031D-3C8352BB7FFC}"/>
              </a:ext>
            </a:extLst>
          </p:cNvPr>
          <p:cNvSpPr txBox="1"/>
          <p:nvPr/>
        </p:nvSpPr>
        <p:spPr>
          <a:xfrm>
            <a:off x="457200" y="3840480"/>
            <a:ext cx="2286000" cy="164592"/>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a:ea typeface="Plus Jakarta Sans"/>
                <a:cs typeface="Plus Jakarta Sans"/>
              </a:rPr>
              <a:t>Introverso</a:t>
            </a:r>
          </a:p>
        </p:txBody>
      </p:sp>
      <p:sp>
        <p:nvSpPr>
          <p:cNvPr id="21" name="Text 18">
            <a:extLst>
              <a:ext uri="{FF2B5EF4-FFF2-40B4-BE49-F238E27FC236}">
                <a16:creationId xmlns:a16="http://schemas.microsoft.com/office/drawing/2014/main" id="{AFED64F3-0408-3C53-C3CB-6AF2445A660A}"/>
              </a:ext>
            </a:extLst>
          </p:cNvPr>
          <p:cNvSpPr txBox="1"/>
          <p:nvPr/>
        </p:nvSpPr>
        <p:spPr>
          <a:xfrm>
            <a:off x="2834640" y="3840480"/>
            <a:ext cx="1371600" cy="164592"/>
          </a:xfrm>
          <a:prstGeom prst="rect">
            <a:avLst/>
          </a:prstGeom>
          <a:noFill/>
          <a:ln>
            <a:noFill/>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a:ea typeface="Plus Jakarta Sans"/>
                <a:cs typeface="Plus Jakarta Sans"/>
              </a:rPr>
              <a:t>Estroverso</a:t>
            </a:r>
          </a:p>
        </p:txBody>
      </p:sp>
      <p:sp>
        <p:nvSpPr>
          <p:cNvPr id="22" name="Shape 19">
            <a:extLst>
              <a:ext uri="{FF2B5EF4-FFF2-40B4-BE49-F238E27FC236}">
                <a16:creationId xmlns:a16="http://schemas.microsoft.com/office/drawing/2014/main" id="{A686B248-A8DD-32DE-06E6-542AAE188497}"/>
              </a:ext>
            </a:extLst>
          </p:cNvPr>
          <p:cNvSpPr/>
          <p:nvPr/>
        </p:nvSpPr>
        <p:spPr>
          <a:xfrm>
            <a:off x="457200" y="4032504"/>
            <a:ext cx="3749039"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CDAFB"/>
          </a:solidFill>
          <a:ln w="12701">
            <a:solidFill>
              <a:srgbClr val="DCDAFB"/>
            </a:solidFill>
            <a:prstDash val="solid"/>
          </a:ln>
        </p:spPr>
        <p:txBody>
          <a:bodyPr lIns="0" tIns="0" rIns="0" bIns="0"/>
          <a:lstStyle/>
          <a:p>
            <a:endParaRPr lang="it-IT"/>
          </a:p>
        </p:txBody>
      </p:sp>
      <p:sp>
        <p:nvSpPr>
          <p:cNvPr id="23" name="Shape 20">
            <a:extLst>
              <a:ext uri="{FF2B5EF4-FFF2-40B4-BE49-F238E27FC236}">
                <a16:creationId xmlns:a16="http://schemas.microsoft.com/office/drawing/2014/main" id="{1289AD74-F94B-CB96-F9F2-A06317D35974}"/>
              </a:ext>
            </a:extLst>
          </p:cNvPr>
          <p:cNvSpPr/>
          <p:nvPr/>
        </p:nvSpPr>
        <p:spPr>
          <a:xfrm>
            <a:off x="457200" y="4032504"/>
            <a:ext cx="3299155"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C14E6"/>
            </a:solidFill>
            <a:prstDash val="solid"/>
          </a:ln>
        </p:spPr>
        <p:txBody>
          <a:bodyPr lIns="0" tIns="0" rIns="0" bIns="0"/>
          <a:lstStyle/>
          <a:p>
            <a:endParaRPr lang="it-IT"/>
          </a:p>
        </p:txBody>
      </p:sp>
      <p:sp>
        <p:nvSpPr>
          <p:cNvPr id="24" name="Shape 21">
            <a:extLst>
              <a:ext uri="{FF2B5EF4-FFF2-40B4-BE49-F238E27FC236}">
                <a16:creationId xmlns:a16="http://schemas.microsoft.com/office/drawing/2014/main" id="{5B7B821F-1E6F-5BD6-92C8-E23B57294D36}"/>
              </a:ext>
            </a:extLst>
          </p:cNvPr>
          <p:cNvSpPr/>
          <p:nvPr/>
        </p:nvSpPr>
        <p:spPr>
          <a:xfrm>
            <a:off x="3683203" y="3991355"/>
            <a:ext cx="146304" cy="14630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lIns="0" tIns="0" rIns="0" bIns="0"/>
          <a:lstStyle/>
          <a:p>
            <a:endParaRPr lang="it-IT"/>
          </a:p>
        </p:txBody>
      </p:sp>
      <p:sp>
        <p:nvSpPr>
          <p:cNvPr id="25" name="Text 22">
            <a:extLst>
              <a:ext uri="{FF2B5EF4-FFF2-40B4-BE49-F238E27FC236}">
                <a16:creationId xmlns:a16="http://schemas.microsoft.com/office/drawing/2014/main" id="{40A1DB31-DB29-99C2-D65D-7BE9C9275C9B}"/>
              </a:ext>
            </a:extLst>
          </p:cNvPr>
          <p:cNvSpPr txBox="1"/>
          <p:nvPr/>
        </p:nvSpPr>
        <p:spPr>
          <a:xfrm>
            <a:off x="457200" y="4096512"/>
            <a:ext cx="2286000" cy="164592"/>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a:ea typeface="Plus Jakarta Sans"/>
                <a:cs typeface="Plus Jakarta Sans"/>
              </a:rPr>
              <a:t>Riconoscere un falso</a:t>
            </a:r>
          </a:p>
        </p:txBody>
      </p:sp>
      <p:sp>
        <p:nvSpPr>
          <p:cNvPr id="26" name="Text 23">
            <a:extLst>
              <a:ext uri="{FF2B5EF4-FFF2-40B4-BE49-F238E27FC236}">
                <a16:creationId xmlns:a16="http://schemas.microsoft.com/office/drawing/2014/main" id="{5707240B-DEC5-B6DE-44AE-27C063C34F89}"/>
              </a:ext>
            </a:extLst>
          </p:cNvPr>
          <p:cNvSpPr txBox="1"/>
          <p:nvPr/>
        </p:nvSpPr>
        <p:spPr>
          <a:xfrm>
            <a:off x="2834640" y="4096512"/>
            <a:ext cx="1371600" cy="164592"/>
          </a:xfrm>
          <a:prstGeom prst="rect">
            <a:avLst/>
          </a:prstGeom>
          <a:noFill/>
          <a:ln>
            <a:noFill/>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1C14E6"/>
                </a:solidFill>
                <a:uFillTx/>
                <a:latin typeface="Space Mono" pitchFamily="34"/>
                <a:ea typeface="Space Mono" pitchFamily="34"/>
                <a:cs typeface="Space Mono" pitchFamily="34"/>
              </a:rPr>
              <a:t>7/10</a:t>
            </a:r>
            <a:endParaRPr lang="en-US" sz="800" b="0" i="0" u="none" strike="noStrike" kern="1200" cap="none" spc="0" baseline="0">
              <a:solidFill>
                <a:srgbClr val="111111"/>
              </a:solidFill>
              <a:uFillTx/>
              <a:latin typeface="Space Mono"/>
              <a:ea typeface="Space Mono"/>
              <a:cs typeface="Space Mono"/>
            </a:endParaRPr>
          </a:p>
        </p:txBody>
      </p:sp>
      <p:sp>
        <p:nvSpPr>
          <p:cNvPr id="27" name="Shape 24">
            <a:extLst>
              <a:ext uri="{FF2B5EF4-FFF2-40B4-BE49-F238E27FC236}">
                <a16:creationId xmlns:a16="http://schemas.microsoft.com/office/drawing/2014/main" id="{C8E2702A-B323-08FE-85F7-8B25B3290ED4}"/>
              </a:ext>
            </a:extLst>
          </p:cNvPr>
          <p:cNvSpPr/>
          <p:nvPr/>
        </p:nvSpPr>
        <p:spPr>
          <a:xfrm>
            <a:off x="457200" y="4288536"/>
            <a:ext cx="3749039"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CDAFB"/>
          </a:solidFill>
          <a:ln w="12701">
            <a:solidFill>
              <a:srgbClr val="DCDAFB"/>
            </a:solidFill>
            <a:prstDash val="solid"/>
          </a:ln>
        </p:spPr>
        <p:txBody>
          <a:bodyPr lIns="0" tIns="0" rIns="0" bIns="0"/>
          <a:lstStyle/>
          <a:p>
            <a:endParaRPr lang="it-IT"/>
          </a:p>
        </p:txBody>
      </p:sp>
      <p:sp>
        <p:nvSpPr>
          <p:cNvPr id="28" name="Shape 25">
            <a:extLst>
              <a:ext uri="{FF2B5EF4-FFF2-40B4-BE49-F238E27FC236}">
                <a16:creationId xmlns:a16="http://schemas.microsoft.com/office/drawing/2014/main" id="{47623E77-B5B0-2FA3-F692-DA6645366ACB}"/>
              </a:ext>
            </a:extLst>
          </p:cNvPr>
          <p:cNvSpPr/>
          <p:nvPr/>
        </p:nvSpPr>
        <p:spPr>
          <a:xfrm>
            <a:off x="457200" y="4288536"/>
            <a:ext cx="2624327"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C14E6"/>
            </a:solidFill>
            <a:prstDash val="solid"/>
          </a:ln>
        </p:spPr>
        <p:txBody>
          <a:bodyPr lIns="0" tIns="0" rIns="0" bIns="0"/>
          <a:lstStyle/>
          <a:p>
            <a:endParaRPr lang="it-IT"/>
          </a:p>
        </p:txBody>
      </p:sp>
      <p:sp>
        <p:nvSpPr>
          <p:cNvPr id="29" name="Shape 26">
            <a:extLst>
              <a:ext uri="{FF2B5EF4-FFF2-40B4-BE49-F238E27FC236}">
                <a16:creationId xmlns:a16="http://schemas.microsoft.com/office/drawing/2014/main" id="{A15BB7D0-A2BB-151E-D8D8-3E7979552D38}"/>
              </a:ext>
            </a:extLst>
          </p:cNvPr>
          <p:cNvSpPr/>
          <p:nvPr/>
        </p:nvSpPr>
        <p:spPr>
          <a:xfrm>
            <a:off x="3008376" y="4247388"/>
            <a:ext cx="146304" cy="14630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lIns="0" tIns="0" rIns="0" bIns="0"/>
          <a:lstStyle/>
          <a:p>
            <a:endParaRPr lang="it-IT"/>
          </a:p>
        </p:txBody>
      </p:sp>
      <p:sp>
        <p:nvSpPr>
          <p:cNvPr id="30" name="Text 27">
            <a:extLst>
              <a:ext uri="{FF2B5EF4-FFF2-40B4-BE49-F238E27FC236}">
                <a16:creationId xmlns:a16="http://schemas.microsoft.com/office/drawing/2014/main" id="{87EBEF06-737B-BB48-9450-A4620FDCEE45}"/>
              </a:ext>
            </a:extLst>
          </p:cNvPr>
          <p:cNvSpPr txBox="1"/>
          <p:nvPr/>
        </p:nvSpPr>
        <p:spPr>
          <a:xfrm>
            <a:off x="457200" y="4352544"/>
            <a:ext cx="2286000" cy="164592"/>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a:ea typeface="Plus Jakarta Sans"/>
                <a:cs typeface="Plus Jakarta Sans"/>
              </a:rPr>
              <a:t>Capire quando uno scherzo ferisce</a:t>
            </a:r>
          </a:p>
        </p:txBody>
      </p:sp>
      <p:sp>
        <p:nvSpPr>
          <p:cNvPr id="31" name="Text 28">
            <a:extLst>
              <a:ext uri="{FF2B5EF4-FFF2-40B4-BE49-F238E27FC236}">
                <a16:creationId xmlns:a16="http://schemas.microsoft.com/office/drawing/2014/main" id="{3176D3E6-80DD-9D03-684D-FF4BD6FE1D37}"/>
              </a:ext>
            </a:extLst>
          </p:cNvPr>
          <p:cNvSpPr txBox="1"/>
          <p:nvPr/>
        </p:nvSpPr>
        <p:spPr>
          <a:xfrm>
            <a:off x="2834640" y="4352544"/>
            <a:ext cx="1371600" cy="164592"/>
          </a:xfrm>
          <a:prstGeom prst="rect">
            <a:avLst/>
          </a:prstGeom>
          <a:noFill/>
          <a:ln>
            <a:noFill/>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1C14E6"/>
                </a:solidFill>
                <a:uFillTx/>
                <a:latin typeface="Space Mono" pitchFamily="34"/>
                <a:ea typeface="Space Mono" pitchFamily="34"/>
                <a:cs typeface="Space Mono" pitchFamily="34"/>
              </a:rPr>
              <a:t>4/10</a:t>
            </a:r>
            <a:endParaRPr lang="en-US" sz="800" b="0" i="0" u="none" strike="noStrike" kern="1200" cap="none" spc="0" baseline="0">
              <a:solidFill>
                <a:srgbClr val="111111"/>
              </a:solidFill>
              <a:uFillTx/>
              <a:latin typeface="Space Mono"/>
              <a:ea typeface="Space Mono"/>
              <a:cs typeface="Space Mono"/>
            </a:endParaRPr>
          </a:p>
        </p:txBody>
      </p:sp>
      <p:sp>
        <p:nvSpPr>
          <p:cNvPr id="32" name="Shape 29">
            <a:extLst>
              <a:ext uri="{FF2B5EF4-FFF2-40B4-BE49-F238E27FC236}">
                <a16:creationId xmlns:a16="http://schemas.microsoft.com/office/drawing/2014/main" id="{DD01060D-313D-FF9A-ADA2-9016C5AEF99D}"/>
              </a:ext>
            </a:extLst>
          </p:cNvPr>
          <p:cNvSpPr/>
          <p:nvPr/>
        </p:nvSpPr>
        <p:spPr>
          <a:xfrm>
            <a:off x="457200" y="4544568"/>
            <a:ext cx="3749039"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DCDAFB"/>
          </a:solidFill>
          <a:ln w="12701">
            <a:solidFill>
              <a:srgbClr val="DCDAFB"/>
            </a:solidFill>
            <a:prstDash val="solid"/>
          </a:ln>
        </p:spPr>
        <p:txBody>
          <a:bodyPr lIns="0" tIns="0" rIns="0" bIns="0"/>
          <a:lstStyle/>
          <a:p>
            <a:endParaRPr lang="it-IT"/>
          </a:p>
        </p:txBody>
      </p:sp>
      <p:sp>
        <p:nvSpPr>
          <p:cNvPr id="33" name="Shape 30">
            <a:extLst>
              <a:ext uri="{FF2B5EF4-FFF2-40B4-BE49-F238E27FC236}">
                <a16:creationId xmlns:a16="http://schemas.microsoft.com/office/drawing/2014/main" id="{12F0947E-486B-E0A1-F78E-28DFF56F5D15}"/>
              </a:ext>
            </a:extLst>
          </p:cNvPr>
          <p:cNvSpPr/>
          <p:nvPr/>
        </p:nvSpPr>
        <p:spPr>
          <a:xfrm>
            <a:off x="457200" y="4544568"/>
            <a:ext cx="1499616" cy="64008"/>
          </a:xfrm>
          <a:custGeom>
            <a:avLst>
              <a:gd name="f0" fmla="val 9257"/>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2701">
            <a:solidFill>
              <a:srgbClr val="1C14E6"/>
            </a:solidFill>
            <a:prstDash val="solid"/>
          </a:ln>
        </p:spPr>
        <p:txBody>
          <a:bodyPr lIns="0" tIns="0" rIns="0" bIns="0"/>
          <a:lstStyle/>
          <a:p>
            <a:endParaRPr lang="it-IT"/>
          </a:p>
        </p:txBody>
      </p:sp>
      <p:sp>
        <p:nvSpPr>
          <p:cNvPr id="34" name="Shape 31">
            <a:extLst>
              <a:ext uri="{FF2B5EF4-FFF2-40B4-BE49-F238E27FC236}">
                <a16:creationId xmlns:a16="http://schemas.microsoft.com/office/drawing/2014/main" id="{8FCC27D9-26AB-38BE-1D9B-653EEB28C837}"/>
              </a:ext>
            </a:extLst>
          </p:cNvPr>
          <p:cNvSpPr/>
          <p:nvPr/>
        </p:nvSpPr>
        <p:spPr>
          <a:xfrm>
            <a:off x="1883664" y="4503420"/>
            <a:ext cx="146304" cy="14630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5873">
            <a:solidFill>
              <a:srgbClr val="111111"/>
            </a:solidFill>
            <a:prstDash val="solid"/>
          </a:ln>
        </p:spPr>
        <p:txBody>
          <a:bodyPr lIns="0" tIns="0" rIns="0" bIns="0"/>
          <a:lstStyle/>
          <a:p>
            <a:endParaRPr lang="it-IT"/>
          </a:p>
        </p:txBody>
      </p:sp>
      <p:sp>
        <p:nvSpPr>
          <p:cNvPr id="35" name="Shape 32">
            <a:extLst>
              <a:ext uri="{FF2B5EF4-FFF2-40B4-BE49-F238E27FC236}">
                <a16:creationId xmlns:a16="http://schemas.microsoft.com/office/drawing/2014/main" id="{7780165C-5D96-DECB-3198-04DDE23BEC85}"/>
              </a:ext>
            </a:extLst>
          </p:cNvPr>
          <p:cNvSpPr/>
          <p:nvPr/>
        </p:nvSpPr>
        <p:spPr>
          <a:xfrm>
            <a:off x="4700016" y="356616"/>
            <a:ext cx="4206240" cy="1234440"/>
          </a:xfrm>
          <a:prstGeom prst="rect">
            <a:avLst/>
          </a:prstGeom>
          <a:solidFill>
            <a:srgbClr val="DCDAFB"/>
          </a:solidFill>
          <a:ln w="12701">
            <a:solidFill>
              <a:srgbClr val="DCDAFB"/>
            </a:solidFill>
            <a:prstDash val="solid"/>
          </a:ln>
        </p:spPr>
        <p:txBody>
          <a:bodyPr lIns="0" tIns="0" rIns="0" bIns="0"/>
          <a:lstStyle/>
          <a:p>
            <a:endParaRPr lang="it-IT"/>
          </a:p>
        </p:txBody>
      </p:sp>
      <p:sp>
        <p:nvSpPr>
          <p:cNvPr id="36" name="Shape 33">
            <a:extLst>
              <a:ext uri="{FF2B5EF4-FFF2-40B4-BE49-F238E27FC236}">
                <a16:creationId xmlns:a16="http://schemas.microsoft.com/office/drawing/2014/main" id="{BE5FC2D0-27B3-DC77-07EF-025B1CBB0537}"/>
              </a:ext>
            </a:extLst>
          </p:cNvPr>
          <p:cNvSpPr/>
          <p:nvPr/>
        </p:nvSpPr>
        <p:spPr>
          <a:xfrm>
            <a:off x="4617720" y="274320"/>
            <a:ext cx="4206240" cy="1234440"/>
          </a:xfrm>
          <a:prstGeom prst="rect">
            <a:avLst/>
          </a:prstGeom>
          <a:solidFill>
            <a:srgbClr val="FFFFFF"/>
          </a:solidFill>
          <a:ln w="15873">
            <a:solidFill>
              <a:srgbClr val="111111"/>
            </a:solidFill>
            <a:prstDash val="solid"/>
          </a:ln>
        </p:spPr>
        <p:txBody>
          <a:bodyPr lIns="0" tIns="0" rIns="0" bIns="0"/>
          <a:lstStyle/>
          <a:p>
            <a:endParaRPr lang="it-IT"/>
          </a:p>
        </p:txBody>
      </p:sp>
      <p:sp>
        <p:nvSpPr>
          <p:cNvPr id="37" name="Shape 34">
            <a:extLst>
              <a:ext uri="{FF2B5EF4-FFF2-40B4-BE49-F238E27FC236}">
                <a16:creationId xmlns:a16="http://schemas.microsoft.com/office/drawing/2014/main" id="{E38E7318-78AC-5607-27FA-2D8D24125A4A}"/>
              </a:ext>
            </a:extLst>
          </p:cNvPr>
          <p:cNvSpPr/>
          <p:nvPr/>
        </p:nvSpPr>
        <p:spPr>
          <a:xfrm>
            <a:off x="4754880" y="365760"/>
            <a:ext cx="292608" cy="29260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C14E6"/>
          </a:solidFill>
          <a:ln w="12701">
            <a:solidFill>
              <a:srgbClr val="1C14E6"/>
            </a:solidFill>
            <a:prstDash val="solid"/>
          </a:ln>
        </p:spPr>
        <p:txBody>
          <a:bodyPr lIns="0" tIns="0" rIns="0" bIns="0"/>
          <a:lstStyle/>
          <a:p>
            <a:endParaRPr lang="it-IT"/>
          </a:p>
        </p:txBody>
      </p:sp>
      <p:pic>
        <p:nvPicPr>
          <p:cNvPr id="38" name="Image 1" descr="preencoded.png">
            <a:extLst>
              <a:ext uri="{FF2B5EF4-FFF2-40B4-BE49-F238E27FC236}">
                <a16:creationId xmlns:a16="http://schemas.microsoft.com/office/drawing/2014/main" id="{51812744-2038-4684-73D2-B93D03156BE3}"/>
              </a:ext>
            </a:extLst>
          </p:cNvPr>
          <p:cNvPicPr>
            <a:picLocks noChangeAspect="1"/>
          </p:cNvPicPr>
          <p:nvPr/>
        </p:nvPicPr>
        <p:blipFill>
          <a:blip r:embed="rId4"/>
          <a:stretch>
            <a:fillRect/>
          </a:stretch>
        </p:blipFill>
        <p:spPr>
          <a:xfrm>
            <a:off x="4818888" y="429768"/>
            <a:ext cx="164592" cy="164592"/>
          </a:xfrm>
          <a:prstGeom prst="rect">
            <a:avLst/>
          </a:prstGeom>
          <a:noFill/>
          <a:ln>
            <a:noFill/>
          </a:ln>
        </p:spPr>
      </p:pic>
      <p:sp>
        <p:nvSpPr>
          <p:cNvPr id="39" name="Text 35">
            <a:extLst>
              <a:ext uri="{FF2B5EF4-FFF2-40B4-BE49-F238E27FC236}">
                <a16:creationId xmlns:a16="http://schemas.microsoft.com/office/drawing/2014/main" id="{61A5A91B-D8E6-109A-AB23-C4774DBCE530}"/>
              </a:ext>
            </a:extLst>
          </p:cNvPr>
          <p:cNvSpPr txBox="1"/>
          <p:nvPr/>
        </p:nvSpPr>
        <p:spPr>
          <a:xfrm>
            <a:off x="5138927" y="365760"/>
            <a:ext cx="2743200" cy="29260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1C14E6"/>
                </a:solidFill>
                <a:uFillTx/>
                <a:latin typeface="Space Mono" pitchFamily="34"/>
                <a:ea typeface="Space Mono" pitchFamily="34"/>
                <a:cs typeface="Space Mono" pitchFamily="34"/>
              </a:rPr>
              <a:t>motivazioni</a:t>
            </a:r>
            <a:endParaRPr lang="en-US" sz="1200" b="0" i="0" u="none" strike="noStrike" kern="1200" cap="none" spc="0" baseline="0">
              <a:solidFill>
                <a:srgbClr val="111111"/>
              </a:solidFill>
              <a:uFillTx/>
              <a:latin typeface="Space Mono"/>
              <a:ea typeface="Space Mono"/>
              <a:cs typeface="Space Mono"/>
            </a:endParaRPr>
          </a:p>
        </p:txBody>
      </p:sp>
      <p:sp>
        <p:nvSpPr>
          <p:cNvPr id="40" name="Text 36">
            <a:extLst>
              <a:ext uri="{FF2B5EF4-FFF2-40B4-BE49-F238E27FC236}">
                <a16:creationId xmlns:a16="http://schemas.microsoft.com/office/drawing/2014/main" id="{4085DB36-EF26-33C0-97A3-A67140EA3456}"/>
              </a:ext>
            </a:extLst>
          </p:cNvPr>
          <p:cNvSpPr txBox="1"/>
          <p:nvPr/>
        </p:nvSpPr>
        <p:spPr>
          <a:xfrm>
            <a:off x="4800600" y="731520"/>
            <a:ext cx="3886200" cy="731520"/>
          </a:xfrm>
          <a:prstGeom prst="rect">
            <a:avLst/>
          </a:prstGeom>
          <a:noFill/>
          <a:ln>
            <a:noFill/>
          </a:ln>
        </p:spPr>
        <p:txBody>
          <a:bodyPr vert="horz" wrap="square" lIns="0" tIns="0" rIns="0" bIns="0" anchor="t" anchorCtr="0" compatLnSpc="1">
            <a:noAutofit/>
          </a:bodyPr>
          <a:lstStyle/>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Divertirsi con gli amici e far ridere il gruppo</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Essere apprezzato per la sua ironia</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Non passare per "quello pesante" che non sa stare allo scherzo</a:t>
            </a:r>
          </a:p>
        </p:txBody>
      </p:sp>
      <p:sp>
        <p:nvSpPr>
          <p:cNvPr id="41" name="Shape 37">
            <a:extLst>
              <a:ext uri="{FF2B5EF4-FFF2-40B4-BE49-F238E27FC236}">
                <a16:creationId xmlns:a16="http://schemas.microsoft.com/office/drawing/2014/main" id="{8D273934-C939-0D85-3AD0-446C0D578CC4}"/>
              </a:ext>
            </a:extLst>
          </p:cNvPr>
          <p:cNvSpPr/>
          <p:nvPr/>
        </p:nvSpPr>
        <p:spPr>
          <a:xfrm>
            <a:off x="4700016" y="1773936"/>
            <a:ext cx="4206240" cy="1417320"/>
          </a:xfrm>
          <a:prstGeom prst="rect">
            <a:avLst/>
          </a:prstGeom>
          <a:solidFill>
            <a:srgbClr val="111111"/>
          </a:solidFill>
          <a:ln w="12701">
            <a:solidFill>
              <a:srgbClr val="111111"/>
            </a:solidFill>
            <a:prstDash val="solid"/>
          </a:ln>
        </p:spPr>
        <p:txBody>
          <a:bodyPr lIns="0" tIns="0" rIns="0" bIns="0"/>
          <a:lstStyle/>
          <a:p>
            <a:endParaRPr lang="it-IT"/>
          </a:p>
        </p:txBody>
      </p:sp>
      <p:sp>
        <p:nvSpPr>
          <p:cNvPr id="42" name="Shape 38">
            <a:extLst>
              <a:ext uri="{FF2B5EF4-FFF2-40B4-BE49-F238E27FC236}">
                <a16:creationId xmlns:a16="http://schemas.microsoft.com/office/drawing/2014/main" id="{70E209C9-82CA-5988-8AB6-EC9CB9B6D41A}"/>
              </a:ext>
            </a:extLst>
          </p:cNvPr>
          <p:cNvSpPr/>
          <p:nvPr/>
        </p:nvSpPr>
        <p:spPr>
          <a:xfrm>
            <a:off x="4617720" y="1691640"/>
            <a:ext cx="4206240" cy="1417320"/>
          </a:xfrm>
          <a:prstGeom prst="rect">
            <a:avLst/>
          </a:prstGeom>
          <a:solidFill>
            <a:srgbClr val="1C14E6"/>
          </a:solidFill>
          <a:ln w="15873">
            <a:solidFill>
              <a:srgbClr val="111111"/>
            </a:solidFill>
            <a:prstDash val="solid"/>
          </a:ln>
        </p:spPr>
        <p:txBody>
          <a:bodyPr lIns="0" tIns="0" rIns="0" bIns="0"/>
          <a:lstStyle/>
          <a:p>
            <a:endParaRPr lang="it-IT"/>
          </a:p>
        </p:txBody>
      </p:sp>
      <p:sp>
        <p:nvSpPr>
          <p:cNvPr id="43" name="Shape 39">
            <a:extLst>
              <a:ext uri="{FF2B5EF4-FFF2-40B4-BE49-F238E27FC236}">
                <a16:creationId xmlns:a16="http://schemas.microsoft.com/office/drawing/2014/main" id="{82CC55F4-6D27-A9AB-4777-4FAF33BF3CA8}"/>
              </a:ext>
            </a:extLst>
          </p:cNvPr>
          <p:cNvSpPr/>
          <p:nvPr/>
        </p:nvSpPr>
        <p:spPr>
          <a:xfrm>
            <a:off x="4754880" y="1783080"/>
            <a:ext cx="292608" cy="29260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2701">
            <a:solidFill>
              <a:srgbClr val="FFFFFF"/>
            </a:solidFill>
            <a:prstDash val="solid"/>
          </a:ln>
        </p:spPr>
        <p:txBody>
          <a:bodyPr lIns="0" tIns="0" rIns="0" bIns="0"/>
          <a:lstStyle/>
          <a:p>
            <a:endParaRPr lang="it-IT"/>
          </a:p>
        </p:txBody>
      </p:sp>
      <p:pic>
        <p:nvPicPr>
          <p:cNvPr id="44" name="Image 2" descr="preencoded.png">
            <a:extLst>
              <a:ext uri="{FF2B5EF4-FFF2-40B4-BE49-F238E27FC236}">
                <a16:creationId xmlns:a16="http://schemas.microsoft.com/office/drawing/2014/main" id="{55C412CA-DA8D-CB73-2606-7DFE94F82F7A}"/>
              </a:ext>
            </a:extLst>
          </p:cNvPr>
          <p:cNvPicPr>
            <a:picLocks noChangeAspect="1"/>
          </p:cNvPicPr>
          <p:nvPr/>
        </p:nvPicPr>
        <p:blipFill>
          <a:blip r:embed="rId5"/>
          <a:stretch>
            <a:fillRect/>
          </a:stretch>
        </p:blipFill>
        <p:spPr>
          <a:xfrm>
            <a:off x="4818888" y="1847088"/>
            <a:ext cx="164592" cy="164592"/>
          </a:xfrm>
          <a:prstGeom prst="rect">
            <a:avLst/>
          </a:prstGeom>
          <a:noFill/>
          <a:ln>
            <a:noFill/>
          </a:ln>
        </p:spPr>
      </p:pic>
      <p:sp>
        <p:nvSpPr>
          <p:cNvPr id="45" name="Text 40">
            <a:extLst>
              <a:ext uri="{FF2B5EF4-FFF2-40B4-BE49-F238E27FC236}">
                <a16:creationId xmlns:a16="http://schemas.microsoft.com/office/drawing/2014/main" id="{5F6C1198-792C-8028-65FF-6D89C31B74B4}"/>
              </a:ext>
            </a:extLst>
          </p:cNvPr>
          <p:cNvSpPr txBox="1"/>
          <p:nvPr/>
        </p:nvSpPr>
        <p:spPr>
          <a:xfrm>
            <a:off x="5138927" y="1783080"/>
            <a:ext cx="3200400" cy="29260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Space Mono" pitchFamily="34"/>
                <a:ea typeface="Space Mono" pitchFamily="34"/>
                <a:cs typeface="Space Mono" pitchFamily="34"/>
              </a:rPr>
              <a:t>bisogni e aspettative</a:t>
            </a:r>
            <a:endParaRPr lang="en-US" sz="1200" b="0" i="0" u="none" strike="noStrike" kern="1200" cap="none" spc="0" baseline="0">
              <a:solidFill>
                <a:srgbClr val="111111"/>
              </a:solidFill>
              <a:uFillTx/>
              <a:latin typeface="Space Mono"/>
              <a:ea typeface="Space Mono"/>
              <a:cs typeface="Space Mono"/>
            </a:endParaRPr>
          </a:p>
        </p:txBody>
      </p:sp>
      <p:sp>
        <p:nvSpPr>
          <p:cNvPr id="46" name="Text 41">
            <a:extLst>
              <a:ext uri="{FF2B5EF4-FFF2-40B4-BE49-F238E27FC236}">
                <a16:creationId xmlns:a16="http://schemas.microsoft.com/office/drawing/2014/main" id="{36D1BF30-E742-8C91-F25D-FFA41D25D5EA}"/>
              </a:ext>
            </a:extLst>
          </p:cNvPr>
          <p:cNvSpPr txBox="1"/>
          <p:nvPr/>
        </p:nvSpPr>
        <p:spPr>
          <a:xfrm>
            <a:off x="4800600" y="2148839"/>
            <a:ext cx="3886200" cy="91440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200"/>
              </a:spcAft>
              <a:buNone/>
              <a:tabLst/>
              <a:defRPr sz="1800" b="0" i="0" u="none" strike="noStrike" kern="0" cap="none" spc="0" baseline="0">
                <a:solidFill>
                  <a:srgbClr val="000000"/>
                </a:solidFill>
                <a:uFillTx/>
              </a:defRPr>
            </a:pPr>
            <a:r>
              <a:rPr lang="en-US" sz="850" b="1" i="0" u="none" strike="noStrike" kern="1200" cap="none" spc="0" baseline="0">
                <a:solidFill>
                  <a:srgbClr val="FFFFFF"/>
                </a:solidFill>
                <a:uFillTx/>
                <a:latin typeface="Space Mono" pitchFamily="34"/>
                <a:ea typeface="Space Mono" pitchFamily="34"/>
                <a:cs typeface="Space Mono" pitchFamily="34"/>
              </a:rPr>
              <a:t>B8  Capire quando una foto modificata con l'IA smette di essere uno scherzo</a:t>
            </a:r>
            <a:endParaRPr lang="en-US" sz="850" b="0" i="0" u="none" strike="noStrike" kern="1200" cap="none" spc="0" baseline="0">
              <a:solidFill>
                <a:srgbClr val="111111"/>
              </a:solidFill>
              <a:uFillTx/>
              <a:latin typeface="Space Mono"/>
              <a:ea typeface="Space Mono"/>
              <a:cs typeface="Space Mono"/>
            </a:endParaRPr>
          </a:p>
          <a:p>
            <a:pPr marL="0" marR="0" lvl="0" indent="0" algn="just" defTabSz="914400" rtl="0" fontAlgn="auto" hangingPunct="1">
              <a:lnSpc>
                <a:spcPct val="100000"/>
              </a:lnSpc>
              <a:spcBef>
                <a:spcPts val="0"/>
              </a:spcBef>
              <a:spcAft>
                <a:spcPts val="200"/>
              </a:spcAft>
              <a:buNone/>
              <a:tabLst/>
              <a:defRPr sz="1800" b="0" i="0" u="none" strike="noStrike" kern="0" cap="none" spc="0" baseline="0">
                <a:solidFill>
                  <a:srgbClr val="000000"/>
                </a:solidFill>
                <a:uFillTx/>
              </a:defRPr>
            </a:pPr>
            <a:r>
              <a:rPr lang="en-US" sz="850" b="0" i="0" u="none" strike="noStrike" kern="1200" cap="none" spc="0" baseline="0">
                <a:solidFill>
                  <a:srgbClr val="FFFFFF"/>
                </a:solidFill>
                <a:uFillTx/>
                <a:latin typeface="Plus Jakarta Sans"/>
                <a:ea typeface="Plus Jakarta Sans"/>
                <a:cs typeface="Plus Jakarta Sans"/>
              </a:rPr>
              <a:t>Valutare consenso, danno e diffusione, non solo la risata</a:t>
            </a:r>
            <a:endParaRPr lang="en-US" sz="85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200"/>
              </a:spcAft>
              <a:buNone/>
              <a:tabLst/>
              <a:defRPr sz="1800" b="0" i="0" u="none" strike="noStrike" kern="0" cap="none" spc="0" baseline="0">
                <a:solidFill>
                  <a:srgbClr val="000000"/>
                </a:solidFill>
                <a:uFillTx/>
              </a:defRPr>
            </a:pPr>
            <a:r>
              <a:rPr lang="en-US" sz="850" b="0" i="0" u="none" strike="noStrike" kern="1200" cap="none" spc="0" baseline="0">
                <a:solidFill>
                  <a:srgbClr val="FFFFFF"/>
                </a:solidFill>
                <a:uFillTx/>
                <a:latin typeface="Plus Jakarta Sans"/>
                <a:ea typeface="Plus Jakarta Sans"/>
                <a:cs typeface="Plus Jakarta Sans"/>
              </a:rPr>
              <a:t>Vedere la scena dal punto di vista di chi la subisce</a:t>
            </a:r>
            <a:endParaRPr lang="en-US" sz="85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200"/>
              </a:spcAft>
              <a:buNone/>
              <a:tabLst/>
              <a:defRPr sz="1800" b="0" i="0" u="none" strike="noStrike" kern="0" cap="none" spc="0" baseline="0">
                <a:solidFill>
                  <a:srgbClr val="000000"/>
                </a:solidFill>
                <a:uFillTx/>
              </a:defRPr>
            </a:pPr>
            <a:r>
              <a:rPr lang="en-US" sz="850" b="0" i="0" u="none" strike="noStrike" kern="1200" cap="none" spc="0" baseline="0">
                <a:solidFill>
                  <a:srgbClr val="FFFFFF"/>
                </a:solidFill>
                <a:uFillTx/>
                <a:latin typeface="Plus Jakarta Sans"/>
                <a:ea typeface="Plus Jakarta Sans"/>
                <a:cs typeface="Plus Jakarta Sans"/>
              </a:rPr>
              <a:t>Sapere come rimediare, da autore o da spettatore</a:t>
            </a:r>
            <a:endParaRPr lang="en-US" sz="850" b="0" i="0" u="none" strike="noStrike" kern="1200" cap="none" spc="0" baseline="0">
              <a:solidFill>
                <a:srgbClr val="111111"/>
              </a:solidFill>
              <a:uFillTx/>
              <a:latin typeface="Plus Jakarta Sans"/>
              <a:ea typeface="Plus Jakarta Sans"/>
              <a:cs typeface="Plus Jakarta Sans"/>
            </a:endParaRPr>
          </a:p>
        </p:txBody>
      </p:sp>
      <p:sp>
        <p:nvSpPr>
          <p:cNvPr id="47" name="Shape 42">
            <a:extLst>
              <a:ext uri="{FF2B5EF4-FFF2-40B4-BE49-F238E27FC236}">
                <a16:creationId xmlns:a16="http://schemas.microsoft.com/office/drawing/2014/main" id="{5002974E-61FA-02BB-9985-72102E1A3A4E}"/>
              </a:ext>
            </a:extLst>
          </p:cNvPr>
          <p:cNvSpPr/>
          <p:nvPr/>
        </p:nvSpPr>
        <p:spPr>
          <a:xfrm>
            <a:off x="4700016" y="3374136"/>
            <a:ext cx="4206240" cy="1325880"/>
          </a:xfrm>
          <a:prstGeom prst="rect">
            <a:avLst/>
          </a:prstGeom>
          <a:solidFill>
            <a:srgbClr val="DCDAFB"/>
          </a:solidFill>
          <a:ln w="12701">
            <a:solidFill>
              <a:srgbClr val="DCDAFB"/>
            </a:solidFill>
            <a:prstDash val="solid"/>
          </a:ln>
        </p:spPr>
        <p:txBody>
          <a:bodyPr lIns="0" tIns="0" rIns="0" bIns="0"/>
          <a:lstStyle/>
          <a:p>
            <a:endParaRPr lang="it-IT"/>
          </a:p>
        </p:txBody>
      </p:sp>
      <p:sp>
        <p:nvSpPr>
          <p:cNvPr id="48" name="Shape 43">
            <a:extLst>
              <a:ext uri="{FF2B5EF4-FFF2-40B4-BE49-F238E27FC236}">
                <a16:creationId xmlns:a16="http://schemas.microsoft.com/office/drawing/2014/main" id="{8057BE96-4A9B-A3F1-2387-244DF5BBA042}"/>
              </a:ext>
            </a:extLst>
          </p:cNvPr>
          <p:cNvSpPr/>
          <p:nvPr/>
        </p:nvSpPr>
        <p:spPr>
          <a:xfrm>
            <a:off x="4617720" y="3291840"/>
            <a:ext cx="4206240" cy="1325880"/>
          </a:xfrm>
          <a:prstGeom prst="rect">
            <a:avLst/>
          </a:prstGeom>
          <a:solidFill>
            <a:srgbClr val="FFFFFF"/>
          </a:solidFill>
          <a:ln w="15873">
            <a:solidFill>
              <a:srgbClr val="111111"/>
            </a:solidFill>
            <a:prstDash val="solid"/>
          </a:ln>
        </p:spPr>
        <p:txBody>
          <a:bodyPr lIns="0" tIns="0" rIns="0" bIns="0"/>
          <a:lstStyle/>
          <a:p>
            <a:endParaRPr lang="it-IT"/>
          </a:p>
        </p:txBody>
      </p:sp>
      <p:sp>
        <p:nvSpPr>
          <p:cNvPr id="49" name="Shape 44">
            <a:extLst>
              <a:ext uri="{FF2B5EF4-FFF2-40B4-BE49-F238E27FC236}">
                <a16:creationId xmlns:a16="http://schemas.microsoft.com/office/drawing/2014/main" id="{53E3A810-6CC4-F5FD-D4B0-3EA0C71D5DE6}"/>
              </a:ext>
            </a:extLst>
          </p:cNvPr>
          <p:cNvSpPr/>
          <p:nvPr/>
        </p:nvSpPr>
        <p:spPr>
          <a:xfrm>
            <a:off x="4754880" y="3383280"/>
            <a:ext cx="292608" cy="29260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C14E6"/>
          </a:solidFill>
          <a:ln w="12701">
            <a:solidFill>
              <a:srgbClr val="1C14E6"/>
            </a:solidFill>
            <a:prstDash val="solid"/>
          </a:ln>
        </p:spPr>
        <p:txBody>
          <a:bodyPr lIns="0" tIns="0" rIns="0" bIns="0"/>
          <a:lstStyle/>
          <a:p>
            <a:endParaRPr lang="it-IT"/>
          </a:p>
        </p:txBody>
      </p:sp>
      <p:pic>
        <p:nvPicPr>
          <p:cNvPr id="50" name="Image 3" descr="preencoded.png">
            <a:extLst>
              <a:ext uri="{FF2B5EF4-FFF2-40B4-BE49-F238E27FC236}">
                <a16:creationId xmlns:a16="http://schemas.microsoft.com/office/drawing/2014/main" id="{69262FEA-B1D2-7025-010D-94D5E3FA382E}"/>
              </a:ext>
            </a:extLst>
          </p:cNvPr>
          <p:cNvPicPr>
            <a:picLocks noChangeAspect="1"/>
          </p:cNvPicPr>
          <p:nvPr/>
        </p:nvPicPr>
        <p:blipFill>
          <a:blip r:embed="rId6"/>
          <a:stretch>
            <a:fillRect/>
          </a:stretch>
        </p:blipFill>
        <p:spPr>
          <a:xfrm>
            <a:off x="4818888" y="3447288"/>
            <a:ext cx="164592" cy="164592"/>
          </a:xfrm>
          <a:prstGeom prst="rect">
            <a:avLst/>
          </a:prstGeom>
          <a:noFill/>
          <a:ln>
            <a:noFill/>
          </a:ln>
        </p:spPr>
      </p:pic>
      <p:sp>
        <p:nvSpPr>
          <p:cNvPr id="51" name="Text 45">
            <a:extLst>
              <a:ext uri="{FF2B5EF4-FFF2-40B4-BE49-F238E27FC236}">
                <a16:creationId xmlns:a16="http://schemas.microsoft.com/office/drawing/2014/main" id="{A93A13B6-9F19-400F-01E0-ED5BA34AECA9}"/>
              </a:ext>
            </a:extLst>
          </p:cNvPr>
          <p:cNvSpPr txBox="1"/>
          <p:nvPr/>
        </p:nvSpPr>
        <p:spPr>
          <a:xfrm>
            <a:off x="5138927" y="3383280"/>
            <a:ext cx="2743200" cy="29260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1C14E6"/>
                </a:solidFill>
                <a:uFillTx/>
                <a:latin typeface="Space Mono" pitchFamily="34"/>
                <a:ea typeface="Space Mono" pitchFamily="34"/>
                <a:cs typeface="Space Mono" pitchFamily="34"/>
              </a:rPr>
              <a:t>frustrazioni</a:t>
            </a:r>
            <a:endParaRPr lang="en-US" sz="1200" b="0" i="0" u="none" strike="noStrike" kern="1200" cap="none" spc="0" baseline="0">
              <a:solidFill>
                <a:srgbClr val="111111"/>
              </a:solidFill>
              <a:uFillTx/>
              <a:latin typeface="Space Mono"/>
              <a:ea typeface="Space Mono"/>
              <a:cs typeface="Space Mono"/>
            </a:endParaRPr>
          </a:p>
        </p:txBody>
      </p:sp>
      <p:sp>
        <p:nvSpPr>
          <p:cNvPr id="52" name="Text 46">
            <a:extLst>
              <a:ext uri="{FF2B5EF4-FFF2-40B4-BE49-F238E27FC236}">
                <a16:creationId xmlns:a16="http://schemas.microsoft.com/office/drawing/2014/main" id="{7DCF6A2E-4D4F-1EEF-1F67-8E9FCB77047C}"/>
              </a:ext>
            </a:extLst>
          </p:cNvPr>
          <p:cNvSpPr txBox="1"/>
          <p:nvPr/>
        </p:nvSpPr>
        <p:spPr>
          <a:xfrm>
            <a:off x="4800600" y="3749039"/>
            <a:ext cx="3886200" cy="777240"/>
          </a:xfrm>
          <a:prstGeom prst="rect">
            <a:avLst/>
          </a:prstGeom>
          <a:noFill/>
          <a:ln>
            <a:noFill/>
          </a:ln>
        </p:spPr>
        <p:txBody>
          <a:bodyPr vert="horz" wrap="square" lIns="0" tIns="0" rIns="0" bIns="0" anchor="t" anchorCtr="0" compatLnSpc="1">
            <a:noAutofit/>
          </a:bodyPr>
          <a:lstStyle/>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Gli adulti che "fanno un dramma" per una battuta</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Regole su cosa non si può fare, senza capire perché</a:t>
            </a:r>
          </a:p>
          <a:p>
            <a:pPr marL="342900" marR="0" lvl="0" indent="-342900" algn="just" defTabSz="914400" rtl="0" fontAlgn="auto" hangingPunct="1">
              <a:lnSpc>
                <a:spcPct val="100000"/>
              </a:lnSpc>
              <a:spcBef>
                <a:spcPts val="0"/>
              </a:spcBef>
              <a:spcAft>
                <a:spcPts val="200"/>
              </a:spcAft>
              <a:buSzPct val="100000"/>
              <a:buChar char="•"/>
              <a:tabLst/>
              <a:defRPr sz="1800" b="0" i="0" u="none" strike="noStrike" kern="0" cap="none" spc="0" baseline="0">
                <a:solidFill>
                  <a:srgbClr val="000000"/>
                </a:solidFill>
                <a:uFillTx/>
              </a:defRPr>
            </a:pPr>
            <a:r>
              <a:rPr lang="en-US" sz="900" b="0" i="0" u="none" strike="noStrike" kern="1200" cap="none" spc="0" baseline="0">
                <a:solidFill>
                  <a:srgbClr val="111111"/>
                </a:solidFill>
                <a:uFillTx/>
                <a:latin typeface="Plus Jakarta Sans"/>
                <a:ea typeface="Plus Jakarta Sans"/>
                <a:cs typeface="Plus Jakarta Sans"/>
              </a:rPr>
              <a:t>Non accorgersi quando un amico ride solo per non sembrare debole</a:t>
            </a:r>
          </a:p>
        </p:txBody>
      </p:sp>
    </p:spTree>
    <p:extLst>
      <p:ext uri="{BB962C8B-B14F-4D97-AF65-F5344CB8AC3E}">
        <p14:creationId xmlns:p14="http://schemas.microsoft.com/office/powerpoint/2010/main" val="2575725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7B0C98D-EBFC-27F6-6F36-8C6F3B35C9F8}"/>
              </a:ext>
            </a:extLst>
          </p:cNvPr>
          <p:cNvSpPr txBox="1"/>
          <p:nvPr/>
        </p:nvSpPr>
        <p:spPr>
          <a:xfrm>
            <a:off x="274320" y="73152"/>
            <a:ext cx="54864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1C14E6"/>
                </a:solidFill>
                <a:uFillTx/>
                <a:latin typeface="Space Mono"/>
                <a:ea typeface="Space Mono"/>
                <a:cs typeface="Space Mono"/>
              </a:rPr>
              <a:t>23</a:t>
            </a:r>
            <a:endParaRPr lang="en-US" sz="9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5653AF58-6851-E979-ED30-C03FF020C23B}"/>
              </a:ext>
            </a:extLst>
          </p:cNvPr>
          <p:cNvSpPr txBox="1"/>
          <p:nvPr/>
        </p:nvSpPr>
        <p:spPr>
          <a:xfrm>
            <a:off x="274320" y="4846320"/>
            <a:ext cx="36576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a:solidFill>
                  <a:srgbClr val="1C14E6"/>
                </a:solidFill>
                <a:uFillTx/>
                <a:latin typeface="Space Mono"/>
                <a:ea typeface="Space Mono"/>
                <a:cs typeface="Space Mono"/>
              </a:rPr>
              <a:t>2026-27 ° polimi – Fondamenti di HCI</a:t>
            </a:r>
            <a:endParaRPr lang="en-US" sz="8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5BA9B3F1-B7C7-CEDA-ACB6-A6FA9912D470}"/>
              </a:ext>
            </a:extLst>
          </p:cNvPr>
          <p:cNvSpPr/>
          <p:nvPr/>
        </p:nvSpPr>
        <p:spPr>
          <a:xfrm rot="21480004">
            <a:off x="502921" y="384048"/>
            <a:ext cx="3749039" cy="4023360"/>
          </a:xfrm>
          <a:prstGeom prst="rect">
            <a:avLst/>
          </a:prstGeom>
          <a:solidFill>
            <a:srgbClr val="1C14E6"/>
          </a:solidFill>
          <a:ln w="12701">
            <a:solidFill>
              <a:srgbClr val="1C14E6"/>
            </a:solidFill>
            <a:prstDash val="solid"/>
          </a:ln>
        </p:spPr>
        <p:txBody>
          <a:bodyPr lIns="0" tIns="0" rIns="0" bIns="0"/>
          <a:lstStyle/>
          <a:p>
            <a:endParaRPr lang="it-IT"/>
          </a:p>
        </p:txBody>
      </p:sp>
      <p:sp>
        <p:nvSpPr>
          <p:cNvPr id="5" name="Shape 3">
            <a:extLst>
              <a:ext uri="{FF2B5EF4-FFF2-40B4-BE49-F238E27FC236}">
                <a16:creationId xmlns:a16="http://schemas.microsoft.com/office/drawing/2014/main" id="{D828A9D7-8D00-CF6B-8CB1-714A5F543650}"/>
              </a:ext>
            </a:extLst>
          </p:cNvPr>
          <p:cNvSpPr/>
          <p:nvPr/>
        </p:nvSpPr>
        <p:spPr>
          <a:xfrm rot="21480004">
            <a:off x="365760" y="274320"/>
            <a:ext cx="3749039" cy="4023360"/>
          </a:xfrm>
          <a:prstGeom prst="rect">
            <a:avLst/>
          </a:prstGeom>
          <a:solidFill>
            <a:srgbClr val="FFFFFF"/>
          </a:solidFill>
          <a:ln w="19046">
            <a:solidFill>
              <a:srgbClr val="111111"/>
            </a:solidFill>
            <a:prstDash val="solid"/>
          </a:ln>
        </p:spPr>
        <p:txBody>
          <a:bodyPr lIns="0" tIns="0" rIns="0" bIns="0"/>
          <a:lstStyle/>
          <a:p>
            <a:endParaRPr lang="it-IT"/>
          </a:p>
        </p:txBody>
      </p:sp>
      <p:sp>
        <p:nvSpPr>
          <p:cNvPr id="6" name="Shape 4">
            <a:extLst>
              <a:ext uri="{FF2B5EF4-FFF2-40B4-BE49-F238E27FC236}">
                <a16:creationId xmlns:a16="http://schemas.microsoft.com/office/drawing/2014/main" id="{C9CE2DEB-B91E-CC67-B810-819BB70C8DEC}"/>
              </a:ext>
            </a:extLst>
          </p:cNvPr>
          <p:cNvSpPr/>
          <p:nvPr/>
        </p:nvSpPr>
        <p:spPr>
          <a:xfrm rot="21480004">
            <a:off x="548639" y="457200"/>
            <a:ext cx="3383280" cy="3657600"/>
          </a:xfrm>
          <a:prstGeom prst="rect">
            <a:avLst/>
          </a:prstGeom>
          <a:noFill/>
          <a:ln w="9528">
            <a:solidFill>
              <a:srgbClr val="888888"/>
            </a:solidFill>
            <a:custDash>
              <a:ds d="299906" sp="299906"/>
            </a:custDash>
          </a:ln>
        </p:spPr>
        <p:txBody>
          <a:bodyPr lIns="0" tIns="0" rIns="0" bIns="0"/>
          <a:lstStyle/>
          <a:p>
            <a:endParaRPr lang="it-IT"/>
          </a:p>
        </p:txBody>
      </p:sp>
      <p:pic>
        <p:nvPicPr>
          <p:cNvPr id="7" name="Image 0" descr="preencoded.png">
            <a:extLst>
              <a:ext uri="{FF2B5EF4-FFF2-40B4-BE49-F238E27FC236}">
                <a16:creationId xmlns:a16="http://schemas.microsoft.com/office/drawing/2014/main" id="{78B998F1-6DDF-1F57-BEA6-C2958004283B}"/>
              </a:ext>
            </a:extLst>
          </p:cNvPr>
          <p:cNvPicPr>
            <a:picLocks noChangeAspect="1"/>
          </p:cNvPicPr>
          <p:nvPr/>
        </p:nvPicPr>
        <p:blipFill>
          <a:blip r:embed="rId3"/>
          <a:stretch>
            <a:fillRect/>
          </a:stretch>
        </p:blipFill>
        <p:spPr>
          <a:xfrm rot="21480004">
            <a:off x="777239" y="457200"/>
            <a:ext cx="2926080" cy="2926080"/>
          </a:xfrm>
          <a:prstGeom prst="rect">
            <a:avLst/>
          </a:prstGeom>
          <a:noFill/>
          <a:ln>
            <a:noFill/>
          </a:ln>
        </p:spPr>
      </p:pic>
      <p:sp>
        <p:nvSpPr>
          <p:cNvPr id="8" name="Shape 5">
            <a:extLst>
              <a:ext uri="{FF2B5EF4-FFF2-40B4-BE49-F238E27FC236}">
                <a16:creationId xmlns:a16="http://schemas.microsoft.com/office/drawing/2014/main" id="{1BDB4D70-161E-0C5F-B63C-B01A11D7DB38}"/>
              </a:ext>
            </a:extLst>
          </p:cNvPr>
          <p:cNvSpPr/>
          <p:nvPr/>
        </p:nvSpPr>
        <p:spPr>
          <a:xfrm rot="21359993">
            <a:off x="1417320" y="164592"/>
            <a:ext cx="1188720" cy="201168"/>
          </a:xfrm>
          <a:prstGeom prst="rect">
            <a:avLst/>
          </a:prstGeom>
          <a:solidFill>
            <a:srgbClr val="E3202B"/>
          </a:solidFill>
          <a:ln w="12701">
            <a:solidFill>
              <a:srgbClr val="E3202B"/>
            </a:solidFill>
            <a:prstDash val="solid"/>
          </a:ln>
        </p:spPr>
        <p:txBody>
          <a:bodyPr lIns="0" tIns="0" rIns="0" bIns="0"/>
          <a:lstStyle/>
          <a:p>
            <a:endParaRPr lang="it-IT"/>
          </a:p>
        </p:txBody>
      </p:sp>
      <p:sp>
        <p:nvSpPr>
          <p:cNvPr id="9" name="Shape 6">
            <a:extLst>
              <a:ext uri="{FF2B5EF4-FFF2-40B4-BE49-F238E27FC236}">
                <a16:creationId xmlns:a16="http://schemas.microsoft.com/office/drawing/2014/main" id="{AD01AB58-4544-C286-B212-E3E5EE70BC0E}"/>
              </a:ext>
            </a:extLst>
          </p:cNvPr>
          <p:cNvSpPr/>
          <p:nvPr/>
        </p:nvSpPr>
        <p:spPr>
          <a:xfrm rot="21420016">
            <a:off x="566928" y="3520439"/>
            <a:ext cx="3566160" cy="502920"/>
          </a:xfrm>
          <a:prstGeom prst="rect">
            <a:avLst/>
          </a:prstGeom>
          <a:solidFill>
            <a:srgbClr val="111111"/>
          </a:solidFill>
          <a:ln w="12701">
            <a:solidFill>
              <a:srgbClr val="111111"/>
            </a:solidFill>
            <a:prstDash val="solid"/>
          </a:ln>
        </p:spPr>
        <p:txBody>
          <a:bodyPr lIns="0" tIns="0" rIns="0" bIns="0"/>
          <a:lstStyle/>
          <a:p>
            <a:endParaRPr lang="it-IT"/>
          </a:p>
        </p:txBody>
      </p:sp>
      <p:sp>
        <p:nvSpPr>
          <p:cNvPr id="10" name="Shape 7">
            <a:extLst>
              <a:ext uri="{FF2B5EF4-FFF2-40B4-BE49-F238E27FC236}">
                <a16:creationId xmlns:a16="http://schemas.microsoft.com/office/drawing/2014/main" id="{A6FF7A00-AB40-DC9B-7FC0-F251F3D50F8C}"/>
              </a:ext>
            </a:extLst>
          </p:cNvPr>
          <p:cNvSpPr/>
          <p:nvPr/>
        </p:nvSpPr>
        <p:spPr>
          <a:xfrm rot="21420016">
            <a:off x="502920" y="3456431"/>
            <a:ext cx="3566160" cy="502920"/>
          </a:xfrm>
          <a:prstGeom prst="rect">
            <a:avLst/>
          </a:prstGeom>
          <a:solidFill>
            <a:srgbClr val="1C14E6"/>
          </a:solidFill>
          <a:ln w="12701">
            <a:solidFill>
              <a:srgbClr val="111111"/>
            </a:solidFill>
            <a:prstDash val="solid"/>
          </a:ln>
        </p:spPr>
        <p:txBody>
          <a:bodyPr lIns="0" tIns="0" rIns="0" bIns="0"/>
          <a:lstStyle/>
          <a:p>
            <a:endParaRPr lang="it-IT"/>
          </a:p>
        </p:txBody>
      </p:sp>
      <p:sp>
        <p:nvSpPr>
          <p:cNvPr id="11" name="Text 8">
            <a:extLst>
              <a:ext uri="{FF2B5EF4-FFF2-40B4-BE49-F238E27FC236}">
                <a16:creationId xmlns:a16="http://schemas.microsoft.com/office/drawing/2014/main" id="{279ECB90-D29E-10BC-DF82-C1C3A4DA3128}"/>
              </a:ext>
            </a:extLst>
          </p:cNvPr>
          <p:cNvSpPr txBox="1"/>
          <p:nvPr/>
        </p:nvSpPr>
        <p:spPr>
          <a:xfrm rot="21420016">
            <a:off x="502920" y="3456431"/>
            <a:ext cx="3566160" cy="502920"/>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a:solidFill>
                  <a:srgbClr val="FFFFFF"/>
                </a:solidFill>
                <a:uFillTx/>
                <a:latin typeface="Plus Jakarta Sans"/>
                <a:ea typeface="Plus Jakarta Sans"/>
                <a:cs typeface="Plus Jakarta Sans"/>
              </a:rPr>
              <a:t>Dai, è solo uno scherzo, rilassati</a:t>
            </a:r>
            <a:endParaRPr lang="en-US" sz="1300" b="0" i="0" u="none" strike="noStrike" kern="1200" cap="none" spc="0" baseline="0">
              <a:solidFill>
                <a:srgbClr val="111111"/>
              </a:solidFill>
              <a:uFillTx/>
              <a:latin typeface="Plus Jakarta Sans"/>
              <a:ea typeface="Plus Jakarta Sans"/>
              <a:cs typeface="Plus Jakarta Sans"/>
            </a:endParaRPr>
          </a:p>
        </p:txBody>
      </p:sp>
      <p:sp>
        <p:nvSpPr>
          <p:cNvPr id="12" name="Text 9">
            <a:extLst>
              <a:ext uri="{FF2B5EF4-FFF2-40B4-BE49-F238E27FC236}">
                <a16:creationId xmlns:a16="http://schemas.microsoft.com/office/drawing/2014/main" id="{B9685C41-7CCA-A5D7-D8E0-F3C070AFD944}"/>
              </a:ext>
            </a:extLst>
          </p:cNvPr>
          <p:cNvSpPr txBox="1"/>
          <p:nvPr/>
        </p:nvSpPr>
        <p:spPr>
          <a:xfrm>
            <a:off x="4663440" y="320040"/>
            <a:ext cx="3657600" cy="22860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3202B"/>
                </a:solidFill>
                <a:uFillTx/>
                <a:latin typeface="Space Mono"/>
                <a:ea typeface="Space Mono"/>
                <a:cs typeface="Space Mono"/>
              </a:rPr>
              <a:t>la storia di Lorenzo</a:t>
            </a:r>
            <a:endParaRPr lang="en-US" sz="1000" b="0" i="0" u="none" strike="noStrike" kern="1200" cap="none" spc="0" baseline="0">
              <a:solidFill>
                <a:srgbClr val="111111"/>
              </a:solidFill>
              <a:uFillTx/>
              <a:latin typeface="Space Mono"/>
              <a:ea typeface="Space Mono"/>
              <a:cs typeface="Space Mono"/>
            </a:endParaRPr>
          </a:p>
        </p:txBody>
      </p:sp>
      <p:sp>
        <p:nvSpPr>
          <p:cNvPr id="13" name="Text 10">
            <a:extLst>
              <a:ext uri="{FF2B5EF4-FFF2-40B4-BE49-F238E27FC236}">
                <a16:creationId xmlns:a16="http://schemas.microsoft.com/office/drawing/2014/main" id="{BE13E68F-1E5D-6635-76C0-FFC4A7736C3E}"/>
              </a:ext>
            </a:extLst>
          </p:cNvPr>
          <p:cNvSpPr txBox="1"/>
          <p:nvPr/>
        </p:nvSpPr>
        <p:spPr>
          <a:xfrm>
            <a:off x="4663440" y="566928"/>
            <a:ext cx="4297680" cy="50292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C14E6"/>
                </a:solidFill>
                <a:uFillTx/>
                <a:latin typeface="Space Mono"/>
                <a:ea typeface="Space Mono"/>
                <a:cs typeface="Space Mono"/>
              </a:rPr>
              <a:t>Solo uno scherzo</a:t>
            </a:r>
            <a:endParaRPr lang="en-US" sz="2600" b="0" i="0" u="none" strike="noStrike" kern="1200" cap="none" spc="0" baseline="0">
              <a:solidFill>
                <a:srgbClr val="111111"/>
              </a:solidFill>
              <a:uFillTx/>
              <a:latin typeface="Space Mono"/>
              <a:ea typeface="Space Mono"/>
              <a:cs typeface="Space Mono"/>
            </a:endParaRPr>
          </a:p>
        </p:txBody>
      </p:sp>
      <p:sp>
        <p:nvSpPr>
          <p:cNvPr id="14" name="Shape 11">
            <a:extLst>
              <a:ext uri="{FF2B5EF4-FFF2-40B4-BE49-F238E27FC236}">
                <a16:creationId xmlns:a16="http://schemas.microsoft.com/office/drawing/2014/main" id="{6E30479C-64E6-D460-AC53-7BCEABF4E036}"/>
              </a:ext>
            </a:extLst>
          </p:cNvPr>
          <p:cNvSpPr/>
          <p:nvPr/>
        </p:nvSpPr>
        <p:spPr>
          <a:xfrm>
            <a:off x="4663440" y="1161288"/>
            <a:ext cx="4069080" cy="274320"/>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1C14E6"/>
          </a:solidFill>
          <a:ln w="19046">
            <a:solidFill>
              <a:srgbClr val="111111"/>
            </a:solidFill>
            <a:prstDash val="solid"/>
          </a:ln>
        </p:spPr>
        <p:txBody>
          <a:bodyPr lIns="0" tIns="0" rIns="0" bIns="0"/>
          <a:lstStyle/>
          <a:p>
            <a:endParaRPr lang="it-IT"/>
          </a:p>
        </p:txBody>
      </p:sp>
      <p:sp>
        <p:nvSpPr>
          <p:cNvPr id="15" name="Text 12">
            <a:extLst>
              <a:ext uri="{FF2B5EF4-FFF2-40B4-BE49-F238E27FC236}">
                <a16:creationId xmlns:a16="http://schemas.microsoft.com/office/drawing/2014/main" id="{7EB6FD5A-1759-1547-8058-42CD387F8CEF}"/>
              </a:ext>
            </a:extLst>
          </p:cNvPr>
          <p:cNvSpPr txBox="1"/>
          <p:nvPr/>
        </p:nvSpPr>
        <p:spPr>
          <a:xfrm>
            <a:off x="4663440" y="1161288"/>
            <a:ext cx="4069080" cy="274320"/>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00" b="1" i="0" u="none" strike="noStrike" kern="1200" cap="none" spc="0" baseline="0">
                <a:solidFill>
                  <a:srgbClr val="FFFFFF"/>
                </a:solidFill>
                <a:uFillTx/>
                <a:latin typeface="Space Mono"/>
                <a:ea typeface="Space Mono"/>
                <a:cs typeface="Space Mono"/>
              </a:rPr>
              <a:t>B8 · </a:t>
            </a:r>
            <a:r>
              <a:rPr lang="en-US" sz="700" b="0" i="0" u="none" strike="noStrike" kern="1200" cap="none" spc="0" baseline="0">
                <a:solidFill>
                  <a:srgbClr val="FFFFFF"/>
                </a:solidFill>
                <a:uFillTx/>
                <a:latin typeface="Space Mono"/>
                <a:ea typeface="Space Mono"/>
                <a:cs typeface="Space Mono"/>
              </a:rPr>
              <a:t>capire quando una foto modificata smette di essere uno scherzo</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700" b="1" i="0" u="none" strike="noStrike" kern="1200" cap="none" spc="0" baseline="0">
              <a:solidFill>
                <a:srgbClr val="FFFFFF"/>
              </a:solidFill>
              <a:uFillTx/>
              <a:latin typeface="Courier New"/>
              <a:ea typeface="Plus Jakarta Sans"/>
              <a:cs typeface="Courier New"/>
            </a:endParaRPr>
          </a:p>
        </p:txBody>
      </p:sp>
      <p:sp>
        <p:nvSpPr>
          <p:cNvPr id="16" name="Text 13">
            <a:extLst>
              <a:ext uri="{FF2B5EF4-FFF2-40B4-BE49-F238E27FC236}">
                <a16:creationId xmlns:a16="http://schemas.microsoft.com/office/drawing/2014/main" id="{CB8D9A0F-2035-1805-28F8-15C236D3F2F1}"/>
              </a:ext>
            </a:extLst>
          </p:cNvPr>
          <p:cNvSpPr txBox="1"/>
          <p:nvPr/>
        </p:nvSpPr>
        <p:spPr>
          <a:xfrm>
            <a:off x="4663440" y="1645920"/>
            <a:ext cx="4160520" cy="292608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Nel gruppo della classe Lorenzo pubblica una foto di Pietro, un compagno, modificata con l'IA per farlo sembrare ridicolo. Ridono tutti. Pietro esce dal gruppo e gli scrive in privato di toglierla. Tommaso pensa che se la prenda troppo: </a:t>
            </a:r>
            <a:r>
              <a:rPr lang="en-US" sz="1100" b="1" i="0" u="none" strike="noStrike" kern="1200" cap="none" spc="0" baseline="0">
                <a:solidFill>
                  <a:srgbClr val="111111"/>
                </a:solidFill>
                <a:uFillTx/>
                <a:latin typeface="Plus Jakarta Sans"/>
                <a:ea typeface="Plus Jakarta Sans"/>
                <a:cs typeface="Plus Jakarta Sans"/>
              </a:rPr>
              <a:t>è uno scherzo, lo fanno tutti.</a:t>
            </a:r>
            <a:endParaRPr lang="it-IT" sz="1100" b="1" i="0" u="none" strike="noStrike" kern="1200" cap="none" spc="0" baseline="0">
              <a:solidFill>
                <a:srgbClr val="111111"/>
              </a:solidFill>
              <a:uFillTx/>
              <a:latin typeface="Plus Jakarta Sans"/>
              <a:ea typeface="Plus Jakarta Sans"/>
              <a:cs typeface="Plus Jakarta San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Due giorni dopo un amico gli dice che la foto sta girando in altri gruppi, anche tra persone che Pietro non conosce. Lorenzo prova a capire se ha davvero fatto qualcosa di grave. Il sistema lo aiuta a ragionare su ciò che conta: Pietro era d'accordo? Che effetto ha su di lui? Chi controlla dove arriverà ora la foto? Gli fa anche vedere la situazione dal punto di vista di chi è preso di mira.</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111111"/>
              </a:solidFill>
              <a:uFillTx/>
              <a:latin typeface="Plus Jakarta Sans"/>
              <a:ea typeface="Plus Jakarta Sans"/>
              <a:cs typeface="Plus Jakarta San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111"/>
                </a:solidFill>
                <a:uFillTx/>
                <a:latin typeface="Plus Jakarta Sans"/>
                <a:ea typeface="Plus Jakarta Sans"/>
                <a:cs typeface="Plus Jakarta Sans"/>
              </a:rPr>
              <a:t>Tommaso </a:t>
            </a:r>
            <a:r>
              <a:rPr lang="en-US" sz="1100" b="1" i="0" u="none" strike="noStrike" kern="1200" cap="none" spc="0" baseline="0">
                <a:solidFill>
                  <a:srgbClr val="111111"/>
                </a:solidFill>
                <a:uFillTx/>
                <a:latin typeface="Plus Jakarta Sans"/>
                <a:ea typeface="Plus Jakarta Sans"/>
                <a:cs typeface="Plus Jakarta Sans"/>
              </a:rPr>
              <a:t>cancella la foto</a:t>
            </a:r>
            <a:r>
              <a:rPr lang="en-US" sz="1100" b="0" i="0" u="none" strike="noStrike" kern="1200" cap="none" spc="0" baseline="0">
                <a:solidFill>
                  <a:srgbClr val="111111"/>
                </a:solidFill>
                <a:uFillTx/>
                <a:latin typeface="Plus Jakarta Sans"/>
                <a:ea typeface="Plus Jakarta Sans"/>
                <a:cs typeface="Plus Jakarta Sans"/>
              </a:rPr>
              <a:t>, chiede agli altri di fare lo stesso e scrive a Pietro per scusarsi. Nel gruppo della classe propone una regola: niente foto modificate di persone che non hanno detto sì.</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100" b="0" i="0" u="none" strike="noStrike" kern="1200" cap="none" spc="0" baseline="0">
              <a:solidFill>
                <a:srgbClr val="111111"/>
              </a:solidFill>
              <a:uFillTx/>
              <a:latin typeface="Plus Jakarta Sans"/>
              <a:ea typeface="Plus Jakarta Sans"/>
              <a:cs typeface="Arial"/>
            </a:endParaRPr>
          </a:p>
        </p:txBody>
      </p:sp>
    </p:spTree>
    <p:extLst>
      <p:ext uri="{BB962C8B-B14F-4D97-AF65-F5344CB8AC3E}">
        <p14:creationId xmlns:p14="http://schemas.microsoft.com/office/powerpoint/2010/main" val="1898004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6AB4389-8DE3-B455-18E0-9A2004E35326}"/>
              </a:ext>
            </a:extLst>
          </p:cNvPr>
          <p:cNvSpPr txBox="1"/>
          <p:nvPr/>
        </p:nvSpPr>
        <p:spPr>
          <a:xfrm>
            <a:off x="502920" y="310896"/>
            <a:ext cx="411480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brainstorming soluzioni su FigJam</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308C4FC8-C8D1-62E4-BDE3-18D490092998}"/>
              </a:ext>
            </a:extLst>
          </p:cNvPr>
          <p:cNvSpPr txBox="1"/>
          <p:nvPr/>
        </p:nvSpPr>
        <p:spPr>
          <a:xfrm>
            <a:off x="502920" y="502920"/>
            <a:ext cx="4572000" cy="8686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pitchFamily="34"/>
                <a:ea typeface="Space Mono" pitchFamily="34"/>
                <a:cs typeface="Space Mono" pitchFamily="34"/>
              </a:rPr>
              <a:t>quattro quadranti,</a:t>
            </a:r>
            <a:endParaRPr lang="en-US" sz="2600" b="0" i="0" u="none" strike="noStrike" kern="1200" cap="none" spc="0" baseline="0">
              <a:solidFill>
                <a:srgbClr val="111111"/>
              </a:solidFill>
              <a:uFillTx/>
              <a:latin typeface="Space Mono"/>
              <a:ea typeface="Space Mono"/>
              <a:cs typeface="Space Mono"/>
            </a:endParaRPr>
          </a:p>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pitchFamily="34"/>
                <a:ea typeface="Space Mono" pitchFamily="34"/>
                <a:cs typeface="Space Mono" pitchFamily="34"/>
              </a:rPr>
              <a:t>una soluzione</a:t>
            </a:r>
            <a:endParaRPr lang="en-US" sz="26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BBD66949-E39E-6590-A546-A240006D7432}"/>
              </a:ext>
            </a:extLst>
          </p:cNvPr>
          <p:cNvSpPr/>
          <p:nvPr/>
        </p:nvSpPr>
        <p:spPr>
          <a:xfrm rot="21539993">
            <a:off x="585216" y="1591057"/>
            <a:ext cx="4937760" cy="2606039"/>
          </a:xfrm>
          <a:prstGeom prst="rect">
            <a:avLst/>
          </a:pr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5" name="Shape 3">
            <a:extLst>
              <a:ext uri="{FF2B5EF4-FFF2-40B4-BE49-F238E27FC236}">
                <a16:creationId xmlns:a16="http://schemas.microsoft.com/office/drawing/2014/main" id="{F6E88EF3-D8FA-D7AE-314D-0D52B2AF0AC4}"/>
              </a:ext>
            </a:extLst>
          </p:cNvPr>
          <p:cNvSpPr/>
          <p:nvPr/>
        </p:nvSpPr>
        <p:spPr>
          <a:xfrm rot="21539993">
            <a:off x="502920" y="1508760"/>
            <a:ext cx="4937760" cy="2606039"/>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6" name="Image 0" descr="quadranti.png">
            <a:extLst>
              <a:ext uri="{FF2B5EF4-FFF2-40B4-BE49-F238E27FC236}">
                <a16:creationId xmlns:a16="http://schemas.microsoft.com/office/drawing/2014/main" id="{0C43D0AE-93DB-7BDD-6968-5AC7C2CEFDFA}"/>
              </a:ext>
            </a:extLst>
          </p:cNvPr>
          <p:cNvPicPr>
            <a:picLocks noChangeAspect="1"/>
          </p:cNvPicPr>
          <p:nvPr/>
        </p:nvPicPr>
        <p:blipFill>
          <a:blip r:embed="rId2"/>
          <a:srcRect/>
          <a:stretch>
            <a:fillRect/>
          </a:stretch>
        </p:blipFill>
        <p:spPr>
          <a:xfrm rot="21539993">
            <a:off x="557784" y="1563623"/>
            <a:ext cx="4828032" cy="2496312"/>
          </a:xfrm>
          <a:prstGeom prst="rect">
            <a:avLst/>
          </a:prstGeom>
          <a:noFill/>
          <a:ln>
            <a:noFill/>
          </a:ln>
        </p:spPr>
      </p:pic>
      <p:sp>
        <p:nvSpPr>
          <p:cNvPr id="7" name="Shape 4">
            <a:extLst>
              <a:ext uri="{FF2B5EF4-FFF2-40B4-BE49-F238E27FC236}">
                <a16:creationId xmlns:a16="http://schemas.microsoft.com/office/drawing/2014/main" id="{9A627027-6B97-F0CD-1A8F-D6CB323F80E0}"/>
              </a:ext>
            </a:extLst>
          </p:cNvPr>
          <p:cNvSpPr/>
          <p:nvPr/>
        </p:nvSpPr>
        <p:spPr>
          <a:xfrm rot="21359993">
            <a:off x="2587752" y="1426464"/>
            <a:ext cx="777240" cy="164592"/>
          </a:xfrm>
          <a:prstGeom prst="rect">
            <a:avLst/>
          </a:prstGeom>
          <a:solidFill>
            <a:srgbClr val="1700E8">
              <a:alpha val="75000"/>
            </a:srgbClr>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8" name="Text 5">
            <a:extLst>
              <a:ext uri="{FF2B5EF4-FFF2-40B4-BE49-F238E27FC236}">
                <a16:creationId xmlns:a16="http://schemas.microsoft.com/office/drawing/2014/main" id="{F3473052-5797-5938-ABEE-7665DFB44A7F}"/>
              </a:ext>
            </a:extLst>
          </p:cNvPr>
          <p:cNvSpPr txBox="1"/>
          <p:nvPr/>
        </p:nvSpPr>
        <p:spPr>
          <a:xfrm>
            <a:off x="5806440" y="502920"/>
            <a:ext cx="28346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6B6B78"/>
                </a:solidFill>
                <a:uFillTx/>
                <a:latin typeface="Space Mono" pitchFamily="34"/>
                <a:ea typeface="Space Mono" pitchFamily="34"/>
                <a:cs typeface="Space Mono" pitchFamily="34"/>
              </a:rPr>
              <a:t>scelta razionale</a:t>
            </a:r>
            <a:endParaRPr lang="en-US" sz="750" b="0" i="0" u="none" strike="noStrike" kern="1200" cap="none" spc="0" baseline="0">
              <a:solidFill>
                <a:srgbClr val="111111"/>
              </a:solidFill>
              <a:uFillTx/>
              <a:latin typeface="Space Mono"/>
              <a:ea typeface="Space Mono"/>
              <a:cs typeface="Space Mono"/>
            </a:endParaRPr>
          </a:p>
        </p:txBody>
      </p:sp>
      <p:sp>
        <p:nvSpPr>
          <p:cNvPr id="9" name="Text 6">
            <a:extLst>
              <a:ext uri="{FF2B5EF4-FFF2-40B4-BE49-F238E27FC236}">
                <a16:creationId xmlns:a16="http://schemas.microsoft.com/office/drawing/2014/main" id="{10D487F7-FC2E-20A3-95C2-D51D90F725F4}"/>
              </a:ext>
            </a:extLst>
          </p:cNvPr>
          <p:cNvSpPr txBox="1"/>
          <p:nvPr/>
        </p:nvSpPr>
        <p:spPr>
          <a:xfrm>
            <a:off x="5806440" y="676656"/>
            <a:ext cx="2834640" cy="219456"/>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700E8"/>
                </a:solidFill>
                <a:uFillTx/>
                <a:latin typeface="Space Mono" pitchFamily="34"/>
                <a:ea typeface="Space Mono" pitchFamily="34"/>
                <a:cs typeface="Space Mono" pitchFamily="34"/>
              </a:rPr>
              <a:t>Solo forum</a:t>
            </a:r>
            <a:endParaRPr lang="en-US" sz="1000" b="0" i="0" u="none" strike="noStrike" kern="1200" cap="none" spc="0" baseline="0">
              <a:solidFill>
                <a:srgbClr val="111111"/>
              </a:solidFill>
              <a:uFillTx/>
              <a:latin typeface="Space Mono"/>
              <a:ea typeface="Space Mono"/>
              <a:cs typeface="Space Mono"/>
            </a:endParaRPr>
          </a:p>
        </p:txBody>
      </p:sp>
      <p:sp>
        <p:nvSpPr>
          <p:cNvPr id="10" name="Text 7">
            <a:extLst>
              <a:ext uri="{FF2B5EF4-FFF2-40B4-BE49-F238E27FC236}">
                <a16:creationId xmlns:a16="http://schemas.microsoft.com/office/drawing/2014/main" id="{C7BFCA46-847E-4520-38B3-5C05C2062535}"/>
              </a:ext>
            </a:extLst>
          </p:cNvPr>
          <p:cNvSpPr txBox="1"/>
          <p:nvPr/>
        </p:nvSpPr>
        <p:spPr>
          <a:xfrm>
            <a:off x="5806440" y="905256"/>
            <a:ext cx="2834640" cy="347472"/>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30" b="0" i="0" u="none" strike="noStrike" kern="1200" cap="none" spc="0" baseline="0">
                <a:solidFill>
                  <a:srgbClr val="111111"/>
                </a:solidFill>
                <a:uFillTx/>
                <a:latin typeface="Plus Jakarta Sans" pitchFamily="34"/>
                <a:ea typeface="Plus Jakarta Sans" pitchFamily="34"/>
                <a:cs typeface="Plus Jakarta Sans" pitchFamily="34"/>
              </a:rPr>
              <a:t>sicura e fattibile, ma da sola non allena</a:t>
            </a:r>
            <a:endParaRPr lang="en-US" sz="830" b="0" i="0" u="none" strike="noStrike" kern="1200" cap="none" spc="0" baseline="0">
              <a:solidFill>
                <a:srgbClr val="111111"/>
              </a:solidFill>
              <a:uFillTx/>
              <a:latin typeface="Plus Jakarta Sans"/>
              <a:ea typeface="Plus Jakarta Sans"/>
              <a:cs typeface="Plus Jakarta Sans"/>
            </a:endParaRPr>
          </a:p>
        </p:txBody>
      </p:sp>
      <p:sp>
        <p:nvSpPr>
          <p:cNvPr id="11" name="Text 8">
            <a:extLst>
              <a:ext uri="{FF2B5EF4-FFF2-40B4-BE49-F238E27FC236}">
                <a16:creationId xmlns:a16="http://schemas.microsoft.com/office/drawing/2014/main" id="{C4FC931F-21C1-D8D5-8625-D0735AF49C5C}"/>
              </a:ext>
            </a:extLst>
          </p:cNvPr>
          <p:cNvSpPr txBox="1"/>
          <p:nvPr/>
        </p:nvSpPr>
        <p:spPr>
          <a:xfrm>
            <a:off x="5806440" y="1289304"/>
            <a:ext cx="28346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6B6B78"/>
                </a:solidFill>
                <a:uFillTx/>
                <a:latin typeface="Space Mono" pitchFamily="34"/>
                <a:ea typeface="Space Mono" pitchFamily="34"/>
                <a:cs typeface="Space Mono" pitchFamily="34"/>
              </a:rPr>
              <a:t>potrebbe piacere di più</a:t>
            </a:r>
            <a:endParaRPr lang="en-US" sz="750" b="0" i="0" u="none" strike="noStrike" kern="1200" cap="none" spc="0" baseline="0">
              <a:solidFill>
                <a:srgbClr val="111111"/>
              </a:solidFill>
              <a:uFillTx/>
              <a:latin typeface="Space Mono"/>
              <a:ea typeface="Space Mono"/>
              <a:cs typeface="Space Mono"/>
            </a:endParaRPr>
          </a:p>
        </p:txBody>
      </p:sp>
      <p:sp>
        <p:nvSpPr>
          <p:cNvPr id="12" name="Text 9">
            <a:extLst>
              <a:ext uri="{FF2B5EF4-FFF2-40B4-BE49-F238E27FC236}">
                <a16:creationId xmlns:a16="http://schemas.microsoft.com/office/drawing/2014/main" id="{0B6BF445-8988-9BE2-A9A6-F02E244DF952}"/>
              </a:ext>
            </a:extLst>
          </p:cNvPr>
          <p:cNvSpPr txBox="1"/>
          <p:nvPr/>
        </p:nvSpPr>
        <p:spPr>
          <a:xfrm>
            <a:off x="5806440" y="1463040"/>
            <a:ext cx="2834640" cy="219456"/>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700E8"/>
                </a:solidFill>
                <a:uFillTx/>
                <a:latin typeface="Space Mono" pitchFamily="34"/>
                <a:ea typeface="Space Mono" pitchFamily="34"/>
                <a:cs typeface="Space Mono" pitchFamily="34"/>
              </a:rPr>
              <a:t>Simulatore IA</a:t>
            </a:r>
            <a:endParaRPr lang="en-US" sz="1000" b="0" i="0" u="none" strike="noStrike" kern="1200" cap="none" spc="0" baseline="0">
              <a:solidFill>
                <a:srgbClr val="111111"/>
              </a:solidFill>
              <a:uFillTx/>
              <a:latin typeface="Space Mono"/>
              <a:ea typeface="Space Mono"/>
              <a:cs typeface="Space Mono"/>
            </a:endParaRPr>
          </a:p>
        </p:txBody>
      </p:sp>
      <p:sp>
        <p:nvSpPr>
          <p:cNvPr id="13" name="Text 10">
            <a:extLst>
              <a:ext uri="{FF2B5EF4-FFF2-40B4-BE49-F238E27FC236}">
                <a16:creationId xmlns:a16="http://schemas.microsoft.com/office/drawing/2014/main" id="{3AD34FBD-03F0-3DF4-C440-7B57A12EF75E}"/>
              </a:ext>
            </a:extLst>
          </p:cNvPr>
          <p:cNvSpPr txBox="1"/>
          <p:nvPr/>
        </p:nvSpPr>
        <p:spPr>
          <a:xfrm>
            <a:off x="5806440" y="1691640"/>
            <a:ext cx="2834640" cy="347472"/>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30" b="0" i="0" u="none" strike="noStrike" kern="1200" cap="none" spc="0" baseline="0">
                <a:solidFill>
                  <a:srgbClr val="111111"/>
                </a:solidFill>
                <a:uFillTx/>
                <a:latin typeface="Plus Jakarta Sans" pitchFamily="34"/>
                <a:ea typeface="Plus Jakarta Sans" pitchFamily="34"/>
                <a:cs typeface="Plus Jakarta Sans" pitchFamily="34"/>
              </a:rPr>
              <a:t>piace di più, ma senza supporto lascia soli</a:t>
            </a:r>
            <a:endParaRPr lang="en-US" sz="830" b="0" i="0" u="none" strike="noStrike" kern="1200" cap="none" spc="0" baseline="0">
              <a:solidFill>
                <a:srgbClr val="111111"/>
              </a:solidFill>
              <a:uFillTx/>
              <a:latin typeface="Plus Jakarta Sans"/>
              <a:ea typeface="Plus Jakarta Sans"/>
              <a:cs typeface="Plus Jakarta Sans"/>
            </a:endParaRPr>
          </a:p>
        </p:txBody>
      </p:sp>
      <p:sp>
        <p:nvSpPr>
          <p:cNvPr id="14" name="Text 11">
            <a:extLst>
              <a:ext uri="{FF2B5EF4-FFF2-40B4-BE49-F238E27FC236}">
                <a16:creationId xmlns:a16="http://schemas.microsoft.com/office/drawing/2014/main" id="{FAF794AB-02F5-605C-8789-4EB10839B868}"/>
              </a:ext>
            </a:extLst>
          </p:cNvPr>
          <p:cNvSpPr txBox="1"/>
          <p:nvPr/>
        </p:nvSpPr>
        <p:spPr>
          <a:xfrm>
            <a:off x="5806440" y="2075688"/>
            <a:ext cx="28346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6B6B78"/>
                </a:solidFill>
                <a:uFillTx/>
                <a:latin typeface="Space Mono" pitchFamily="34"/>
                <a:ea typeface="Space Mono" pitchFamily="34"/>
                <a:cs typeface="Space Mono" pitchFamily="34"/>
              </a:rPr>
              <a:t>scommessa a lungo termine</a:t>
            </a:r>
            <a:endParaRPr lang="en-US" sz="750" b="0" i="0" u="none" strike="noStrike" kern="1200" cap="none" spc="0" baseline="0">
              <a:solidFill>
                <a:srgbClr val="111111"/>
              </a:solidFill>
              <a:uFillTx/>
              <a:latin typeface="Space Mono"/>
              <a:ea typeface="Space Mono"/>
              <a:cs typeface="Space Mono"/>
            </a:endParaRPr>
          </a:p>
        </p:txBody>
      </p:sp>
      <p:sp>
        <p:nvSpPr>
          <p:cNvPr id="15" name="Text 12">
            <a:extLst>
              <a:ext uri="{FF2B5EF4-FFF2-40B4-BE49-F238E27FC236}">
                <a16:creationId xmlns:a16="http://schemas.microsoft.com/office/drawing/2014/main" id="{0EF8DD0B-7B9F-34E7-69A0-6C62E38452A3}"/>
              </a:ext>
            </a:extLst>
          </p:cNvPr>
          <p:cNvSpPr txBox="1"/>
          <p:nvPr/>
        </p:nvSpPr>
        <p:spPr>
          <a:xfrm>
            <a:off x="5806440" y="2249424"/>
            <a:ext cx="2834640" cy="219456"/>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700E8"/>
                </a:solidFill>
                <a:uFillTx/>
                <a:latin typeface="Space Mono" pitchFamily="34"/>
                <a:ea typeface="Space Mono" pitchFamily="34"/>
                <a:cs typeface="Space Mono" pitchFamily="34"/>
              </a:rPr>
              <a:t>Blocco automatico dei profili fake</a:t>
            </a:r>
            <a:endParaRPr lang="en-US" sz="1000" b="0" i="0" u="none" strike="noStrike" kern="1200" cap="none" spc="0" baseline="0">
              <a:solidFill>
                <a:srgbClr val="111111"/>
              </a:solidFill>
              <a:uFillTx/>
              <a:latin typeface="Space Mono"/>
              <a:ea typeface="Space Mono"/>
              <a:cs typeface="Space Mono"/>
            </a:endParaRPr>
          </a:p>
        </p:txBody>
      </p:sp>
      <p:sp>
        <p:nvSpPr>
          <p:cNvPr id="16" name="Text 13">
            <a:extLst>
              <a:ext uri="{FF2B5EF4-FFF2-40B4-BE49-F238E27FC236}">
                <a16:creationId xmlns:a16="http://schemas.microsoft.com/office/drawing/2014/main" id="{79CE88CC-CD88-30D3-58C2-0DCD333E98E3}"/>
              </a:ext>
            </a:extLst>
          </p:cNvPr>
          <p:cNvSpPr txBox="1"/>
          <p:nvPr/>
        </p:nvSpPr>
        <p:spPr>
          <a:xfrm>
            <a:off x="5806440" y="2478024"/>
            <a:ext cx="2834640" cy="347472"/>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30" b="0" i="0" u="none" strike="noStrike" kern="1200" cap="none" spc="0" baseline="0">
                <a:solidFill>
                  <a:srgbClr val="111111"/>
                </a:solidFill>
                <a:uFillTx/>
                <a:latin typeface="Plus Jakarta Sans" pitchFamily="34"/>
                <a:ea typeface="Plus Jakarta Sans" pitchFamily="34"/>
                <a:cs typeface="Plus Jakarta Sans" pitchFamily="34"/>
              </a:rPr>
              <a:t>scartata: serve l'accesso alle piattaforme e toglie al ragazzo la scelta</a:t>
            </a:r>
            <a:endParaRPr lang="en-US" sz="830" b="0" i="0" u="none" strike="noStrike" kern="1200" cap="none" spc="0" baseline="0">
              <a:solidFill>
                <a:srgbClr val="111111"/>
              </a:solidFill>
              <a:uFillTx/>
              <a:latin typeface="Plus Jakarta Sans"/>
              <a:ea typeface="Plus Jakarta Sans"/>
              <a:cs typeface="Plus Jakarta Sans"/>
            </a:endParaRPr>
          </a:p>
        </p:txBody>
      </p:sp>
      <p:sp>
        <p:nvSpPr>
          <p:cNvPr id="17" name="Text 14">
            <a:extLst>
              <a:ext uri="{FF2B5EF4-FFF2-40B4-BE49-F238E27FC236}">
                <a16:creationId xmlns:a16="http://schemas.microsoft.com/office/drawing/2014/main" id="{3557203B-8028-FB99-258F-580A88ED67DF}"/>
              </a:ext>
            </a:extLst>
          </p:cNvPr>
          <p:cNvSpPr txBox="1"/>
          <p:nvPr/>
        </p:nvSpPr>
        <p:spPr>
          <a:xfrm>
            <a:off x="5806440" y="2862072"/>
            <a:ext cx="28346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50" b="1" i="0" u="none" strike="noStrike" kern="1200" cap="none" spc="0" baseline="0">
                <a:solidFill>
                  <a:srgbClr val="E71224"/>
                </a:solidFill>
                <a:uFillTx/>
                <a:latin typeface="Space Mono" pitchFamily="34"/>
                <a:ea typeface="Space Mono" pitchFamily="34"/>
                <a:cs typeface="Space Mono" pitchFamily="34"/>
              </a:rPr>
              <a:t>la nostra preferita</a:t>
            </a:r>
            <a:endParaRPr lang="en-US" sz="750" b="0" i="0" u="none" strike="noStrike" kern="1200" cap="none" spc="0" baseline="0">
              <a:solidFill>
                <a:srgbClr val="111111"/>
              </a:solidFill>
              <a:uFillTx/>
              <a:latin typeface="Space Mono"/>
              <a:ea typeface="Space Mono"/>
              <a:cs typeface="Space Mono"/>
            </a:endParaRPr>
          </a:p>
        </p:txBody>
      </p:sp>
      <p:sp>
        <p:nvSpPr>
          <p:cNvPr id="18" name="Text 15">
            <a:extLst>
              <a:ext uri="{FF2B5EF4-FFF2-40B4-BE49-F238E27FC236}">
                <a16:creationId xmlns:a16="http://schemas.microsoft.com/office/drawing/2014/main" id="{65887711-2C9B-1376-1F04-1F3F0F1E0E83}"/>
              </a:ext>
            </a:extLst>
          </p:cNvPr>
          <p:cNvSpPr txBox="1"/>
          <p:nvPr/>
        </p:nvSpPr>
        <p:spPr>
          <a:xfrm>
            <a:off x="5806440" y="3035808"/>
            <a:ext cx="2834640" cy="219456"/>
          </a:xfrm>
          <a:prstGeom prst="rect">
            <a:avLst/>
          </a:prstGeom>
          <a:noFill/>
          <a:ln>
            <a:noFill/>
          </a:ln>
        </p:spPr>
        <p:txBody>
          <a:bodyPr vert="horz" wrap="square" lIns="0" tIns="0" rIns="0" bIns="0" anchor="t" anchorCtr="0" compatLnSpc="1">
            <a:noAutofit/>
          </a:bodyPr>
          <a:lstStyle/>
          <a:p>
            <a:pPr rtl="0">
              <a:defRPr sz="1800" b="0" i="0" u="none" strike="noStrike" kern="0" cap="none" spc="0" baseline="0">
                <a:solidFill>
                  <a:srgbClr val="000000"/>
                </a:solidFill>
                <a:uFillTx/>
              </a:defRPr>
            </a:pPr>
            <a:r>
              <a:rPr lang="en-US" sz="1000" b="1" i="0" u="none" strike="noStrike" kern="1200" cap="none" spc="0" baseline="0" err="1">
                <a:solidFill>
                  <a:srgbClr val="1700E8"/>
                </a:solidFill>
                <a:uFillTx/>
                <a:latin typeface="Space Mono" pitchFamily="34"/>
                <a:ea typeface="Space Mono"/>
                <a:cs typeface="Space Mono" pitchFamily="34"/>
              </a:rPr>
              <a:t>SafeStep</a:t>
            </a:r>
            <a:r>
              <a:rPr lang="en-US" sz="1000" b="1" i="0" u="none" strike="noStrike" kern="1200" cap="none" spc="0" baseline="0">
                <a:solidFill>
                  <a:srgbClr val="1700E8"/>
                </a:solidFill>
                <a:uFillTx/>
                <a:latin typeface="Space Mono" pitchFamily="34"/>
                <a:ea typeface="Space Mono"/>
                <a:cs typeface="Space Mono" pitchFamily="34"/>
              </a:rPr>
              <a:t>, </a:t>
            </a:r>
            <a:r>
              <a:rPr lang="en-US" sz="1000" b="1" err="1">
                <a:solidFill>
                  <a:srgbClr val="1700E8"/>
                </a:solidFill>
                <a:latin typeface="Space Mono" pitchFamily="34"/>
                <a:ea typeface="Space Mono"/>
                <a:cs typeface="Space Mono" pitchFamily="34"/>
              </a:rPr>
              <a:t>soluzione</a:t>
            </a:r>
            <a:r>
              <a:rPr lang="en-US" sz="1000" b="1">
                <a:solidFill>
                  <a:srgbClr val="1700E8"/>
                </a:solidFill>
                <a:latin typeface="Space Mono" pitchFamily="34"/>
                <a:ea typeface="Space Mono"/>
                <a:cs typeface="Space Mono" pitchFamily="34"/>
              </a:rPr>
              <a:t> </a:t>
            </a:r>
            <a:r>
              <a:rPr lang="en-US" sz="1000" b="1" i="0" u="none" strike="noStrike" kern="1200" cap="none" spc="0" baseline="0" err="1">
                <a:solidFill>
                  <a:srgbClr val="1700E8"/>
                </a:solidFill>
                <a:uFillTx/>
                <a:latin typeface="Space Mono" pitchFamily="34"/>
                <a:ea typeface="Space Mono"/>
                <a:cs typeface="Space Mono" pitchFamily="34"/>
              </a:rPr>
              <a:t>ibrida</a:t>
            </a:r>
            <a:endParaRPr lang="en-US" sz="1000" b="0" i="0" u="none" strike="noStrike" kern="1200" cap="none" spc="0" baseline="0" err="1">
              <a:solidFill>
                <a:srgbClr val="111111"/>
              </a:solidFill>
              <a:uFillTx/>
              <a:latin typeface="Space Mono"/>
              <a:ea typeface="Space Mono"/>
              <a:cs typeface="Space Mono"/>
            </a:endParaRPr>
          </a:p>
        </p:txBody>
      </p:sp>
      <p:sp>
        <p:nvSpPr>
          <p:cNvPr id="19" name="Text 16">
            <a:extLst>
              <a:ext uri="{FF2B5EF4-FFF2-40B4-BE49-F238E27FC236}">
                <a16:creationId xmlns:a16="http://schemas.microsoft.com/office/drawing/2014/main" id="{FBC0373A-89ED-868E-5427-F6BD0544AAD6}"/>
              </a:ext>
            </a:extLst>
          </p:cNvPr>
          <p:cNvSpPr txBox="1"/>
          <p:nvPr/>
        </p:nvSpPr>
        <p:spPr>
          <a:xfrm>
            <a:off x="5806440" y="3264408"/>
            <a:ext cx="2834640" cy="347472"/>
          </a:xfrm>
          <a:prstGeom prst="rect">
            <a:avLst/>
          </a:prstGeom>
          <a:noFill/>
          <a:ln>
            <a:noFill/>
          </a:ln>
        </p:spPr>
        <p:txBody>
          <a:bodyPr vert="horz" wrap="square" lIns="0" tIns="0" rIns="0" bIns="0" anchor="t" anchorCtr="0" compatLnSpc="1">
            <a:noAutofit/>
          </a:bodyPr>
          <a:lstStyle/>
          <a:p>
            <a:pPr rtl="0">
              <a:defRPr sz="1800" b="0" i="0" u="none" strike="noStrike" kern="0" cap="none" spc="0" baseline="0">
                <a:solidFill>
                  <a:srgbClr val="000000"/>
                </a:solidFill>
                <a:uFillTx/>
              </a:defRPr>
            </a:pPr>
            <a:r>
              <a:rPr lang="en-US" sz="800" b="0" i="0" u="none" strike="noStrike" kern="1200" cap="none" spc="0" baseline="0">
                <a:solidFill>
                  <a:srgbClr val="111111"/>
                </a:solidFill>
                <a:uFillTx/>
                <a:latin typeface="Plus Jakarta Sans" pitchFamily="34"/>
                <a:ea typeface="Plus Jakarta Sans"/>
                <a:cs typeface="Plus Jakarta Sans" pitchFamily="34"/>
              </a:rPr>
              <a:t>allenamento + storie dei coetanei + supporto</a:t>
            </a:r>
            <a:r>
              <a:rPr lang="en-US" sz="800">
                <a:solidFill>
                  <a:srgbClr val="111111"/>
                </a:solidFill>
                <a:latin typeface="Plus Jakarta Sans" pitchFamily="34"/>
                <a:ea typeface="Plus Jakarta Sans"/>
                <a:cs typeface="Plus Jakarta Sans" pitchFamily="34"/>
              </a:rPr>
              <a:t> </a:t>
            </a:r>
            <a:r>
              <a:rPr lang="en-US" sz="800" b="0" i="0" u="none" strike="noStrike" kern="1200" cap="none" spc="0" baseline="0">
                <a:solidFill>
                  <a:srgbClr val="111111"/>
                </a:solidFill>
                <a:uFillTx/>
                <a:latin typeface="Plus Jakarta Sans" pitchFamily="34"/>
                <a:ea typeface="Plus Jakarta Sans"/>
                <a:cs typeface="Plus Jakarta Sans" pitchFamily="34"/>
              </a:rPr>
              <a:t>: </a:t>
            </a:r>
            <a:r>
              <a:rPr lang="en-US" sz="800">
                <a:solidFill>
                  <a:srgbClr val="111111"/>
                </a:solidFill>
                <a:latin typeface="Plus Jakarta Sans" pitchFamily="34"/>
                <a:ea typeface="Plus Jakarta Sans"/>
                <a:cs typeface="Plus Jakarta Sans" pitchFamily="34"/>
              </a:rPr>
              <a:t>     </a:t>
            </a:r>
            <a:r>
              <a:rPr lang="en-US" sz="800" b="0" i="0" u="none" strike="noStrike" kern="1200" cap="none" spc="0" baseline="0" err="1">
                <a:solidFill>
                  <a:srgbClr val="111111"/>
                </a:solidFill>
                <a:uFillTx/>
                <a:latin typeface="Plus Jakarta Sans" pitchFamily="34"/>
                <a:ea typeface="Plus Jakarta Sans"/>
                <a:cs typeface="Plus Jakarta Sans" pitchFamily="34"/>
              </a:rPr>
              <a:t>scelta</a:t>
            </a:r>
            <a:r>
              <a:rPr lang="en-US" sz="800" b="0" i="0" u="none" strike="noStrike" kern="1200" cap="none" spc="0" baseline="0">
                <a:solidFill>
                  <a:srgbClr val="111111"/>
                </a:solidFill>
                <a:uFillTx/>
                <a:latin typeface="Plus Jakarta Sans" pitchFamily="34"/>
                <a:ea typeface="Plus Jakarta Sans"/>
                <a:cs typeface="Plus Jakarta Sans" pitchFamily="34"/>
              </a:rPr>
              <a:t> </a:t>
            </a:r>
            <a:r>
              <a:rPr lang="en-US" sz="800" b="0" i="0" u="none" strike="noStrike" kern="1200" cap="none" spc="0" baseline="0" err="1">
                <a:solidFill>
                  <a:srgbClr val="111111"/>
                </a:solidFill>
                <a:uFillTx/>
                <a:latin typeface="Plus Jakarta Sans" pitchFamily="34"/>
                <a:ea typeface="Plus Jakarta Sans"/>
                <a:cs typeface="Plus Jakarta Sans" pitchFamily="34"/>
              </a:rPr>
              <a:t>all'unanimità</a:t>
            </a:r>
            <a:endParaRPr lang="en-US" sz="800" b="0" i="0" u="none" strike="noStrike" kern="1200" cap="none" spc="0" baseline="0" err="1">
              <a:solidFill>
                <a:srgbClr val="111111"/>
              </a:solidFill>
              <a:uFillTx/>
              <a:latin typeface="Plus Jakarta Sans"/>
              <a:ea typeface="Plus Jakarta Sans"/>
              <a:cs typeface="Plus Jakarta Sans"/>
            </a:endParaRPr>
          </a:p>
        </p:txBody>
      </p:sp>
      <p:sp>
        <p:nvSpPr>
          <p:cNvPr id="20" name="Text 17">
            <a:extLst>
              <a:ext uri="{FF2B5EF4-FFF2-40B4-BE49-F238E27FC236}">
                <a16:creationId xmlns:a16="http://schemas.microsoft.com/office/drawing/2014/main" id="{44A5EEEA-C657-BA27-FD84-97E1A9B4D2C1}"/>
              </a:ext>
            </a:extLst>
          </p:cNvPr>
          <p:cNvSpPr txBox="1"/>
          <p:nvPr/>
        </p:nvSpPr>
        <p:spPr>
          <a:xfrm>
            <a:off x="502920" y="4315968"/>
            <a:ext cx="1645920" cy="201168"/>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cosa SafeStep non fa</a:t>
            </a:r>
            <a:endParaRPr lang="en-US" sz="800" b="0" i="0" u="none" strike="noStrike" kern="1200" cap="none" spc="0" baseline="0">
              <a:solidFill>
                <a:srgbClr val="111111"/>
              </a:solidFill>
              <a:uFillTx/>
              <a:latin typeface="Space Mono"/>
              <a:ea typeface="Space Mono"/>
              <a:cs typeface="Space Mono"/>
            </a:endParaRPr>
          </a:p>
        </p:txBody>
      </p:sp>
      <p:sp>
        <p:nvSpPr>
          <p:cNvPr id="21" name="Shape 18">
            <a:extLst>
              <a:ext uri="{FF2B5EF4-FFF2-40B4-BE49-F238E27FC236}">
                <a16:creationId xmlns:a16="http://schemas.microsoft.com/office/drawing/2014/main" id="{0AE81B86-9300-35E9-BAEA-A01C6C7833B2}"/>
              </a:ext>
            </a:extLst>
          </p:cNvPr>
          <p:cNvSpPr/>
          <p:nvPr/>
        </p:nvSpPr>
        <p:spPr>
          <a:xfrm>
            <a:off x="2194560" y="4315968"/>
            <a:ext cx="2606039"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2" name="Text 19">
            <a:extLst>
              <a:ext uri="{FF2B5EF4-FFF2-40B4-BE49-F238E27FC236}">
                <a16:creationId xmlns:a16="http://schemas.microsoft.com/office/drawing/2014/main" id="{A7F3BF2B-64B7-C784-CB32-BC9820B5FC72}"/>
              </a:ext>
            </a:extLst>
          </p:cNvPr>
          <p:cNvSpPr txBox="1"/>
          <p:nvPr/>
        </p:nvSpPr>
        <p:spPr>
          <a:xfrm>
            <a:off x="2194560" y="4315968"/>
            <a:ext cx="2606039"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00" b="1" i="0" u="none" strike="noStrike" kern="1200" cap="none" spc="0" baseline="0">
                <a:solidFill>
                  <a:srgbClr val="1700E8"/>
                </a:solidFill>
                <a:uFillTx/>
                <a:latin typeface="Space Mono" pitchFamily="34"/>
                <a:ea typeface="Space Mono" pitchFamily="34"/>
                <a:cs typeface="Space Mono" pitchFamily="34"/>
              </a:rPr>
              <a:t>non decide al posto tuo se una foto è falsa</a:t>
            </a:r>
            <a:endParaRPr lang="en-US" sz="700" b="0" i="0" u="none" strike="noStrike" kern="1200" cap="none" spc="0" baseline="0">
              <a:solidFill>
                <a:srgbClr val="111111"/>
              </a:solidFill>
              <a:uFillTx/>
              <a:latin typeface="Space Mono"/>
              <a:ea typeface="Space Mono"/>
              <a:cs typeface="Space Mono"/>
            </a:endParaRPr>
          </a:p>
        </p:txBody>
      </p:sp>
      <p:sp>
        <p:nvSpPr>
          <p:cNvPr id="23" name="Shape 20">
            <a:extLst>
              <a:ext uri="{FF2B5EF4-FFF2-40B4-BE49-F238E27FC236}">
                <a16:creationId xmlns:a16="http://schemas.microsoft.com/office/drawing/2014/main" id="{9A0E4EF0-4578-46B2-0232-C7B5767111E7}"/>
              </a:ext>
            </a:extLst>
          </p:cNvPr>
          <p:cNvSpPr/>
          <p:nvPr/>
        </p:nvSpPr>
        <p:spPr>
          <a:xfrm>
            <a:off x="4892040" y="4315968"/>
            <a:ext cx="118872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4" name="Text 21">
            <a:extLst>
              <a:ext uri="{FF2B5EF4-FFF2-40B4-BE49-F238E27FC236}">
                <a16:creationId xmlns:a16="http://schemas.microsoft.com/office/drawing/2014/main" id="{E7F19E86-649F-8657-8FB2-31A00F7072AE}"/>
              </a:ext>
            </a:extLst>
          </p:cNvPr>
          <p:cNvSpPr txBox="1"/>
          <p:nvPr/>
        </p:nvSpPr>
        <p:spPr>
          <a:xfrm>
            <a:off x="4892040" y="4315968"/>
            <a:ext cx="118872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00" b="1" i="0" u="none" strike="noStrike" kern="1200" cap="none" spc="0" baseline="0">
                <a:solidFill>
                  <a:srgbClr val="1700E8"/>
                </a:solidFill>
                <a:uFillTx/>
                <a:latin typeface="Space Mono" pitchFamily="34"/>
                <a:ea typeface="Space Mono" pitchFamily="34"/>
                <a:cs typeface="Space Mono" pitchFamily="34"/>
              </a:rPr>
              <a:t>non legge le chat</a:t>
            </a:r>
            <a:endParaRPr lang="en-US" sz="700" b="0" i="0" u="none" strike="noStrike" kern="1200" cap="none" spc="0" baseline="0">
              <a:solidFill>
                <a:srgbClr val="111111"/>
              </a:solidFill>
              <a:uFillTx/>
              <a:latin typeface="Space Mono"/>
              <a:ea typeface="Space Mono"/>
              <a:cs typeface="Space Mono"/>
            </a:endParaRPr>
          </a:p>
        </p:txBody>
      </p:sp>
      <p:sp>
        <p:nvSpPr>
          <p:cNvPr id="25" name="Shape 22">
            <a:extLst>
              <a:ext uri="{FF2B5EF4-FFF2-40B4-BE49-F238E27FC236}">
                <a16:creationId xmlns:a16="http://schemas.microsoft.com/office/drawing/2014/main" id="{5CE148D0-A25C-42B6-E578-708F5F882B25}"/>
              </a:ext>
            </a:extLst>
          </p:cNvPr>
          <p:cNvSpPr/>
          <p:nvPr/>
        </p:nvSpPr>
        <p:spPr>
          <a:xfrm>
            <a:off x="6172200" y="4315968"/>
            <a:ext cx="1463040" cy="201168"/>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6" name="Text 23">
            <a:extLst>
              <a:ext uri="{FF2B5EF4-FFF2-40B4-BE49-F238E27FC236}">
                <a16:creationId xmlns:a16="http://schemas.microsoft.com/office/drawing/2014/main" id="{66B45CB4-23FB-D228-CDC5-7D20E627CA9B}"/>
              </a:ext>
            </a:extLst>
          </p:cNvPr>
          <p:cNvSpPr txBox="1"/>
          <p:nvPr/>
        </p:nvSpPr>
        <p:spPr>
          <a:xfrm>
            <a:off x="6172200" y="4315968"/>
            <a:ext cx="1463040" cy="20116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00" b="1" i="0" u="none" strike="noStrike" kern="1200" cap="none" spc="0" baseline="0">
                <a:solidFill>
                  <a:srgbClr val="1700E8"/>
                </a:solidFill>
                <a:uFillTx/>
                <a:latin typeface="Space Mono" pitchFamily="34"/>
                <a:ea typeface="Space Mono" pitchFamily="34"/>
                <a:cs typeface="Space Mono" pitchFamily="34"/>
              </a:rPr>
              <a:t>non avvisa i genitori</a:t>
            </a:r>
            <a:endParaRPr lang="en-US" sz="700" b="0" i="0" u="none" strike="noStrike" kern="1200" cap="none" spc="0" baseline="0">
              <a:solidFill>
                <a:srgbClr val="111111"/>
              </a:solidFill>
              <a:uFillTx/>
              <a:latin typeface="Space Mono"/>
              <a:ea typeface="Space Mono"/>
              <a:cs typeface="Space Mono"/>
            </a:endParaRPr>
          </a:p>
        </p:txBody>
      </p:sp>
      <p:sp>
        <p:nvSpPr>
          <p:cNvPr id="27" name="Slide Number Placeholder 0">
            <a:extLst>
              <a:ext uri="{FF2B5EF4-FFF2-40B4-BE49-F238E27FC236}">
                <a16:creationId xmlns:a16="http://schemas.microsoft.com/office/drawing/2014/main" id="{C10FCFF1-3825-0BF1-0633-CF0979272869}"/>
              </a:ext>
            </a:extLst>
          </p:cNvPr>
          <p:cNvSpPr txBox="1">
            <a:spLocks noGrp="1"/>
          </p:cNvSpPr>
          <p:nvPr>
            <p:ph type="sldNum" sz="quarter" idx="8"/>
          </p:nvPr>
        </p:nvSpPr>
        <p:spPr/>
        <p:txBody>
          <a:bodyPr lIns="0" tIns="0" rIns="0" bIns="0"/>
          <a:lstStyle/>
          <a:p>
            <a:pPr lvl="0"/>
            <a:fld id="{A41E74E3-F717-4FE6-A7B1-7BFDA695F675}" type="slidenum">
              <a:t>24</a:t>
            </a:fld>
            <a:endParaRPr lang="en-US"/>
          </a:p>
        </p:txBody>
      </p:sp>
    </p:spTree>
    <p:extLst>
      <p:ext uri="{BB962C8B-B14F-4D97-AF65-F5344CB8AC3E}">
        <p14:creationId xmlns:p14="http://schemas.microsoft.com/office/powerpoint/2010/main" val="1931255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42A1D05-A35B-D107-F7C4-24FBF33581AE}"/>
              </a:ext>
            </a:extLst>
          </p:cNvPr>
          <p:cNvSpPr txBox="1"/>
          <p:nvPr/>
        </p:nvSpPr>
        <p:spPr>
          <a:xfrm>
            <a:off x="502920" y="310896"/>
            <a:ext cx="411480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requisiti · mappa mentale su FigJam</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CE28942C-AB99-DB9D-CDE1-CF041AE55A36}"/>
              </a:ext>
            </a:extLst>
          </p:cNvPr>
          <p:cNvSpPr txBox="1"/>
          <p:nvPr/>
        </p:nvSpPr>
        <p:spPr>
          <a:xfrm>
            <a:off x="502920" y="502920"/>
            <a:ext cx="4572000" cy="8686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pitchFamily="34"/>
                <a:ea typeface="Space Mono" pitchFamily="34"/>
                <a:cs typeface="Space Mono" pitchFamily="34"/>
              </a:rPr>
              <a:t>cosa deve fare</a:t>
            </a:r>
            <a:endParaRPr lang="en-US" sz="2600" b="0" i="0" u="none" strike="noStrike" kern="1200" cap="none" spc="0" baseline="0">
              <a:solidFill>
                <a:srgbClr val="111111"/>
              </a:solidFill>
              <a:uFillTx/>
              <a:latin typeface="Space Mono"/>
              <a:ea typeface="Space Mono"/>
              <a:cs typeface="Space Mono"/>
            </a:endParaRPr>
          </a:p>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2600" b="1" i="0" u="none" strike="noStrike" kern="1200" cap="none" spc="0" baseline="0">
                <a:solidFill>
                  <a:srgbClr val="1700E8"/>
                </a:solidFill>
                <a:uFillTx/>
                <a:latin typeface="Space Mono" pitchFamily="34"/>
                <a:ea typeface="Space Mono" pitchFamily="34"/>
                <a:cs typeface="Space Mono" pitchFamily="34"/>
              </a:rPr>
              <a:t>SafeStep</a:t>
            </a:r>
            <a:endParaRPr lang="en-US" sz="2600" b="0" i="0" u="none" strike="noStrike" kern="1200" cap="none" spc="0" baseline="0">
              <a:solidFill>
                <a:srgbClr val="111111"/>
              </a:solidFill>
              <a:uFillTx/>
              <a:latin typeface="Space Mono"/>
              <a:ea typeface="Space Mono"/>
              <a:cs typeface="Space Mono"/>
            </a:endParaRPr>
          </a:p>
        </p:txBody>
      </p:sp>
      <p:sp>
        <p:nvSpPr>
          <p:cNvPr id="4" name="Shape 2">
            <a:extLst>
              <a:ext uri="{FF2B5EF4-FFF2-40B4-BE49-F238E27FC236}">
                <a16:creationId xmlns:a16="http://schemas.microsoft.com/office/drawing/2014/main" id="{B86C7775-AE9C-E2EE-B437-A45DCA7EBCE1}"/>
              </a:ext>
            </a:extLst>
          </p:cNvPr>
          <p:cNvSpPr/>
          <p:nvPr/>
        </p:nvSpPr>
        <p:spPr>
          <a:xfrm rot="59989">
            <a:off x="585216" y="1591056"/>
            <a:ext cx="4937760" cy="2834640"/>
          </a:xfrm>
          <a:prstGeom prst="rect">
            <a:avLst/>
          </a:pr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5" name="Shape 3">
            <a:extLst>
              <a:ext uri="{FF2B5EF4-FFF2-40B4-BE49-F238E27FC236}">
                <a16:creationId xmlns:a16="http://schemas.microsoft.com/office/drawing/2014/main" id="{ACE5DBA1-7158-C44D-1D34-D0B9EFDA0383}"/>
              </a:ext>
            </a:extLst>
          </p:cNvPr>
          <p:cNvSpPr/>
          <p:nvPr/>
        </p:nvSpPr>
        <p:spPr>
          <a:xfrm rot="59989">
            <a:off x="502920" y="1508760"/>
            <a:ext cx="4937760" cy="283464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6" name="Image 0" descr="mappa.png">
            <a:extLst>
              <a:ext uri="{FF2B5EF4-FFF2-40B4-BE49-F238E27FC236}">
                <a16:creationId xmlns:a16="http://schemas.microsoft.com/office/drawing/2014/main" id="{2337270E-CC0A-7B9E-0822-8881FC34377F}"/>
              </a:ext>
            </a:extLst>
          </p:cNvPr>
          <p:cNvPicPr>
            <a:picLocks noChangeAspect="1"/>
          </p:cNvPicPr>
          <p:nvPr/>
        </p:nvPicPr>
        <p:blipFill>
          <a:blip r:embed="rId2"/>
          <a:srcRect/>
          <a:stretch>
            <a:fillRect/>
          </a:stretch>
        </p:blipFill>
        <p:spPr>
          <a:xfrm rot="59989">
            <a:off x="557784" y="1563624"/>
            <a:ext cx="4828032" cy="2724912"/>
          </a:xfrm>
          <a:prstGeom prst="rect">
            <a:avLst/>
          </a:prstGeom>
          <a:noFill/>
          <a:ln>
            <a:noFill/>
          </a:ln>
        </p:spPr>
      </p:pic>
      <p:sp>
        <p:nvSpPr>
          <p:cNvPr id="7" name="Shape 4">
            <a:extLst>
              <a:ext uri="{FF2B5EF4-FFF2-40B4-BE49-F238E27FC236}">
                <a16:creationId xmlns:a16="http://schemas.microsoft.com/office/drawing/2014/main" id="{F653F477-735E-C3DF-5825-2411142F7FF6}"/>
              </a:ext>
            </a:extLst>
          </p:cNvPr>
          <p:cNvSpPr/>
          <p:nvPr/>
        </p:nvSpPr>
        <p:spPr>
          <a:xfrm rot="21480004">
            <a:off x="2587752" y="1426464"/>
            <a:ext cx="777240" cy="164592"/>
          </a:xfrm>
          <a:prstGeom prst="rect">
            <a:avLst/>
          </a:prstGeom>
          <a:solidFill>
            <a:srgbClr val="E71224">
              <a:alpha val="75000"/>
            </a:srgbClr>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8" name="Shape 5">
            <a:extLst>
              <a:ext uri="{FF2B5EF4-FFF2-40B4-BE49-F238E27FC236}">
                <a16:creationId xmlns:a16="http://schemas.microsoft.com/office/drawing/2014/main" id="{2E7D6FBB-8DD3-5055-815A-E4F3DF59E3BC}"/>
              </a:ext>
            </a:extLst>
          </p:cNvPr>
          <p:cNvSpPr/>
          <p:nvPr/>
        </p:nvSpPr>
        <p:spPr>
          <a:xfrm>
            <a:off x="5833872" y="576072"/>
            <a:ext cx="2880360" cy="932688"/>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9" name="Shape 6">
            <a:extLst>
              <a:ext uri="{FF2B5EF4-FFF2-40B4-BE49-F238E27FC236}">
                <a16:creationId xmlns:a16="http://schemas.microsoft.com/office/drawing/2014/main" id="{2EF1FCBC-0A30-C247-BAC0-0EA6BE656E2F}"/>
              </a:ext>
            </a:extLst>
          </p:cNvPr>
          <p:cNvSpPr/>
          <p:nvPr/>
        </p:nvSpPr>
        <p:spPr>
          <a:xfrm>
            <a:off x="5760720" y="502920"/>
            <a:ext cx="2880360" cy="932688"/>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0" name="Shape 7">
            <a:extLst>
              <a:ext uri="{FF2B5EF4-FFF2-40B4-BE49-F238E27FC236}">
                <a16:creationId xmlns:a16="http://schemas.microsoft.com/office/drawing/2014/main" id="{C447E38C-A908-8A40-4C64-1FF757FD07DA}"/>
              </a:ext>
            </a:extLst>
          </p:cNvPr>
          <p:cNvSpPr/>
          <p:nvPr/>
        </p:nvSpPr>
        <p:spPr>
          <a:xfrm>
            <a:off x="5870448" y="594360"/>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1" name="Image 1" descr="/home/claude/ppt/build/icons/target_w.png">
            <a:extLst>
              <a:ext uri="{FF2B5EF4-FFF2-40B4-BE49-F238E27FC236}">
                <a16:creationId xmlns:a16="http://schemas.microsoft.com/office/drawing/2014/main" id="{DA56DDC9-EC74-6A01-6C17-3AF8B335DEB4}"/>
              </a:ext>
            </a:extLst>
          </p:cNvPr>
          <p:cNvPicPr>
            <a:picLocks noChangeAspect="1"/>
          </p:cNvPicPr>
          <p:nvPr/>
        </p:nvPicPr>
        <p:blipFill>
          <a:blip r:embed="rId3"/>
          <a:stretch>
            <a:fillRect/>
          </a:stretch>
        </p:blipFill>
        <p:spPr>
          <a:xfrm>
            <a:off x="5939576" y="663488"/>
            <a:ext cx="117774" cy="117774"/>
          </a:xfrm>
          <a:prstGeom prst="rect">
            <a:avLst/>
          </a:prstGeom>
          <a:noFill/>
          <a:ln>
            <a:noFill/>
          </a:ln>
        </p:spPr>
      </p:pic>
      <p:sp>
        <p:nvSpPr>
          <p:cNvPr id="12" name="Text 8">
            <a:extLst>
              <a:ext uri="{FF2B5EF4-FFF2-40B4-BE49-F238E27FC236}">
                <a16:creationId xmlns:a16="http://schemas.microsoft.com/office/drawing/2014/main" id="{C30409D9-E1C5-8531-77E4-23EA4FF071F2}"/>
              </a:ext>
            </a:extLst>
          </p:cNvPr>
          <p:cNvSpPr txBox="1"/>
          <p:nvPr/>
        </p:nvSpPr>
        <p:spPr>
          <a:xfrm>
            <a:off x="6208776" y="621792"/>
            <a:ext cx="2926080" cy="219456"/>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700E8"/>
                </a:solidFill>
                <a:uFillTx/>
                <a:latin typeface="Space Mono" pitchFamily="34"/>
                <a:ea typeface="Space Mono" pitchFamily="34"/>
                <a:cs typeface="Space Mono" pitchFamily="34"/>
              </a:rPr>
              <a:t>allenati</a:t>
            </a:r>
            <a:endParaRPr lang="en-US" sz="1000" b="0" i="0" u="none" strike="noStrike" kern="1200" cap="none" spc="0" baseline="0">
              <a:solidFill>
                <a:srgbClr val="111111"/>
              </a:solidFill>
              <a:uFillTx/>
              <a:latin typeface="Space Mono"/>
              <a:ea typeface="Space Mono"/>
              <a:cs typeface="Space Mono"/>
            </a:endParaRPr>
          </a:p>
        </p:txBody>
      </p:sp>
      <p:sp>
        <p:nvSpPr>
          <p:cNvPr id="13" name="Text 9">
            <a:extLst>
              <a:ext uri="{FF2B5EF4-FFF2-40B4-BE49-F238E27FC236}">
                <a16:creationId xmlns:a16="http://schemas.microsoft.com/office/drawing/2014/main" id="{C9020E74-275F-5277-2EFA-DA3F99FF742D}"/>
              </a:ext>
            </a:extLst>
          </p:cNvPr>
          <p:cNvSpPr txBox="1"/>
          <p:nvPr/>
        </p:nvSpPr>
        <p:spPr>
          <a:xfrm>
            <a:off x="6208776" y="832104"/>
            <a:ext cx="23774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80" b="1" i="0" u="none" strike="noStrike" kern="1200" cap="none" spc="0" baseline="0">
                <a:solidFill>
                  <a:srgbClr val="6B6B78"/>
                </a:solidFill>
                <a:uFillTx/>
                <a:latin typeface="Space Mono" pitchFamily="34"/>
                <a:ea typeface="Space Mono" pitchFamily="34"/>
                <a:cs typeface="Space Mono" pitchFamily="34"/>
              </a:rPr>
              <a:t>Training + Gamification · B3+B6 · B4+B9</a:t>
            </a:r>
            <a:endParaRPr lang="en-US" sz="680" b="0" i="0" u="none" strike="noStrike" kern="1200" cap="none" spc="0" baseline="0">
              <a:solidFill>
                <a:srgbClr val="111111"/>
              </a:solidFill>
              <a:uFillTx/>
              <a:latin typeface="Space Mono"/>
              <a:ea typeface="Space Mono"/>
              <a:cs typeface="Space Mono"/>
            </a:endParaRPr>
          </a:p>
        </p:txBody>
      </p:sp>
      <p:sp>
        <p:nvSpPr>
          <p:cNvPr id="14" name="Text 10">
            <a:extLst>
              <a:ext uri="{FF2B5EF4-FFF2-40B4-BE49-F238E27FC236}">
                <a16:creationId xmlns:a16="http://schemas.microsoft.com/office/drawing/2014/main" id="{3F687D57-670C-3A76-062F-BE6B33694143}"/>
              </a:ext>
            </a:extLst>
          </p:cNvPr>
          <p:cNvSpPr txBox="1"/>
          <p:nvPr/>
        </p:nvSpPr>
        <p:spPr>
          <a:xfrm>
            <a:off x="5897880" y="1014984"/>
            <a:ext cx="2670048" cy="40233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80" b="0" i="0" u="none" strike="noStrike" kern="1200" cap="none" spc="0" baseline="0">
                <a:solidFill>
                  <a:srgbClr val="111111"/>
                </a:solidFill>
                <a:uFillTx/>
                <a:latin typeface="Plus Jakarta Sans" pitchFamily="34"/>
                <a:ea typeface="Plus Jakarta Sans" pitchFamily="34"/>
                <a:cs typeface="Plus Jakarta Sans" pitchFamily="34"/>
              </a:rPr>
              <a:t>simulatore di chat, quiz foto a livelli realistici, «quanto ti senti sicuro?» prima e dopo</a:t>
            </a:r>
            <a:endParaRPr lang="en-US" sz="780" b="0" i="0" u="none" strike="noStrike" kern="1200" cap="none" spc="0" baseline="0">
              <a:solidFill>
                <a:srgbClr val="111111"/>
              </a:solidFill>
              <a:uFillTx/>
              <a:latin typeface="Plus Jakarta Sans"/>
              <a:ea typeface="Plus Jakarta Sans"/>
              <a:cs typeface="Plus Jakarta Sans"/>
            </a:endParaRPr>
          </a:p>
        </p:txBody>
      </p:sp>
      <p:sp>
        <p:nvSpPr>
          <p:cNvPr id="15" name="Shape 11">
            <a:extLst>
              <a:ext uri="{FF2B5EF4-FFF2-40B4-BE49-F238E27FC236}">
                <a16:creationId xmlns:a16="http://schemas.microsoft.com/office/drawing/2014/main" id="{EB45FD72-BB3E-9CAD-ECDD-9AD2F1C7380C}"/>
              </a:ext>
            </a:extLst>
          </p:cNvPr>
          <p:cNvSpPr/>
          <p:nvPr/>
        </p:nvSpPr>
        <p:spPr>
          <a:xfrm>
            <a:off x="5833872" y="1655064"/>
            <a:ext cx="2880360" cy="932688"/>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6" name="Shape 12">
            <a:extLst>
              <a:ext uri="{FF2B5EF4-FFF2-40B4-BE49-F238E27FC236}">
                <a16:creationId xmlns:a16="http://schemas.microsoft.com/office/drawing/2014/main" id="{DAEEF2A6-383C-C109-48D3-B7DCECC00109}"/>
              </a:ext>
            </a:extLst>
          </p:cNvPr>
          <p:cNvSpPr/>
          <p:nvPr/>
        </p:nvSpPr>
        <p:spPr>
          <a:xfrm>
            <a:off x="5760720" y="1581912"/>
            <a:ext cx="2880360" cy="932688"/>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7" name="Shape 13">
            <a:extLst>
              <a:ext uri="{FF2B5EF4-FFF2-40B4-BE49-F238E27FC236}">
                <a16:creationId xmlns:a16="http://schemas.microsoft.com/office/drawing/2014/main" id="{544DC4A1-C53A-C225-F740-6EC1457C2ED2}"/>
              </a:ext>
            </a:extLst>
          </p:cNvPr>
          <p:cNvSpPr/>
          <p:nvPr/>
        </p:nvSpPr>
        <p:spPr>
          <a:xfrm>
            <a:off x="5870448" y="1673352"/>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8" name="Image 2" descr="/home/claude/ppt/build/icons/book_w.png">
            <a:extLst>
              <a:ext uri="{FF2B5EF4-FFF2-40B4-BE49-F238E27FC236}">
                <a16:creationId xmlns:a16="http://schemas.microsoft.com/office/drawing/2014/main" id="{00370424-5FDE-038A-B700-26870E69A713}"/>
              </a:ext>
            </a:extLst>
          </p:cNvPr>
          <p:cNvPicPr>
            <a:picLocks noChangeAspect="1"/>
          </p:cNvPicPr>
          <p:nvPr/>
        </p:nvPicPr>
        <p:blipFill>
          <a:blip r:embed="rId4"/>
          <a:stretch>
            <a:fillRect/>
          </a:stretch>
        </p:blipFill>
        <p:spPr>
          <a:xfrm>
            <a:off x="5939576" y="1742480"/>
            <a:ext cx="117774" cy="117774"/>
          </a:xfrm>
          <a:prstGeom prst="rect">
            <a:avLst/>
          </a:prstGeom>
          <a:noFill/>
          <a:ln>
            <a:noFill/>
          </a:ln>
        </p:spPr>
      </p:pic>
      <p:sp>
        <p:nvSpPr>
          <p:cNvPr id="19" name="Text 14">
            <a:extLst>
              <a:ext uri="{FF2B5EF4-FFF2-40B4-BE49-F238E27FC236}">
                <a16:creationId xmlns:a16="http://schemas.microsoft.com/office/drawing/2014/main" id="{DB10ABE2-F694-BC2F-9B26-53B20075E0CD}"/>
              </a:ext>
            </a:extLst>
          </p:cNvPr>
          <p:cNvSpPr txBox="1"/>
          <p:nvPr/>
        </p:nvSpPr>
        <p:spPr>
          <a:xfrm>
            <a:off x="6208776" y="1700784"/>
            <a:ext cx="2926080" cy="219456"/>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1700E8"/>
                </a:solidFill>
                <a:uFillTx/>
                <a:latin typeface="Space Mono" pitchFamily="34"/>
                <a:ea typeface="Space Mono" pitchFamily="34"/>
                <a:cs typeface="Space Mono" pitchFamily="34"/>
              </a:rPr>
              <a:t>leggi le storie</a:t>
            </a:r>
            <a:endParaRPr lang="en-US" sz="1000" b="0" i="0" u="none" strike="noStrike" kern="1200" cap="none" spc="0" baseline="0">
              <a:solidFill>
                <a:srgbClr val="111111"/>
              </a:solidFill>
              <a:uFillTx/>
              <a:latin typeface="Space Mono"/>
              <a:ea typeface="Space Mono"/>
              <a:cs typeface="Space Mono"/>
            </a:endParaRPr>
          </a:p>
        </p:txBody>
      </p:sp>
      <p:sp>
        <p:nvSpPr>
          <p:cNvPr id="20" name="Text 15">
            <a:extLst>
              <a:ext uri="{FF2B5EF4-FFF2-40B4-BE49-F238E27FC236}">
                <a16:creationId xmlns:a16="http://schemas.microsoft.com/office/drawing/2014/main" id="{8D7D14DC-7643-1279-1B03-4BB9EED96BAA}"/>
              </a:ext>
            </a:extLst>
          </p:cNvPr>
          <p:cNvSpPr txBox="1"/>
          <p:nvPr/>
        </p:nvSpPr>
        <p:spPr>
          <a:xfrm>
            <a:off x="6208776" y="1911095"/>
            <a:ext cx="23774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80" b="1" i="0" u="none" strike="noStrike" kern="1200" cap="none" spc="0" baseline="0">
                <a:solidFill>
                  <a:srgbClr val="6B6B78"/>
                </a:solidFill>
                <a:uFillTx/>
                <a:latin typeface="Space Mono" pitchFamily="34"/>
                <a:ea typeface="Space Mono" pitchFamily="34"/>
                <a:cs typeface="Space Mono" pitchFamily="34"/>
              </a:rPr>
              <a:t>Forum + Testimonial · B2 · B8</a:t>
            </a:r>
            <a:endParaRPr lang="en-US" sz="680" b="0" i="0" u="none" strike="noStrike" kern="1200" cap="none" spc="0" baseline="0">
              <a:solidFill>
                <a:srgbClr val="111111"/>
              </a:solidFill>
              <a:uFillTx/>
              <a:latin typeface="Space Mono"/>
              <a:ea typeface="Space Mono"/>
              <a:cs typeface="Space Mono"/>
            </a:endParaRPr>
          </a:p>
        </p:txBody>
      </p:sp>
      <p:sp>
        <p:nvSpPr>
          <p:cNvPr id="21" name="Text 16">
            <a:extLst>
              <a:ext uri="{FF2B5EF4-FFF2-40B4-BE49-F238E27FC236}">
                <a16:creationId xmlns:a16="http://schemas.microsoft.com/office/drawing/2014/main" id="{3093E711-CB63-1534-7233-981B35068EBE}"/>
              </a:ext>
            </a:extLst>
          </p:cNvPr>
          <p:cNvSpPr txBox="1"/>
          <p:nvPr/>
        </p:nvSpPr>
        <p:spPr>
          <a:xfrm>
            <a:off x="5897880" y="2093976"/>
            <a:ext cx="2670048" cy="40233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80" b="0" i="0" u="none" strike="noStrike" kern="1200" cap="none" spc="0" baseline="0">
                <a:solidFill>
                  <a:srgbClr val="111111"/>
                </a:solidFill>
                <a:uFillTx/>
                <a:latin typeface="Plus Jakarta Sans" pitchFamily="34"/>
                <a:ea typeface="Plus Jakarta Sans" pitchFamily="34"/>
                <a:cs typeface="Plus Jakarta Sans" pitchFamily="34"/>
              </a:rPr>
              <a:t>storie anonime dei coetanei e come sono andate a finire; reazioni sì, commenti moderati</a:t>
            </a:r>
            <a:endParaRPr lang="en-US" sz="780" b="0" i="0" u="none" strike="noStrike" kern="1200" cap="none" spc="0" baseline="0">
              <a:solidFill>
                <a:srgbClr val="111111"/>
              </a:solidFill>
              <a:uFillTx/>
              <a:latin typeface="Plus Jakarta Sans"/>
              <a:ea typeface="Plus Jakarta Sans"/>
              <a:cs typeface="Plus Jakarta Sans"/>
            </a:endParaRPr>
          </a:p>
        </p:txBody>
      </p:sp>
      <p:sp>
        <p:nvSpPr>
          <p:cNvPr id="22" name="Shape 17">
            <a:extLst>
              <a:ext uri="{FF2B5EF4-FFF2-40B4-BE49-F238E27FC236}">
                <a16:creationId xmlns:a16="http://schemas.microsoft.com/office/drawing/2014/main" id="{A61D29E6-8931-B0D2-4105-86262F70D87E}"/>
              </a:ext>
            </a:extLst>
          </p:cNvPr>
          <p:cNvSpPr/>
          <p:nvPr/>
        </p:nvSpPr>
        <p:spPr>
          <a:xfrm>
            <a:off x="5833872" y="2734056"/>
            <a:ext cx="2880360" cy="932688"/>
          </a:xfrm>
          <a:prstGeom prst="rect">
            <a:avLst/>
          </a:prstGeom>
          <a:solidFill>
            <a:srgbClr val="FBD5D9"/>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3" name="Shape 18">
            <a:extLst>
              <a:ext uri="{FF2B5EF4-FFF2-40B4-BE49-F238E27FC236}">
                <a16:creationId xmlns:a16="http://schemas.microsoft.com/office/drawing/2014/main" id="{61ACB188-C0E6-B2E2-96BE-B3DC0D1B24D3}"/>
              </a:ext>
            </a:extLst>
          </p:cNvPr>
          <p:cNvSpPr/>
          <p:nvPr/>
        </p:nvSpPr>
        <p:spPr>
          <a:xfrm>
            <a:off x="5760720" y="2660903"/>
            <a:ext cx="2880360" cy="932688"/>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4" name="Shape 19">
            <a:extLst>
              <a:ext uri="{FF2B5EF4-FFF2-40B4-BE49-F238E27FC236}">
                <a16:creationId xmlns:a16="http://schemas.microsoft.com/office/drawing/2014/main" id="{5CC8E218-DA60-075E-E8C1-4C10DE32825F}"/>
              </a:ext>
            </a:extLst>
          </p:cNvPr>
          <p:cNvSpPr/>
          <p:nvPr/>
        </p:nvSpPr>
        <p:spPr>
          <a:xfrm>
            <a:off x="5870448" y="2752344"/>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25" name="Image 3" descr="/home/claude/ppt/build/icons/hand_w.png">
            <a:extLst>
              <a:ext uri="{FF2B5EF4-FFF2-40B4-BE49-F238E27FC236}">
                <a16:creationId xmlns:a16="http://schemas.microsoft.com/office/drawing/2014/main" id="{2D35F9D9-2FEC-3315-E801-8B98FA3F357F}"/>
              </a:ext>
            </a:extLst>
          </p:cNvPr>
          <p:cNvPicPr>
            <a:picLocks noChangeAspect="1"/>
          </p:cNvPicPr>
          <p:nvPr/>
        </p:nvPicPr>
        <p:blipFill>
          <a:blip r:embed="rId5"/>
          <a:stretch>
            <a:fillRect/>
          </a:stretch>
        </p:blipFill>
        <p:spPr>
          <a:xfrm>
            <a:off x="5939576" y="2821472"/>
            <a:ext cx="117774" cy="117774"/>
          </a:xfrm>
          <a:prstGeom prst="rect">
            <a:avLst/>
          </a:prstGeom>
          <a:noFill/>
          <a:ln>
            <a:noFill/>
          </a:ln>
        </p:spPr>
      </p:pic>
      <p:sp>
        <p:nvSpPr>
          <p:cNvPr id="26" name="Text 20">
            <a:extLst>
              <a:ext uri="{FF2B5EF4-FFF2-40B4-BE49-F238E27FC236}">
                <a16:creationId xmlns:a16="http://schemas.microsoft.com/office/drawing/2014/main" id="{CF5AA0F5-83A7-7D1D-56DA-2FA1E7C10D45}"/>
              </a:ext>
            </a:extLst>
          </p:cNvPr>
          <p:cNvSpPr txBox="1"/>
          <p:nvPr/>
        </p:nvSpPr>
        <p:spPr>
          <a:xfrm>
            <a:off x="6208776" y="2779776"/>
            <a:ext cx="2926080" cy="219456"/>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71224"/>
                </a:solidFill>
                <a:uFillTx/>
                <a:latin typeface="Space Mono" pitchFamily="34"/>
                <a:ea typeface="Space Mono" pitchFamily="34"/>
                <a:cs typeface="Space Mono" pitchFamily="34"/>
              </a:rPr>
              <a:t>chiedi aiuto</a:t>
            </a:r>
            <a:endParaRPr lang="en-US" sz="1000" b="0" i="0" u="none" strike="noStrike" kern="1200" cap="none" spc="0" baseline="0">
              <a:solidFill>
                <a:srgbClr val="111111"/>
              </a:solidFill>
              <a:uFillTx/>
              <a:latin typeface="Space Mono"/>
              <a:ea typeface="Space Mono"/>
              <a:cs typeface="Space Mono"/>
            </a:endParaRPr>
          </a:p>
        </p:txBody>
      </p:sp>
      <p:sp>
        <p:nvSpPr>
          <p:cNvPr id="27" name="Text 21">
            <a:extLst>
              <a:ext uri="{FF2B5EF4-FFF2-40B4-BE49-F238E27FC236}">
                <a16:creationId xmlns:a16="http://schemas.microsoft.com/office/drawing/2014/main" id="{8D4E11EB-5877-9145-B4E0-29233E6E21A1}"/>
              </a:ext>
            </a:extLst>
          </p:cNvPr>
          <p:cNvSpPr txBox="1"/>
          <p:nvPr/>
        </p:nvSpPr>
        <p:spPr>
          <a:xfrm>
            <a:off x="6208776" y="2990088"/>
            <a:ext cx="2377440" cy="164592"/>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80" b="1" i="0" u="none" strike="noStrike" kern="1200" cap="none" spc="0" baseline="0">
                <a:solidFill>
                  <a:srgbClr val="6B6B78"/>
                </a:solidFill>
                <a:uFillTx/>
                <a:latin typeface="Space Mono" pitchFamily="34"/>
                <a:ea typeface="Space Mono" pitchFamily="34"/>
                <a:cs typeface="Space Mono" pitchFamily="34"/>
              </a:rPr>
              <a:t>Supporto, sempre visibile · B5+B7</a:t>
            </a:r>
            <a:endParaRPr lang="en-US" sz="680" b="0" i="0" u="none" strike="noStrike" kern="1200" cap="none" spc="0" baseline="0">
              <a:solidFill>
                <a:srgbClr val="111111"/>
              </a:solidFill>
              <a:uFillTx/>
              <a:latin typeface="Space Mono"/>
              <a:ea typeface="Space Mono"/>
              <a:cs typeface="Space Mono"/>
            </a:endParaRPr>
          </a:p>
        </p:txBody>
      </p:sp>
      <p:sp>
        <p:nvSpPr>
          <p:cNvPr id="28" name="Text 22">
            <a:extLst>
              <a:ext uri="{FF2B5EF4-FFF2-40B4-BE49-F238E27FC236}">
                <a16:creationId xmlns:a16="http://schemas.microsoft.com/office/drawing/2014/main" id="{FBFC6EFD-4F3B-770D-BA9B-1EB191825C39}"/>
              </a:ext>
            </a:extLst>
          </p:cNvPr>
          <p:cNvSpPr txBox="1"/>
          <p:nvPr/>
        </p:nvSpPr>
        <p:spPr>
          <a:xfrm>
            <a:off x="5897880" y="3172968"/>
            <a:ext cx="2670048" cy="402336"/>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80" b="0" i="0" u="none" strike="noStrike" kern="1200" cap="none" spc="0" baseline="0">
                <a:solidFill>
                  <a:srgbClr val="111111"/>
                </a:solidFill>
                <a:uFillTx/>
                <a:latin typeface="Plus Jakarta Sans" pitchFamily="34"/>
                <a:ea typeface="Plus Jakarta Sans" pitchFamily="34"/>
                <a:cs typeface="Plus Jakarta Sans" pitchFamily="34"/>
              </a:rPr>
              <a:t>a chi rivolgersi, script per parlare coi genitori, guida per i genitori: reagire senza punire</a:t>
            </a:r>
            <a:endParaRPr lang="en-US" sz="780" b="0" i="0" u="none" strike="noStrike" kern="1200" cap="none" spc="0" baseline="0">
              <a:solidFill>
                <a:srgbClr val="111111"/>
              </a:solidFill>
              <a:uFillTx/>
              <a:latin typeface="Plus Jakarta Sans"/>
              <a:ea typeface="Plus Jakarta Sans"/>
              <a:cs typeface="Plus Jakarta Sans"/>
            </a:endParaRPr>
          </a:p>
        </p:txBody>
      </p:sp>
      <p:sp>
        <p:nvSpPr>
          <p:cNvPr id="29" name="Text 23">
            <a:extLst>
              <a:ext uri="{FF2B5EF4-FFF2-40B4-BE49-F238E27FC236}">
                <a16:creationId xmlns:a16="http://schemas.microsoft.com/office/drawing/2014/main" id="{8C3A6A10-B393-014F-2C42-92FB45BC8AA6}"/>
              </a:ext>
            </a:extLst>
          </p:cNvPr>
          <p:cNvSpPr txBox="1"/>
          <p:nvPr/>
        </p:nvSpPr>
        <p:spPr>
          <a:xfrm>
            <a:off x="5760720" y="3794759"/>
            <a:ext cx="2880360" cy="59436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780" b="1" i="0" u="none" strike="noStrike" kern="1200" cap="none" spc="0" baseline="0">
                <a:solidFill>
                  <a:srgbClr val="E71224"/>
                </a:solidFill>
                <a:uFillTx/>
                <a:latin typeface="Space Mono" pitchFamily="34"/>
                <a:ea typeface="Space Mono" pitchFamily="34"/>
                <a:cs typeface="Space Mono" pitchFamily="34"/>
              </a:rPr>
              <a:t>trasversali: </a:t>
            </a:r>
            <a:r>
              <a:rPr lang="en-US" sz="780" b="0" i="0" u="none" strike="noStrike" kern="1200" cap="none" spc="0" baseline="0">
                <a:solidFill>
                  <a:srgbClr val="111111"/>
                </a:solidFill>
                <a:uFillTx/>
                <a:latin typeface="Plus Jakarta Sans" pitchFamily="34"/>
                <a:ea typeface="Plus Jakarta Sans" pitchFamily="34"/>
                <a:cs typeface="Plus Jakarta Sans" pitchFamily="34"/>
              </a:rPr>
              <a:t>spiegazione subito dopo l'errore · badge sì, classifica no · anonimato e moderazione · ogni livello si chiude con le conseguenze reali</a:t>
            </a:r>
            <a:endParaRPr lang="en-US" sz="780" b="0" i="0" u="none" strike="noStrike" kern="1200" cap="none" spc="0" baseline="0">
              <a:solidFill>
                <a:srgbClr val="111111"/>
              </a:solidFill>
              <a:uFillTx/>
              <a:latin typeface="Plus Jakarta Sans"/>
              <a:ea typeface="Plus Jakarta Sans"/>
              <a:cs typeface="Plus Jakarta Sans"/>
            </a:endParaRPr>
          </a:p>
        </p:txBody>
      </p:sp>
      <p:sp>
        <p:nvSpPr>
          <p:cNvPr id="30" name="Slide Number Placeholder 0">
            <a:extLst>
              <a:ext uri="{FF2B5EF4-FFF2-40B4-BE49-F238E27FC236}">
                <a16:creationId xmlns:a16="http://schemas.microsoft.com/office/drawing/2014/main" id="{C4F07A27-6141-529C-3022-27D8CC94B25B}"/>
              </a:ext>
            </a:extLst>
          </p:cNvPr>
          <p:cNvSpPr txBox="1">
            <a:spLocks noGrp="1"/>
          </p:cNvSpPr>
          <p:nvPr>
            <p:ph type="sldNum" sz="quarter" idx="8"/>
          </p:nvPr>
        </p:nvSpPr>
        <p:spPr/>
        <p:txBody>
          <a:bodyPr lIns="0" tIns="0" rIns="0" bIns="0"/>
          <a:lstStyle/>
          <a:p>
            <a:pPr lvl="0"/>
            <a:fld id="{99890F66-FEF4-4BEF-89AF-E4E9B79255D9}" type="slidenum">
              <a:rPr/>
              <a:t>25</a:t>
            </a:fld>
            <a:endParaRPr lang="en-US"/>
          </a:p>
        </p:txBody>
      </p:sp>
    </p:spTree>
    <p:extLst>
      <p:ext uri="{BB962C8B-B14F-4D97-AF65-F5344CB8AC3E}">
        <p14:creationId xmlns:p14="http://schemas.microsoft.com/office/powerpoint/2010/main" val="341763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265374E-E36E-8A5C-3BFC-8CBD879F4E0C}"/>
              </a:ext>
            </a:extLst>
          </p:cNvPr>
          <p:cNvSpPr txBox="1"/>
          <p:nvPr/>
        </p:nvSpPr>
        <p:spPr>
          <a:xfrm>
            <a:off x="502920" y="310896"/>
            <a:ext cx="411480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nome e value proposition</a:t>
            </a:r>
            <a:endParaRPr lang="en-US" sz="800" b="0" i="0" u="none" strike="noStrike" kern="1200" cap="none" spc="0" baseline="0">
              <a:solidFill>
                <a:srgbClr val="111111"/>
              </a:solidFill>
              <a:uFillTx/>
              <a:latin typeface="Space Mono"/>
              <a:ea typeface="Space Mono"/>
              <a:cs typeface="Space Mono"/>
            </a:endParaRPr>
          </a:p>
        </p:txBody>
      </p:sp>
      <p:sp>
        <p:nvSpPr>
          <p:cNvPr id="3" name="Text 1">
            <a:extLst>
              <a:ext uri="{FF2B5EF4-FFF2-40B4-BE49-F238E27FC236}">
                <a16:creationId xmlns:a16="http://schemas.microsoft.com/office/drawing/2014/main" id="{36333578-826B-1A73-6C88-B12336E73A78}"/>
              </a:ext>
            </a:extLst>
          </p:cNvPr>
          <p:cNvSpPr txBox="1"/>
          <p:nvPr/>
        </p:nvSpPr>
        <p:spPr>
          <a:xfrm>
            <a:off x="502920" y="777240"/>
            <a:ext cx="3931920" cy="82296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400" b="1" i="0" u="none" strike="noStrike" kern="1200" cap="none" spc="0" baseline="0">
                <a:solidFill>
                  <a:srgbClr val="1700E8"/>
                </a:solidFill>
                <a:uFillTx/>
                <a:latin typeface="Space Mono" pitchFamily="34"/>
                <a:ea typeface="Space Mono" pitchFamily="34"/>
                <a:cs typeface="Space Mono" pitchFamily="34"/>
              </a:rPr>
              <a:t>SafeStep</a:t>
            </a:r>
            <a:endParaRPr lang="en-US" sz="4400" b="0" i="0" u="none" strike="noStrike" kern="1200" cap="none" spc="0" baseline="0">
              <a:solidFill>
                <a:srgbClr val="111111"/>
              </a:solidFill>
              <a:uFillTx/>
              <a:latin typeface="Space Mono"/>
              <a:ea typeface="Space Mono"/>
              <a:cs typeface="Space Mono"/>
            </a:endParaRPr>
          </a:p>
        </p:txBody>
      </p:sp>
      <p:pic>
        <p:nvPicPr>
          <p:cNvPr id="4" name="Image 0" descr="/home/claude/ppt/build/img/ell_red.png">
            <a:extLst>
              <a:ext uri="{FF2B5EF4-FFF2-40B4-BE49-F238E27FC236}">
                <a16:creationId xmlns:a16="http://schemas.microsoft.com/office/drawing/2014/main" id="{3E77E304-229D-679A-3F8E-1F25D52552DA}"/>
              </a:ext>
            </a:extLst>
          </p:cNvPr>
          <p:cNvPicPr>
            <a:picLocks noChangeAspect="1"/>
          </p:cNvPicPr>
          <p:nvPr/>
        </p:nvPicPr>
        <p:blipFill>
          <a:blip r:embed="rId2"/>
          <a:stretch>
            <a:fillRect/>
          </a:stretch>
        </p:blipFill>
        <p:spPr>
          <a:xfrm>
            <a:off x="274320" y="640080"/>
            <a:ext cx="3749039" cy="1097280"/>
          </a:xfrm>
          <a:prstGeom prst="rect">
            <a:avLst/>
          </a:prstGeom>
          <a:noFill/>
          <a:ln>
            <a:noFill/>
          </a:ln>
        </p:spPr>
      </p:pic>
      <p:sp>
        <p:nvSpPr>
          <p:cNvPr id="5" name="Text 2">
            <a:extLst>
              <a:ext uri="{FF2B5EF4-FFF2-40B4-BE49-F238E27FC236}">
                <a16:creationId xmlns:a16="http://schemas.microsoft.com/office/drawing/2014/main" id="{02F368E6-D3C5-5289-EA89-FE3F459360D6}"/>
              </a:ext>
            </a:extLst>
          </p:cNvPr>
          <p:cNvSpPr txBox="1"/>
          <p:nvPr/>
        </p:nvSpPr>
        <p:spPr>
          <a:xfrm>
            <a:off x="502920" y="1691640"/>
            <a:ext cx="3657600" cy="32004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1" u="none" strike="noStrike" kern="1200" cap="none" spc="0" baseline="0">
                <a:solidFill>
                  <a:srgbClr val="E71224"/>
                </a:solidFill>
                <a:uFillTx/>
                <a:latin typeface="Space Mono" pitchFamily="34"/>
                <a:ea typeface="Space Mono" pitchFamily="34"/>
                <a:cs typeface="Space Mono" pitchFamily="34"/>
              </a:rPr>
              <a:t>«passo sicuro»</a:t>
            </a:r>
            <a:endParaRPr lang="en-US" sz="1400" b="0" i="0" u="none" strike="noStrike" kern="1200" cap="none" spc="0" baseline="0">
              <a:solidFill>
                <a:srgbClr val="111111"/>
              </a:solidFill>
              <a:uFillTx/>
              <a:latin typeface="Space Mono"/>
              <a:ea typeface="Space Mono"/>
              <a:cs typeface="Space Mono"/>
            </a:endParaRPr>
          </a:p>
        </p:txBody>
      </p:sp>
      <p:sp>
        <p:nvSpPr>
          <p:cNvPr id="6" name="Text 3">
            <a:extLst>
              <a:ext uri="{FF2B5EF4-FFF2-40B4-BE49-F238E27FC236}">
                <a16:creationId xmlns:a16="http://schemas.microsoft.com/office/drawing/2014/main" id="{B22310B6-E5C0-199A-53C9-9D7C7A435ADF}"/>
              </a:ext>
            </a:extLst>
          </p:cNvPr>
          <p:cNvSpPr txBox="1"/>
          <p:nvPr/>
        </p:nvSpPr>
        <p:spPr>
          <a:xfrm>
            <a:off x="502920" y="2103120"/>
            <a:ext cx="3840480" cy="86868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1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111"/>
                </a:solidFill>
                <a:uFillTx/>
                <a:latin typeface="Plus Jakarta Sans" pitchFamily="34"/>
                <a:ea typeface="Plus Jakarta Sans" pitchFamily="34"/>
                <a:cs typeface="Plus Jakarta Sans" pitchFamily="34"/>
              </a:rPr>
              <a:t>Un passo alla volta, nell'imparare e nel chiedere aiuto: dalle foto facili alle chat più insidiose, e da un'amica fino a un adulto di cui ci si fida. SafeStep non spinge a denunciare subito e toglie la paura del giudizio.</a:t>
            </a:r>
            <a:endParaRPr lang="en-US" sz="950" b="0" i="0" u="none" strike="noStrike" kern="1200" cap="none" spc="0" baseline="0">
              <a:solidFill>
                <a:srgbClr val="111111"/>
              </a:solidFill>
              <a:uFillTx/>
              <a:latin typeface="Plus Jakarta Sans"/>
              <a:ea typeface="Plus Jakarta Sans"/>
              <a:cs typeface="Plus Jakarta Sans"/>
            </a:endParaRPr>
          </a:p>
        </p:txBody>
      </p:sp>
      <p:sp>
        <p:nvSpPr>
          <p:cNvPr id="7" name="Shape 4">
            <a:extLst>
              <a:ext uri="{FF2B5EF4-FFF2-40B4-BE49-F238E27FC236}">
                <a16:creationId xmlns:a16="http://schemas.microsoft.com/office/drawing/2014/main" id="{E9726201-51F3-2E87-9C24-2C31A6C5A265}"/>
              </a:ext>
            </a:extLst>
          </p:cNvPr>
          <p:cNvSpPr/>
          <p:nvPr/>
        </p:nvSpPr>
        <p:spPr>
          <a:xfrm>
            <a:off x="502920" y="3154679"/>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8" name="Image 1" descr="/home/claude/ppt/build/icons/target_w.png">
            <a:extLst>
              <a:ext uri="{FF2B5EF4-FFF2-40B4-BE49-F238E27FC236}">
                <a16:creationId xmlns:a16="http://schemas.microsoft.com/office/drawing/2014/main" id="{A0D9D920-E39D-4A28-24C8-CC8D81969D7B}"/>
              </a:ext>
            </a:extLst>
          </p:cNvPr>
          <p:cNvPicPr>
            <a:picLocks noChangeAspect="1"/>
          </p:cNvPicPr>
          <p:nvPr/>
        </p:nvPicPr>
        <p:blipFill>
          <a:blip r:embed="rId3"/>
          <a:stretch>
            <a:fillRect/>
          </a:stretch>
        </p:blipFill>
        <p:spPr>
          <a:xfrm>
            <a:off x="572048" y="3223808"/>
            <a:ext cx="117774" cy="117774"/>
          </a:xfrm>
          <a:prstGeom prst="rect">
            <a:avLst/>
          </a:prstGeom>
          <a:noFill/>
          <a:ln>
            <a:noFill/>
          </a:ln>
        </p:spPr>
      </p:pic>
      <p:sp>
        <p:nvSpPr>
          <p:cNvPr id="9" name="Text 5">
            <a:extLst>
              <a:ext uri="{FF2B5EF4-FFF2-40B4-BE49-F238E27FC236}">
                <a16:creationId xmlns:a16="http://schemas.microsoft.com/office/drawing/2014/main" id="{2F3CCA7A-C10B-2E17-161D-A47EDFD97699}"/>
              </a:ext>
            </a:extLst>
          </p:cNvPr>
          <p:cNvSpPr txBox="1"/>
          <p:nvPr/>
        </p:nvSpPr>
        <p:spPr>
          <a:xfrm>
            <a:off x="868680" y="3172968"/>
            <a:ext cx="3566160" cy="237744"/>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80" b="1" i="0" u="none" strike="noStrike" kern="1200" cap="none" spc="0" baseline="0">
                <a:solidFill>
                  <a:srgbClr val="1700E8"/>
                </a:solidFill>
                <a:uFillTx/>
                <a:latin typeface="Space Mono" pitchFamily="34"/>
                <a:ea typeface="Space Mono" pitchFamily="34"/>
                <a:cs typeface="Space Mono" pitchFamily="34"/>
              </a:rPr>
              <a:t>allenati  </a:t>
            </a:r>
            <a:r>
              <a:rPr lang="en-US" sz="880" b="0" i="0" u="none" strike="noStrike" kern="1200" cap="none" spc="0" baseline="0">
                <a:solidFill>
                  <a:srgbClr val="111111"/>
                </a:solidFill>
                <a:uFillTx/>
                <a:latin typeface="Plus Jakarta Sans" pitchFamily="34"/>
                <a:ea typeface="Plus Jakarta Sans" pitchFamily="34"/>
                <a:cs typeface="Plus Jakarta Sans" pitchFamily="34"/>
              </a:rPr>
              <a:t>capire chi c'è dall'altra parte e quanto l'IA può ingannarti</a:t>
            </a:r>
            <a:endParaRPr lang="en-US" sz="880" b="0" i="0" u="none" strike="noStrike" kern="1200" cap="none" spc="0" baseline="0">
              <a:solidFill>
                <a:srgbClr val="111111"/>
              </a:solidFill>
              <a:uFillTx/>
              <a:latin typeface="Plus Jakarta Sans"/>
              <a:ea typeface="Plus Jakarta Sans"/>
              <a:cs typeface="Plus Jakarta Sans"/>
            </a:endParaRPr>
          </a:p>
        </p:txBody>
      </p:sp>
      <p:sp>
        <p:nvSpPr>
          <p:cNvPr id="10" name="Shape 6">
            <a:extLst>
              <a:ext uri="{FF2B5EF4-FFF2-40B4-BE49-F238E27FC236}">
                <a16:creationId xmlns:a16="http://schemas.microsoft.com/office/drawing/2014/main" id="{10C0740B-67A2-BD76-65EE-D32A3AB37208}"/>
              </a:ext>
            </a:extLst>
          </p:cNvPr>
          <p:cNvSpPr/>
          <p:nvPr/>
        </p:nvSpPr>
        <p:spPr>
          <a:xfrm>
            <a:off x="502920" y="3611879"/>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1" name="Image 2" descr="/home/claude/ppt/build/icons/book_w.png">
            <a:extLst>
              <a:ext uri="{FF2B5EF4-FFF2-40B4-BE49-F238E27FC236}">
                <a16:creationId xmlns:a16="http://schemas.microsoft.com/office/drawing/2014/main" id="{1C8DC364-8F20-21DE-6125-EDABFCBAC588}"/>
              </a:ext>
            </a:extLst>
          </p:cNvPr>
          <p:cNvPicPr>
            <a:picLocks noChangeAspect="1"/>
          </p:cNvPicPr>
          <p:nvPr/>
        </p:nvPicPr>
        <p:blipFill>
          <a:blip r:embed="rId4"/>
          <a:stretch>
            <a:fillRect/>
          </a:stretch>
        </p:blipFill>
        <p:spPr>
          <a:xfrm>
            <a:off x="572048" y="3681008"/>
            <a:ext cx="117774" cy="117774"/>
          </a:xfrm>
          <a:prstGeom prst="rect">
            <a:avLst/>
          </a:prstGeom>
          <a:noFill/>
          <a:ln>
            <a:noFill/>
          </a:ln>
        </p:spPr>
      </p:pic>
      <p:sp>
        <p:nvSpPr>
          <p:cNvPr id="12" name="Text 7">
            <a:extLst>
              <a:ext uri="{FF2B5EF4-FFF2-40B4-BE49-F238E27FC236}">
                <a16:creationId xmlns:a16="http://schemas.microsoft.com/office/drawing/2014/main" id="{CB34679A-5F18-FEBB-F907-726E02B10399}"/>
              </a:ext>
            </a:extLst>
          </p:cNvPr>
          <p:cNvSpPr txBox="1"/>
          <p:nvPr/>
        </p:nvSpPr>
        <p:spPr>
          <a:xfrm>
            <a:off x="868680" y="3630168"/>
            <a:ext cx="3566160" cy="237744"/>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80" b="1" i="0" u="none" strike="noStrike" kern="1200" cap="none" spc="0" baseline="0">
                <a:solidFill>
                  <a:srgbClr val="1700E8"/>
                </a:solidFill>
                <a:uFillTx/>
                <a:latin typeface="Space Mono" pitchFamily="34"/>
                <a:ea typeface="Space Mono" pitchFamily="34"/>
                <a:cs typeface="Space Mono" pitchFamily="34"/>
              </a:rPr>
              <a:t>leggi le storie  </a:t>
            </a:r>
            <a:r>
              <a:rPr lang="en-US" sz="880" b="0" i="0" u="none" strike="noStrike" kern="1200" cap="none" spc="0" baseline="0">
                <a:solidFill>
                  <a:srgbClr val="111111"/>
                </a:solidFill>
                <a:uFillTx/>
                <a:latin typeface="Plus Jakarta Sans" pitchFamily="34"/>
                <a:ea typeface="Plus Jakarta Sans" pitchFamily="34"/>
                <a:cs typeface="Plus Jakarta Sans" pitchFamily="34"/>
              </a:rPr>
              <a:t>non sei l'unico: storie anonime dei coetanei</a:t>
            </a:r>
            <a:endParaRPr lang="en-US" sz="880" b="0" i="0" u="none" strike="noStrike" kern="1200" cap="none" spc="0" baseline="0">
              <a:solidFill>
                <a:srgbClr val="111111"/>
              </a:solidFill>
              <a:uFillTx/>
              <a:latin typeface="Plus Jakarta Sans"/>
              <a:ea typeface="Plus Jakarta Sans"/>
              <a:cs typeface="Plus Jakarta Sans"/>
            </a:endParaRPr>
          </a:p>
        </p:txBody>
      </p:sp>
      <p:sp>
        <p:nvSpPr>
          <p:cNvPr id="13" name="Shape 8">
            <a:extLst>
              <a:ext uri="{FF2B5EF4-FFF2-40B4-BE49-F238E27FC236}">
                <a16:creationId xmlns:a16="http://schemas.microsoft.com/office/drawing/2014/main" id="{24E4F1B9-04C7-E319-53DD-5B31D3A68E8A}"/>
              </a:ext>
            </a:extLst>
          </p:cNvPr>
          <p:cNvSpPr/>
          <p:nvPr/>
        </p:nvSpPr>
        <p:spPr>
          <a:xfrm>
            <a:off x="502920" y="4069080"/>
            <a:ext cx="256032" cy="25603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4" name="Image 3" descr="/home/claude/ppt/build/icons/hand_w.png">
            <a:extLst>
              <a:ext uri="{FF2B5EF4-FFF2-40B4-BE49-F238E27FC236}">
                <a16:creationId xmlns:a16="http://schemas.microsoft.com/office/drawing/2014/main" id="{5B9FAE33-E268-279D-A5BF-70D979DB29C2}"/>
              </a:ext>
            </a:extLst>
          </p:cNvPr>
          <p:cNvPicPr>
            <a:picLocks noChangeAspect="1"/>
          </p:cNvPicPr>
          <p:nvPr/>
        </p:nvPicPr>
        <p:blipFill>
          <a:blip r:embed="rId5"/>
          <a:stretch>
            <a:fillRect/>
          </a:stretch>
        </p:blipFill>
        <p:spPr>
          <a:xfrm>
            <a:off x="572048" y="4138208"/>
            <a:ext cx="117774" cy="117774"/>
          </a:xfrm>
          <a:prstGeom prst="rect">
            <a:avLst/>
          </a:prstGeom>
          <a:noFill/>
          <a:ln>
            <a:noFill/>
          </a:ln>
        </p:spPr>
      </p:pic>
      <p:sp>
        <p:nvSpPr>
          <p:cNvPr id="15" name="Text 9">
            <a:extLst>
              <a:ext uri="{FF2B5EF4-FFF2-40B4-BE49-F238E27FC236}">
                <a16:creationId xmlns:a16="http://schemas.microsoft.com/office/drawing/2014/main" id="{D28EDA94-35FA-B17F-BF84-15D881FAE980}"/>
              </a:ext>
            </a:extLst>
          </p:cNvPr>
          <p:cNvSpPr txBox="1"/>
          <p:nvPr/>
        </p:nvSpPr>
        <p:spPr>
          <a:xfrm>
            <a:off x="868680" y="4087368"/>
            <a:ext cx="3566160" cy="237744"/>
          </a:xfrm>
          <a:prstGeom prst="rect">
            <a:avLst/>
          </a:prstGeom>
          <a:noFill/>
          <a:ln>
            <a:noFill/>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80" b="1" i="0" u="none" strike="noStrike" kern="1200" cap="none" spc="0" baseline="0">
                <a:solidFill>
                  <a:srgbClr val="E71224"/>
                </a:solidFill>
                <a:uFillTx/>
                <a:latin typeface="Space Mono" pitchFamily="34"/>
                <a:ea typeface="Space Mono" pitchFamily="34"/>
                <a:cs typeface="Space Mono" pitchFamily="34"/>
              </a:rPr>
              <a:t>chiedi aiuto  </a:t>
            </a:r>
            <a:r>
              <a:rPr lang="en-US" sz="880" b="0" i="0" u="none" strike="noStrike" kern="1200" cap="none" spc="0" baseline="0">
                <a:solidFill>
                  <a:srgbClr val="111111"/>
                </a:solidFill>
                <a:uFillTx/>
                <a:latin typeface="Plus Jakarta Sans" pitchFamily="34"/>
                <a:ea typeface="Plus Jakarta Sans" pitchFamily="34"/>
                <a:cs typeface="Plus Jakarta Sans" pitchFamily="34"/>
              </a:rPr>
              <a:t>sempre a portata di mano, senza paura</a:t>
            </a:r>
            <a:endParaRPr lang="en-US" sz="880" b="0" i="0" u="none" strike="noStrike" kern="1200" cap="none" spc="0" baseline="0">
              <a:solidFill>
                <a:srgbClr val="111111"/>
              </a:solidFill>
              <a:uFillTx/>
              <a:latin typeface="Plus Jakarta Sans"/>
              <a:ea typeface="Plus Jakarta Sans"/>
              <a:cs typeface="Plus Jakarta Sans"/>
            </a:endParaRPr>
          </a:p>
        </p:txBody>
      </p:sp>
      <p:sp>
        <p:nvSpPr>
          <p:cNvPr id="16" name="Shape 10">
            <a:extLst>
              <a:ext uri="{FF2B5EF4-FFF2-40B4-BE49-F238E27FC236}">
                <a16:creationId xmlns:a16="http://schemas.microsoft.com/office/drawing/2014/main" id="{71B3660D-02C2-4827-943F-6AFE40683338}"/>
              </a:ext>
            </a:extLst>
          </p:cNvPr>
          <p:cNvSpPr/>
          <p:nvPr/>
        </p:nvSpPr>
        <p:spPr>
          <a:xfrm>
            <a:off x="4828032" y="758952"/>
            <a:ext cx="3886200" cy="2240279"/>
          </a:xfrm>
          <a:prstGeom prst="rect">
            <a:avLst/>
          </a:prstGeom>
          <a:solidFill>
            <a:srgbClr val="E71224"/>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7" name="Shape 11">
            <a:extLst>
              <a:ext uri="{FF2B5EF4-FFF2-40B4-BE49-F238E27FC236}">
                <a16:creationId xmlns:a16="http://schemas.microsoft.com/office/drawing/2014/main" id="{D2C08935-AA0B-3114-1098-C6CDB278745E}"/>
              </a:ext>
            </a:extLst>
          </p:cNvPr>
          <p:cNvSpPr/>
          <p:nvPr/>
        </p:nvSpPr>
        <p:spPr>
          <a:xfrm>
            <a:off x="4754880" y="685800"/>
            <a:ext cx="3886200" cy="2240279"/>
          </a:xfrm>
          <a:prstGeom prst="rect">
            <a:avLst/>
          </a:prstGeom>
          <a:solidFill>
            <a:srgbClr val="1700E8"/>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8" name="Text 12">
            <a:extLst>
              <a:ext uri="{FF2B5EF4-FFF2-40B4-BE49-F238E27FC236}">
                <a16:creationId xmlns:a16="http://schemas.microsoft.com/office/drawing/2014/main" id="{0DDCF214-D050-7E51-4967-BA417683DBAC}"/>
              </a:ext>
            </a:extLst>
          </p:cNvPr>
          <p:cNvSpPr txBox="1"/>
          <p:nvPr/>
        </p:nvSpPr>
        <p:spPr>
          <a:xfrm>
            <a:off x="4937760" y="841248"/>
            <a:ext cx="3474720" cy="18288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FFFFFF"/>
                </a:solidFill>
                <a:uFillTx/>
                <a:latin typeface="Space Mono" pitchFamily="34"/>
                <a:ea typeface="Space Mono" pitchFamily="34"/>
                <a:cs typeface="Space Mono" pitchFamily="34"/>
              </a:rPr>
              <a:t>value proposition</a:t>
            </a:r>
            <a:endParaRPr lang="en-US" sz="800" b="0" i="0" u="none" strike="noStrike" kern="1200" cap="none" spc="0" baseline="0">
              <a:solidFill>
                <a:srgbClr val="111111"/>
              </a:solidFill>
              <a:uFillTx/>
              <a:latin typeface="Space Mono"/>
              <a:ea typeface="Space Mono"/>
              <a:cs typeface="Space Mono"/>
            </a:endParaRPr>
          </a:p>
        </p:txBody>
      </p:sp>
      <p:sp>
        <p:nvSpPr>
          <p:cNvPr id="19" name="Text 13">
            <a:extLst>
              <a:ext uri="{FF2B5EF4-FFF2-40B4-BE49-F238E27FC236}">
                <a16:creationId xmlns:a16="http://schemas.microsoft.com/office/drawing/2014/main" id="{44D0D5BC-08FB-35BE-5887-E952A2597CC0}"/>
              </a:ext>
            </a:extLst>
          </p:cNvPr>
          <p:cNvSpPr txBox="1"/>
          <p:nvPr/>
        </p:nvSpPr>
        <p:spPr>
          <a:xfrm>
            <a:off x="4937760" y="1097280"/>
            <a:ext cx="3520439" cy="169164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600" b="1" i="0" u="none" strike="noStrike" kern="1200" cap="none" spc="0" baseline="0">
                <a:solidFill>
                  <a:srgbClr val="FFFFFF"/>
                </a:solidFill>
                <a:uFillTx/>
                <a:latin typeface="Plus Jakarta Sans"/>
                <a:ea typeface="Plus Jakarta Sans"/>
                <a:cs typeface="Plus Jakarta Sans"/>
              </a:rPr>
              <a:t>«Allena il tuo intuito digitale, confrontati in anonimato e trova il coraggio di chiedere aiuto, un passo alla volta»</a:t>
            </a:r>
            <a:endParaRPr lang="en-US" sz="1600" b="1" i="0" u="none" strike="noStrike" kern="1200" cap="none" spc="0" baseline="0">
              <a:solidFill>
                <a:srgbClr val="FFFFFF"/>
              </a:solidFill>
              <a:uFillTx/>
              <a:latin typeface="Plus Jakarta Sans"/>
              <a:ea typeface="Plus Jakarta Sans"/>
              <a:cs typeface="Plus Jakarta Sans"/>
            </a:endParaRPr>
          </a:p>
        </p:txBody>
      </p:sp>
      <p:sp>
        <p:nvSpPr>
          <p:cNvPr id="20" name="Shape 14">
            <a:extLst>
              <a:ext uri="{FF2B5EF4-FFF2-40B4-BE49-F238E27FC236}">
                <a16:creationId xmlns:a16="http://schemas.microsoft.com/office/drawing/2014/main" id="{F66ADF65-E5B5-E7BE-C5B1-44A3363157BC}"/>
              </a:ext>
            </a:extLst>
          </p:cNvPr>
          <p:cNvSpPr/>
          <p:nvPr/>
        </p:nvSpPr>
        <p:spPr>
          <a:xfrm>
            <a:off x="4828032" y="3273552"/>
            <a:ext cx="3886200" cy="1051560"/>
          </a:xfrm>
          <a:prstGeom prst="rect">
            <a:avLst/>
          </a:prstGeom>
          <a:solidFill>
            <a:srgbClr val="DEDA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1" name="Shape 15">
            <a:extLst>
              <a:ext uri="{FF2B5EF4-FFF2-40B4-BE49-F238E27FC236}">
                <a16:creationId xmlns:a16="http://schemas.microsoft.com/office/drawing/2014/main" id="{3327C6B9-647D-197B-930F-D43E695BB0AB}"/>
              </a:ext>
            </a:extLst>
          </p:cNvPr>
          <p:cNvSpPr/>
          <p:nvPr/>
        </p:nvSpPr>
        <p:spPr>
          <a:xfrm>
            <a:off x="4754880" y="3200400"/>
            <a:ext cx="3886200" cy="105156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2" name="Text 16">
            <a:extLst>
              <a:ext uri="{FF2B5EF4-FFF2-40B4-BE49-F238E27FC236}">
                <a16:creationId xmlns:a16="http://schemas.microsoft.com/office/drawing/2014/main" id="{0F98CA8F-C487-934D-4A98-D67E1857E95C}"/>
              </a:ext>
            </a:extLst>
          </p:cNvPr>
          <p:cNvSpPr txBox="1"/>
          <p:nvPr/>
        </p:nvSpPr>
        <p:spPr>
          <a:xfrm>
            <a:off x="4892040" y="3291840"/>
            <a:ext cx="3611879" cy="1024128"/>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1" i="0" u="none" strike="noStrike" kern="1200" cap="none" spc="0" baseline="0">
                <a:solidFill>
                  <a:srgbClr val="E71224"/>
                </a:solidFill>
                <a:uFillTx/>
                <a:latin typeface="Space Mono" pitchFamily="34"/>
                <a:ea typeface="Space Mono" pitchFamily="34"/>
                <a:cs typeface="Space Mono" pitchFamily="34"/>
              </a:rPr>
              <a:t>in una frase</a:t>
            </a:r>
            <a:endParaRPr lang="en-US" sz="840" b="0" i="0" u="none" strike="noStrike" kern="1200" cap="none" spc="0" baseline="0">
              <a:solidFill>
                <a:srgbClr val="111111"/>
              </a:solidFill>
              <a:uFillTx/>
              <a:latin typeface="Space Mono"/>
              <a:ea typeface="Space Mono"/>
              <a:cs typeface="Space Mono"/>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40" b="0" i="0" u="none" strike="noStrike" kern="1200" cap="none" spc="0" baseline="0">
                <a:solidFill>
                  <a:srgbClr val="111111"/>
                </a:solidFill>
                <a:uFillTx/>
                <a:latin typeface="Plus Jakarta Sans" pitchFamily="34"/>
                <a:ea typeface="Plus Jakarta Sans" pitchFamily="34"/>
                <a:cs typeface="Plus Jakarta Sans" pitchFamily="34"/>
              </a:rPr>
              <a:t>Un'app che allena i ragazzi di 14–17 anni, con quiz e simulazioni a livelli su foto, profili e chat, a riconoscere chi c'è davvero dall'altra parte. Le storie dei coetanei e un aiuto sempre visibile li accompagnano, se serve, fino a un adulto di cui si fidano.</a:t>
            </a:r>
            <a:endParaRPr lang="en-US" sz="840" b="0" i="0" u="none" strike="noStrike" kern="1200" cap="none" spc="0" baseline="0">
              <a:solidFill>
                <a:srgbClr val="111111"/>
              </a:solidFill>
              <a:uFillTx/>
              <a:latin typeface="Plus Jakarta Sans"/>
              <a:ea typeface="Plus Jakarta Sans"/>
              <a:cs typeface="Plus Jakarta Sans"/>
            </a:endParaRPr>
          </a:p>
        </p:txBody>
      </p:sp>
      <p:sp>
        <p:nvSpPr>
          <p:cNvPr id="23" name="Slide Number Placeholder 0">
            <a:extLst>
              <a:ext uri="{FF2B5EF4-FFF2-40B4-BE49-F238E27FC236}">
                <a16:creationId xmlns:a16="http://schemas.microsoft.com/office/drawing/2014/main" id="{868D7AD1-1029-DD44-0918-28E2A12BB52B}"/>
              </a:ext>
            </a:extLst>
          </p:cNvPr>
          <p:cNvSpPr txBox="1">
            <a:spLocks noGrp="1"/>
          </p:cNvSpPr>
          <p:nvPr>
            <p:ph type="sldNum" sz="quarter" idx="8"/>
          </p:nvPr>
        </p:nvSpPr>
        <p:spPr/>
        <p:txBody>
          <a:bodyPr lIns="0" tIns="0" rIns="0" bIns="0"/>
          <a:lstStyle/>
          <a:p>
            <a:pPr lvl="0"/>
            <a:fld id="{0D139141-4F2C-4EA4-96F4-B695052184AF}" type="slidenum">
              <a:t>26</a:t>
            </a:fld>
            <a:endParaRPr lang="en-US"/>
          </a:p>
        </p:txBody>
      </p:sp>
    </p:spTree>
    <p:extLst>
      <p:ext uri="{BB962C8B-B14F-4D97-AF65-F5344CB8AC3E}">
        <p14:creationId xmlns:p14="http://schemas.microsoft.com/office/powerpoint/2010/main" val="3966128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666515B-5888-C387-6681-464B0CCACCC5}"/>
              </a:ext>
            </a:extLst>
          </p:cNvPr>
          <p:cNvSpPr txBox="1"/>
          <p:nvPr/>
        </p:nvSpPr>
        <p:spPr>
          <a:xfrm>
            <a:off x="551840" y="465466"/>
            <a:ext cx="4114800" cy="1097280"/>
          </a:xfrm>
          <a:prstGeom prst="rect">
            <a:avLst/>
          </a:prstGeom>
          <a:noFill/>
          <a:ln>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0" b="1" i="0" u="none" strike="noStrike" kern="1200" cap="none" spc="0" baseline="0">
                <a:solidFill>
                  <a:srgbClr val="1700E8"/>
                </a:solidFill>
                <a:uFillTx/>
                <a:latin typeface="Space Mono" pitchFamily="34"/>
                <a:ea typeface="Space Mono" pitchFamily="34"/>
                <a:cs typeface="Space Mono" pitchFamily="34"/>
              </a:rPr>
              <a:t>grazie</a:t>
            </a:r>
            <a:endParaRPr lang="en-US" sz="6000" b="0" i="0" u="none" strike="noStrike" kern="1200" cap="none" spc="0" baseline="0">
              <a:solidFill>
                <a:srgbClr val="111111"/>
              </a:solidFill>
              <a:uFillTx/>
              <a:latin typeface="Space Mono"/>
              <a:ea typeface="Space Mono"/>
              <a:cs typeface="Space Mono"/>
            </a:endParaRPr>
          </a:p>
        </p:txBody>
      </p:sp>
      <p:pic>
        <p:nvPicPr>
          <p:cNvPr id="3" name="Image 0" descr="/home/claude/ppt/build/img/ell_blue.png">
            <a:extLst>
              <a:ext uri="{FF2B5EF4-FFF2-40B4-BE49-F238E27FC236}">
                <a16:creationId xmlns:a16="http://schemas.microsoft.com/office/drawing/2014/main" id="{8FA050F0-B456-30ED-4CCF-60A41651C728}"/>
              </a:ext>
            </a:extLst>
          </p:cNvPr>
          <p:cNvPicPr>
            <a:picLocks noChangeAspect="1"/>
          </p:cNvPicPr>
          <p:nvPr/>
        </p:nvPicPr>
        <p:blipFill>
          <a:blip r:embed="rId2"/>
          <a:stretch>
            <a:fillRect/>
          </a:stretch>
        </p:blipFill>
        <p:spPr>
          <a:xfrm>
            <a:off x="182880" y="345131"/>
            <a:ext cx="3931920" cy="1371600"/>
          </a:xfrm>
          <a:prstGeom prst="rect">
            <a:avLst/>
          </a:prstGeom>
          <a:noFill/>
          <a:ln>
            <a:noFill/>
          </a:ln>
        </p:spPr>
      </p:pic>
      <p:sp>
        <p:nvSpPr>
          <p:cNvPr id="4" name="Text 1">
            <a:extLst>
              <a:ext uri="{FF2B5EF4-FFF2-40B4-BE49-F238E27FC236}">
                <a16:creationId xmlns:a16="http://schemas.microsoft.com/office/drawing/2014/main" id="{88C2C9C5-EBD2-19EC-86CF-A09989A7811F}"/>
              </a:ext>
            </a:extLst>
          </p:cNvPr>
          <p:cNvSpPr txBox="1"/>
          <p:nvPr/>
        </p:nvSpPr>
        <p:spPr>
          <a:xfrm>
            <a:off x="457200" y="1794482"/>
            <a:ext cx="4114800" cy="274320"/>
          </a:xfrm>
          <a:prstGeom prst="rect">
            <a:avLst/>
          </a:prstGeom>
          <a:noFill/>
          <a:ln>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71224"/>
                </a:solidFill>
                <a:uFillTx/>
                <a:latin typeface="Space Mono" pitchFamily="34"/>
                <a:ea typeface="Space Mono" pitchFamily="34"/>
                <a:cs typeface="Space Mono" pitchFamily="34"/>
              </a:rPr>
              <a:t>Tether Space · SafeStep</a:t>
            </a:r>
            <a:endParaRPr lang="en-US" sz="1100" b="0" i="0" u="none" strike="noStrike" kern="1200" cap="none" spc="0" baseline="0">
              <a:solidFill>
                <a:srgbClr val="111111"/>
              </a:solidFill>
              <a:uFillTx/>
              <a:latin typeface="Space Mono"/>
              <a:ea typeface="Space Mono"/>
              <a:cs typeface="Space Mono"/>
            </a:endParaRPr>
          </a:p>
        </p:txBody>
      </p:sp>
      <p:sp>
        <p:nvSpPr>
          <p:cNvPr id="5" name="Text 2">
            <a:extLst>
              <a:ext uri="{FF2B5EF4-FFF2-40B4-BE49-F238E27FC236}">
                <a16:creationId xmlns:a16="http://schemas.microsoft.com/office/drawing/2014/main" id="{D3B0695E-2949-7C9A-F3B5-8182319E559A}"/>
              </a:ext>
            </a:extLst>
          </p:cNvPr>
          <p:cNvSpPr txBox="1"/>
          <p:nvPr/>
        </p:nvSpPr>
        <p:spPr>
          <a:xfrm>
            <a:off x="502920" y="2366101"/>
            <a:ext cx="3840480" cy="411480"/>
          </a:xfrm>
          <a:prstGeom prst="rect">
            <a:avLst/>
          </a:prstGeom>
          <a:noFill/>
          <a:ln>
            <a:noFill/>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rgbClr val="6B6B78"/>
                </a:solidFill>
                <a:uFillTx/>
                <a:latin typeface="Plus Jakarta Sans" pitchFamily="34"/>
                <a:ea typeface="Plus Jakarta Sans"/>
                <a:cs typeface="Plus Jakarta Sans" pitchFamily="34"/>
              </a:rPr>
              <a:t>Recap links and documents:</a:t>
            </a:r>
            <a:endParaRPr lang="en-US" sz="850" b="0" i="0" u="none" strike="noStrike" kern="1200" cap="none" spc="0" baseline="0">
              <a:solidFill>
                <a:srgbClr val="111111"/>
              </a:solidFill>
              <a:uFillTx/>
              <a:latin typeface="Plus Jakarta Sans"/>
              <a:ea typeface="Plus Jakarta Sans"/>
              <a:cs typeface="Plus Jakarta Sans"/>
            </a:endParaRPr>
          </a:p>
        </p:txBody>
      </p:sp>
      <p:sp>
        <p:nvSpPr>
          <p:cNvPr id="6" name="Shape 3">
            <a:extLst>
              <a:ext uri="{FF2B5EF4-FFF2-40B4-BE49-F238E27FC236}">
                <a16:creationId xmlns:a16="http://schemas.microsoft.com/office/drawing/2014/main" id="{BB2E1D44-11B3-113D-053C-7440C4C76C96}"/>
              </a:ext>
            </a:extLst>
          </p:cNvPr>
          <p:cNvSpPr/>
          <p:nvPr/>
        </p:nvSpPr>
        <p:spPr>
          <a:xfrm rot="21420016">
            <a:off x="4928616" y="585216"/>
            <a:ext cx="2011680" cy="1554480"/>
          </a:xfrm>
          <a:prstGeom prst="rect">
            <a:avLst/>
          </a:pr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7" name="Shape 4">
            <a:extLst>
              <a:ext uri="{FF2B5EF4-FFF2-40B4-BE49-F238E27FC236}">
                <a16:creationId xmlns:a16="http://schemas.microsoft.com/office/drawing/2014/main" id="{6A0F0060-4335-6D79-6DBC-A863DC65190F}"/>
              </a:ext>
            </a:extLst>
          </p:cNvPr>
          <p:cNvSpPr/>
          <p:nvPr/>
        </p:nvSpPr>
        <p:spPr>
          <a:xfrm rot="21420016">
            <a:off x="4846320" y="502920"/>
            <a:ext cx="2011680" cy="15544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8" name="Image 1" descr="foto_classe1.png">
            <a:extLst>
              <a:ext uri="{FF2B5EF4-FFF2-40B4-BE49-F238E27FC236}">
                <a16:creationId xmlns:a16="http://schemas.microsoft.com/office/drawing/2014/main" id="{C7D87899-8CB1-D1EF-6C99-1DC3E4F26E0B}"/>
              </a:ext>
            </a:extLst>
          </p:cNvPr>
          <p:cNvPicPr>
            <a:picLocks noChangeAspect="1"/>
          </p:cNvPicPr>
          <p:nvPr/>
        </p:nvPicPr>
        <p:blipFill>
          <a:blip r:embed="rId3"/>
          <a:srcRect/>
          <a:stretch>
            <a:fillRect/>
          </a:stretch>
        </p:blipFill>
        <p:spPr>
          <a:xfrm rot="21420016">
            <a:off x="4928616" y="585216"/>
            <a:ext cx="1847088" cy="1097280"/>
          </a:xfrm>
          <a:prstGeom prst="rect">
            <a:avLst/>
          </a:prstGeom>
          <a:noFill/>
          <a:ln>
            <a:noFill/>
          </a:ln>
        </p:spPr>
      </p:pic>
      <p:sp>
        <p:nvSpPr>
          <p:cNvPr id="9" name="Text 5">
            <a:extLst>
              <a:ext uri="{FF2B5EF4-FFF2-40B4-BE49-F238E27FC236}">
                <a16:creationId xmlns:a16="http://schemas.microsoft.com/office/drawing/2014/main" id="{923CB94D-B701-6587-BD9C-976C8A1B003E}"/>
              </a:ext>
            </a:extLst>
          </p:cNvPr>
          <p:cNvSpPr txBox="1"/>
          <p:nvPr/>
        </p:nvSpPr>
        <p:spPr>
          <a:xfrm rot="21420016">
            <a:off x="4928616" y="1746503"/>
            <a:ext cx="1847088" cy="29260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1" i="0" u="none" strike="noStrike" kern="1200" cap="none" spc="0" baseline="0">
                <a:solidFill>
                  <a:srgbClr val="1700E8"/>
                </a:solidFill>
                <a:uFillTx/>
                <a:latin typeface="Space Mono" pitchFamily="34"/>
                <a:ea typeface="Space Mono" pitchFamily="34"/>
                <a:cs typeface="Space Mono" pitchFamily="34"/>
              </a:rPr>
              <a:t>in classe</a:t>
            </a:r>
            <a:endParaRPr lang="en-US" sz="850" b="0" i="0" u="none" strike="noStrike" kern="1200" cap="none" spc="0" baseline="0">
              <a:solidFill>
                <a:srgbClr val="111111"/>
              </a:solidFill>
              <a:uFillTx/>
              <a:latin typeface="Space Mono"/>
              <a:ea typeface="Space Mono"/>
              <a:cs typeface="Space Mono"/>
            </a:endParaRPr>
          </a:p>
        </p:txBody>
      </p:sp>
      <p:sp>
        <p:nvSpPr>
          <p:cNvPr id="10" name="Shape 6">
            <a:extLst>
              <a:ext uri="{FF2B5EF4-FFF2-40B4-BE49-F238E27FC236}">
                <a16:creationId xmlns:a16="http://schemas.microsoft.com/office/drawing/2014/main" id="{43C6174E-B38B-CBFA-A3E5-3D2E5EA90317}"/>
              </a:ext>
            </a:extLst>
          </p:cNvPr>
          <p:cNvSpPr/>
          <p:nvPr/>
        </p:nvSpPr>
        <p:spPr>
          <a:xfrm rot="21240015">
            <a:off x="5468112" y="420624"/>
            <a:ext cx="777240" cy="164592"/>
          </a:xfrm>
          <a:prstGeom prst="rect">
            <a:avLst/>
          </a:prstGeom>
          <a:solidFill>
            <a:srgbClr val="1700E8">
              <a:alpha val="75000"/>
            </a:srgbClr>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1" name="Shape 7">
            <a:extLst>
              <a:ext uri="{FF2B5EF4-FFF2-40B4-BE49-F238E27FC236}">
                <a16:creationId xmlns:a16="http://schemas.microsoft.com/office/drawing/2014/main" id="{942B5144-FD25-0DE0-146E-CCEB6403D0DC}"/>
              </a:ext>
            </a:extLst>
          </p:cNvPr>
          <p:cNvSpPr/>
          <p:nvPr/>
        </p:nvSpPr>
        <p:spPr>
          <a:xfrm rot="180000">
            <a:off x="6757416" y="1225296"/>
            <a:ext cx="2011680" cy="1554480"/>
          </a:xfrm>
          <a:prstGeom prst="rect">
            <a:avLst/>
          </a:prstGeom>
          <a:solidFill>
            <a:srgbClr val="1700E8"/>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2" name="Shape 8">
            <a:extLst>
              <a:ext uri="{FF2B5EF4-FFF2-40B4-BE49-F238E27FC236}">
                <a16:creationId xmlns:a16="http://schemas.microsoft.com/office/drawing/2014/main" id="{6FA0370F-FDF7-1A14-D50C-6AF5E99EB8F1}"/>
              </a:ext>
            </a:extLst>
          </p:cNvPr>
          <p:cNvSpPr/>
          <p:nvPr/>
        </p:nvSpPr>
        <p:spPr>
          <a:xfrm rot="180000">
            <a:off x="6675120" y="1143000"/>
            <a:ext cx="2011680" cy="15544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3" name="Image 2" descr="foto_quiz.png">
            <a:extLst>
              <a:ext uri="{FF2B5EF4-FFF2-40B4-BE49-F238E27FC236}">
                <a16:creationId xmlns:a16="http://schemas.microsoft.com/office/drawing/2014/main" id="{88EFDAB8-2E7E-6D89-F311-8FF39D8024F4}"/>
              </a:ext>
            </a:extLst>
          </p:cNvPr>
          <p:cNvPicPr>
            <a:picLocks noChangeAspect="1"/>
          </p:cNvPicPr>
          <p:nvPr/>
        </p:nvPicPr>
        <p:blipFill>
          <a:blip r:embed="rId4"/>
          <a:srcRect/>
          <a:stretch>
            <a:fillRect/>
          </a:stretch>
        </p:blipFill>
        <p:spPr>
          <a:xfrm rot="180000">
            <a:off x="6757416" y="1225296"/>
            <a:ext cx="1847088" cy="1097280"/>
          </a:xfrm>
          <a:prstGeom prst="rect">
            <a:avLst/>
          </a:prstGeom>
          <a:noFill/>
          <a:ln>
            <a:noFill/>
          </a:ln>
        </p:spPr>
      </p:pic>
      <p:sp>
        <p:nvSpPr>
          <p:cNvPr id="14" name="Text 9">
            <a:extLst>
              <a:ext uri="{FF2B5EF4-FFF2-40B4-BE49-F238E27FC236}">
                <a16:creationId xmlns:a16="http://schemas.microsoft.com/office/drawing/2014/main" id="{5A6EF8F4-1E83-ADD0-D491-A7A847AECFAA}"/>
              </a:ext>
            </a:extLst>
          </p:cNvPr>
          <p:cNvSpPr txBox="1"/>
          <p:nvPr/>
        </p:nvSpPr>
        <p:spPr>
          <a:xfrm rot="180000">
            <a:off x="6757416" y="2386584"/>
            <a:ext cx="1847088" cy="29260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1" i="0" u="none" strike="noStrike" kern="1200" cap="none" spc="0" baseline="0">
                <a:solidFill>
                  <a:srgbClr val="1700E8"/>
                </a:solidFill>
                <a:uFillTx/>
                <a:latin typeface="Space Mono" pitchFamily="34"/>
                <a:ea typeface="Space Mono" pitchFamily="34"/>
                <a:cs typeface="Space Mono" pitchFamily="34"/>
              </a:rPr>
              <a:t>AI-made test</a:t>
            </a:r>
            <a:endParaRPr lang="en-US" sz="850" b="0" i="0" u="none" strike="noStrike" kern="1200" cap="none" spc="0" baseline="0">
              <a:solidFill>
                <a:srgbClr val="111111"/>
              </a:solidFill>
              <a:uFillTx/>
              <a:latin typeface="Space Mono"/>
              <a:ea typeface="Space Mono"/>
              <a:cs typeface="Space Mono"/>
            </a:endParaRPr>
          </a:p>
        </p:txBody>
      </p:sp>
      <p:sp>
        <p:nvSpPr>
          <p:cNvPr id="15" name="Shape 10">
            <a:extLst>
              <a:ext uri="{FF2B5EF4-FFF2-40B4-BE49-F238E27FC236}">
                <a16:creationId xmlns:a16="http://schemas.microsoft.com/office/drawing/2014/main" id="{5493D5A9-4B78-4977-77A7-DF376C1E2F93}"/>
              </a:ext>
            </a:extLst>
          </p:cNvPr>
          <p:cNvSpPr/>
          <p:nvPr/>
        </p:nvSpPr>
        <p:spPr>
          <a:xfrm>
            <a:off x="7296912" y="1060704"/>
            <a:ext cx="777240" cy="164592"/>
          </a:xfrm>
          <a:prstGeom prst="rect">
            <a:avLst/>
          </a:prstGeom>
          <a:solidFill>
            <a:srgbClr val="E71224">
              <a:alpha val="75000"/>
            </a:srgbClr>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6" name="Shape 11">
            <a:extLst>
              <a:ext uri="{FF2B5EF4-FFF2-40B4-BE49-F238E27FC236}">
                <a16:creationId xmlns:a16="http://schemas.microsoft.com/office/drawing/2014/main" id="{4DA292E7-8725-CB93-BA00-0548403695D3}"/>
              </a:ext>
            </a:extLst>
          </p:cNvPr>
          <p:cNvSpPr/>
          <p:nvPr/>
        </p:nvSpPr>
        <p:spPr>
          <a:xfrm rot="21539993">
            <a:off x="5202936" y="2962656"/>
            <a:ext cx="2011680" cy="1554480"/>
          </a:xfrm>
          <a:prstGeom prst="rect">
            <a:avLst/>
          </a:prstGeom>
          <a:solidFill>
            <a:srgbClr val="E71224"/>
          </a:solidFill>
          <a:ln w="12701">
            <a:solidFill>
              <a:srgbClr val="E71224"/>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17" name="Shape 12">
            <a:extLst>
              <a:ext uri="{FF2B5EF4-FFF2-40B4-BE49-F238E27FC236}">
                <a16:creationId xmlns:a16="http://schemas.microsoft.com/office/drawing/2014/main" id="{948E4207-209C-33A9-E5E8-585DD56C92BD}"/>
              </a:ext>
            </a:extLst>
          </p:cNvPr>
          <p:cNvSpPr/>
          <p:nvPr/>
        </p:nvSpPr>
        <p:spPr>
          <a:xfrm rot="21539993">
            <a:off x="5120640" y="2880360"/>
            <a:ext cx="2011680" cy="1554480"/>
          </a:xfrm>
          <a:prstGeom prst="rect">
            <a:avLst/>
          </a:prstGeom>
          <a:solidFill>
            <a:srgbClr val="FFFFFF"/>
          </a:solidFill>
          <a:ln w="15873">
            <a:solidFill>
              <a:srgbClr val="111111"/>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pic>
        <p:nvPicPr>
          <p:cNvPr id="18" name="Image 3" descr="foto_chat.png">
            <a:extLst>
              <a:ext uri="{FF2B5EF4-FFF2-40B4-BE49-F238E27FC236}">
                <a16:creationId xmlns:a16="http://schemas.microsoft.com/office/drawing/2014/main" id="{72270784-5C0D-09D5-310F-60AC5C3771C4}"/>
              </a:ext>
            </a:extLst>
          </p:cNvPr>
          <p:cNvPicPr>
            <a:picLocks noChangeAspect="1"/>
          </p:cNvPicPr>
          <p:nvPr/>
        </p:nvPicPr>
        <p:blipFill>
          <a:blip r:embed="rId5"/>
          <a:srcRect/>
          <a:stretch>
            <a:fillRect/>
          </a:stretch>
        </p:blipFill>
        <p:spPr>
          <a:xfrm rot="21539993">
            <a:off x="5202936" y="2962656"/>
            <a:ext cx="1847088" cy="1097280"/>
          </a:xfrm>
          <a:prstGeom prst="rect">
            <a:avLst/>
          </a:prstGeom>
          <a:noFill/>
          <a:ln>
            <a:noFill/>
          </a:ln>
        </p:spPr>
      </p:pic>
      <p:sp>
        <p:nvSpPr>
          <p:cNvPr id="19" name="Text 13">
            <a:extLst>
              <a:ext uri="{FF2B5EF4-FFF2-40B4-BE49-F238E27FC236}">
                <a16:creationId xmlns:a16="http://schemas.microsoft.com/office/drawing/2014/main" id="{32A86A8D-8428-11F4-878E-87F430EB5AF5}"/>
              </a:ext>
            </a:extLst>
          </p:cNvPr>
          <p:cNvSpPr txBox="1"/>
          <p:nvPr/>
        </p:nvSpPr>
        <p:spPr>
          <a:xfrm rot="21539993">
            <a:off x="5202936" y="4123944"/>
            <a:ext cx="1847088" cy="292608"/>
          </a:xfrm>
          <a:prstGeom prst="rect">
            <a:avLst/>
          </a:prstGeom>
          <a:noFill/>
          <a:ln>
            <a:noFill/>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1" i="0" u="none" strike="noStrike" kern="1200" cap="none" spc="0" baseline="0">
                <a:solidFill>
                  <a:srgbClr val="1700E8"/>
                </a:solidFill>
                <a:uFillTx/>
                <a:latin typeface="Space Mono" pitchFamily="34"/>
                <a:ea typeface="Space Mono" pitchFamily="34"/>
                <a:cs typeface="Space Mono" pitchFamily="34"/>
              </a:rPr>
              <a:t>chat analysis</a:t>
            </a:r>
            <a:endParaRPr lang="en-US" sz="850" b="0" i="0" u="none" strike="noStrike" kern="1200" cap="none" spc="0" baseline="0">
              <a:solidFill>
                <a:srgbClr val="111111"/>
              </a:solidFill>
              <a:uFillTx/>
              <a:latin typeface="Space Mono"/>
              <a:ea typeface="Space Mono"/>
              <a:cs typeface="Space Mono"/>
            </a:endParaRPr>
          </a:p>
        </p:txBody>
      </p:sp>
      <p:sp>
        <p:nvSpPr>
          <p:cNvPr id="20" name="Shape 14">
            <a:extLst>
              <a:ext uri="{FF2B5EF4-FFF2-40B4-BE49-F238E27FC236}">
                <a16:creationId xmlns:a16="http://schemas.microsoft.com/office/drawing/2014/main" id="{2400325A-DEED-6607-A15D-EA37ED137B11}"/>
              </a:ext>
            </a:extLst>
          </p:cNvPr>
          <p:cNvSpPr/>
          <p:nvPr/>
        </p:nvSpPr>
        <p:spPr>
          <a:xfrm rot="21359993">
            <a:off x="5742432" y="2798064"/>
            <a:ext cx="777240" cy="164592"/>
          </a:xfrm>
          <a:prstGeom prst="rect">
            <a:avLst/>
          </a:prstGeom>
          <a:solidFill>
            <a:srgbClr val="1700E8">
              <a:alpha val="75000"/>
            </a:srgbClr>
          </a:solidFill>
          <a:ln w="12701">
            <a:solidFill>
              <a:srgbClr val="1700E8"/>
            </a:solid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it-IT" sz="1800" b="0" i="0" u="none" strike="noStrike" kern="1200" cap="none" spc="0" baseline="0">
              <a:solidFill>
                <a:srgbClr val="111111"/>
              </a:solidFill>
              <a:uFillTx/>
              <a:latin typeface="Plus Jakarta Sans"/>
              <a:ea typeface="Plus Jakarta Sans"/>
              <a:cs typeface="Plus Jakarta Sans"/>
            </a:endParaRPr>
          </a:p>
        </p:txBody>
      </p:sp>
      <p:sp>
        <p:nvSpPr>
          <p:cNvPr id="21" name="Slide Number Placeholder 0">
            <a:extLst>
              <a:ext uri="{FF2B5EF4-FFF2-40B4-BE49-F238E27FC236}">
                <a16:creationId xmlns:a16="http://schemas.microsoft.com/office/drawing/2014/main" id="{3AE78BF4-1B43-212E-DD3A-51E8D82C4B46}"/>
              </a:ext>
            </a:extLst>
          </p:cNvPr>
          <p:cNvSpPr txBox="1">
            <a:spLocks noGrp="1"/>
          </p:cNvSpPr>
          <p:nvPr>
            <p:ph type="sldNum" sz="quarter" idx="8"/>
          </p:nvPr>
        </p:nvSpPr>
        <p:spPr/>
        <p:txBody>
          <a:bodyPr lIns="0" tIns="0" rIns="0" bIns="0"/>
          <a:lstStyle/>
          <a:p>
            <a:pPr lvl="0"/>
            <a:fld id="{E12A6A93-A420-4238-ACBA-97697D177E52}" type="slidenum">
              <a:rPr/>
              <a:t>27</a:t>
            </a:fld>
            <a:endParaRPr lang="en-US"/>
          </a:p>
        </p:txBody>
      </p:sp>
      <p:sp>
        <p:nvSpPr>
          <p:cNvPr id="22" name="CasellaDiTesto 21">
            <a:extLst>
              <a:ext uri="{FF2B5EF4-FFF2-40B4-BE49-F238E27FC236}">
                <a16:creationId xmlns:a16="http://schemas.microsoft.com/office/drawing/2014/main" id="{1E5C2BDB-BECE-4E37-BBAB-5CBB7A90DD61}"/>
              </a:ext>
            </a:extLst>
          </p:cNvPr>
          <p:cNvSpPr txBox="1"/>
          <p:nvPr/>
        </p:nvSpPr>
        <p:spPr>
          <a:xfrm>
            <a:off x="367524" y="2575178"/>
            <a:ext cx="2247896" cy="307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400" b="1" i="0" u="none" strike="noStrike" kern="1200" cap="none" spc="0" baseline="0">
                <a:solidFill>
                  <a:srgbClr val="1700E8"/>
                </a:solidFill>
                <a:uFillTx/>
                <a:latin typeface="Space Mono"/>
                <a:ea typeface="Space Mono"/>
                <a:cs typeface="Space Mono"/>
                <a:hlinkClick r:id="rId6">
                  <a:extLst>
                    <a:ext uri="{A12FA001-AC4F-418D-AE19-62706E023703}">
                      <ahyp:hlinkClr xmlns:ahyp="http://schemas.microsoft.com/office/drawing/2018/hyperlinkcolor" val="tx"/>
                    </a:ext>
                  </a:extLst>
                </a:hlinkClick>
              </a:rPr>
              <a:t>Board FigJam</a:t>
            </a:r>
            <a:endParaRPr lang="it-IT" sz="1400" b="1" i="0" u="none" strike="noStrike" kern="1200" cap="none" spc="0" baseline="0">
              <a:solidFill>
                <a:srgbClr val="1700E8"/>
              </a:solidFill>
              <a:uFillTx/>
              <a:latin typeface="Space Mono"/>
              <a:ea typeface="Space Mono"/>
              <a:cs typeface="Space Mono"/>
            </a:endParaRPr>
          </a:p>
        </p:txBody>
      </p:sp>
      <p:sp>
        <p:nvSpPr>
          <p:cNvPr id="23" name="CasellaDiTesto 23">
            <a:extLst>
              <a:ext uri="{FF2B5EF4-FFF2-40B4-BE49-F238E27FC236}">
                <a16:creationId xmlns:a16="http://schemas.microsoft.com/office/drawing/2014/main" id="{8FD818E2-02AB-95A1-45E6-08011BE09059}"/>
              </a:ext>
            </a:extLst>
          </p:cNvPr>
          <p:cNvSpPr txBox="1"/>
          <p:nvPr/>
        </p:nvSpPr>
        <p:spPr>
          <a:xfrm>
            <a:off x="365439" y="2906475"/>
            <a:ext cx="1812999" cy="276999"/>
          </a:xfrm>
          <a:prstGeom prst="rect">
            <a:avLst/>
          </a:prstGeom>
          <a:noFill/>
          <a:ln>
            <a:noFill/>
          </a:ln>
        </p:spPr>
        <p:txBody>
          <a:bodyPr vert="horz" wrap="non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200" b="1" i="0" u="none" strike="noStrike" kern="1200" cap="none" spc="0" baseline="0">
                <a:solidFill>
                  <a:srgbClr val="1700E8"/>
                </a:solidFill>
                <a:uFillTx/>
                <a:latin typeface="Plus Jakarta Sans"/>
                <a:ea typeface="Plus Jakarta Sans"/>
                <a:cs typeface="Plus Jakarta Sans"/>
                <a:hlinkClick r:id="rId7">
                  <a:extLst>
                    <a:ext uri="{A12FA001-AC4F-418D-AE19-62706E023703}">
                      <ahyp:hlinkClr xmlns:ahyp="http://schemas.microsoft.com/office/drawing/2018/hyperlinkcolor" val="tx"/>
                    </a:ext>
                  </a:extLst>
                </a:hlinkClick>
              </a:rPr>
              <a:t>Pdf -  esercizi in classe</a:t>
            </a:r>
            <a:endParaRPr lang="it-IT" sz="1200" b="1" i="0" u="none" strike="noStrike" kern="1200" cap="none" spc="0" baseline="0">
              <a:solidFill>
                <a:srgbClr val="1700E8"/>
              </a:solidFill>
              <a:uFillTx/>
              <a:latin typeface="Plus Jakarta Sans"/>
              <a:ea typeface="Plus Jakarta Sans"/>
              <a:cs typeface="Plus Jakarta Sans"/>
            </a:endParaRPr>
          </a:p>
        </p:txBody>
      </p:sp>
      <p:sp>
        <p:nvSpPr>
          <p:cNvPr id="24" name="CasellaDiTesto 25">
            <a:extLst>
              <a:ext uri="{FF2B5EF4-FFF2-40B4-BE49-F238E27FC236}">
                <a16:creationId xmlns:a16="http://schemas.microsoft.com/office/drawing/2014/main" id="{F4AA7480-BC22-E118-BA38-723D7A5EBC25}"/>
              </a:ext>
            </a:extLst>
          </p:cNvPr>
          <p:cNvSpPr txBox="1"/>
          <p:nvPr/>
        </p:nvSpPr>
        <p:spPr>
          <a:xfrm>
            <a:off x="366061" y="3185422"/>
            <a:ext cx="2729977" cy="276999"/>
          </a:xfrm>
          <a:prstGeom prst="rect">
            <a:avLst/>
          </a:prstGeom>
          <a:noFill/>
          <a:ln>
            <a:noFill/>
          </a:ln>
        </p:spPr>
        <p:txBody>
          <a:bodyPr vert="horz" wrap="non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200" b="1" i="0" u="none" strike="noStrike" kern="1200" cap="none" spc="0" baseline="0">
                <a:solidFill>
                  <a:srgbClr val="1700E8"/>
                </a:solidFill>
                <a:uFillTx/>
                <a:latin typeface="Plus Jakarta Sans"/>
                <a:ea typeface="Plus Jakarta Sans"/>
                <a:cs typeface="Plus Jakarta Sans"/>
                <a:hlinkClick r:id="rId8">
                  <a:extLst>
                    <a:ext uri="{A12FA001-AC4F-418D-AE19-62706E023703}">
                      <ahyp:hlinkClr xmlns:ahyp="http://schemas.microsoft.com/office/drawing/2018/hyperlinkcolor" val="tx"/>
                    </a:ext>
                  </a:extLst>
                </a:hlinkClick>
              </a:rPr>
              <a:t>Pdf – focus group scheda di lavoro</a:t>
            </a:r>
            <a:endParaRPr lang="it-IT" sz="1200" b="1" i="0" u="none" strike="noStrike" kern="1200" cap="none" spc="0" baseline="0">
              <a:solidFill>
                <a:srgbClr val="1700E8"/>
              </a:solidFill>
              <a:uFillTx/>
              <a:latin typeface="Plus Jakarta Sans"/>
              <a:ea typeface="Plus Jakarta Sans"/>
              <a:cs typeface="Plus Jakarta Sans"/>
            </a:endParaRPr>
          </a:p>
        </p:txBody>
      </p:sp>
      <p:sp>
        <p:nvSpPr>
          <p:cNvPr id="25" name="CasellaDiTesto 49">
            <a:extLst>
              <a:ext uri="{FF2B5EF4-FFF2-40B4-BE49-F238E27FC236}">
                <a16:creationId xmlns:a16="http://schemas.microsoft.com/office/drawing/2014/main" id="{FC77DBB9-B7E7-6C4C-7357-FB0347D64F02}"/>
              </a:ext>
            </a:extLst>
          </p:cNvPr>
          <p:cNvSpPr txBox="1"/>
          <p:nvPr/>
        </p:nvSpPr>
        <p:spPr>
          <a:xfrm>
            <a:off x="368859" y="3438171"/>
            <a:ext cx="3312926" cy="276999"/>
          </a:xfrm>
          <a:prstGeom prst="rect">
            <a:avLst/>
          </a:prstGeom>
          <a:noFill/>
          <a:ln>
            <a:noFill/>
          </a:ln>
        </p:spPr>
        <p:txBody>
          <a:bodyPr vert="horz" wrap="square" lIns="91440" tIns="45720" rIns="91440" bIns="45720" anchor="t" anchorCtr="0" compatLnSpc="1">
            <a:sp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1200" b="1" i="0" u="none" strike="noStrike" kern="1200" cap="none" spc="0" baseline="0" dirty="0">
                <a:solidFill>
                  <a:srgbClr val="00B050"/>
                </a:solidFill>
                <a:uFillTx/>
                <a:latin typeface="Plus Jakarta Sans"/>
                <a:ea typeface="Plus Jakarta Sans"/>
                <a:cs typeface="Plus Jakarta Sans"/>
                <a:hlinkClick r:id="rId7">
                  <a:extLst>
                    <a:ext uri="{A12FA001-AC4F-418D-AE19-62706E023703}">
                      <ahyp:hlinkClr xmlns:ahyp="http://schemas.microsoft.com/office/drawing/2018/hyperlinkcolor" val="tx"/>
                    </a:ext>
                  </a:extLst>
                </a:hlinkClick>
              </a:rPr>
              <a:t>Excel – analisi tematica </a:t>
            </a:r>
            <a:r>
              <a:rPr lang="it-IT" sz="1200" b="1" dirty="0">
                <a:solidFill>
                  <a:srgbClr val="00B050"/>
                </a:solidFill>
                <a:latin typeface="Plus Jakarta Sans"/>
                <a:ea typeface="Plus Jakarta Sans"/>
                <a:cs typeface="Plus Jakarta Sans"/>
                <a:hlinkClick r:id="rId7">
                  <a:extLst>
                    <a:ext uri="{A12FA001-AC4F-418D-AE19-62706E023703}">
                      <ahyp:hlinkClr xmlns:ahyp="http://schemas.microsoft.com/office/drawing/2018/hyperlinkcolor" val="tx"/>
                    </a:ext>
                  </a:extLst>
                </a:hlinkClick>
              </a:rPr>
              <a:t>completa</a:t>
            </a:r>
            <a:endParaRPr lang="it-IT" sz="1200" b="1" i="0" u="none" strike="noStrike" kern="1200" cap="none" spc="0" baseline="0">
              <a:solidFill>
                <a:srgbClr val="00B050"/>
              </a:solidFill>
              <a:uFillTx/>
              <a:latin typeface="Plus Jakarta Sans"/>
              <a:ea typeface="Plus Jakarta Sans"/>
              <a:cs typeface="Plus Jakarta Sans"/>
            </a:endParaRPr>
          </a:p>
        </p:txBody>
      </p:sp>
    </p:spTree>
    <p:extLst>
      <p:ext uri="{BB962C8B-B14F-4D97-AF65-F5344CB8AC3E}">
        <p14:creationId xmlns:p14="http://schemas.microsoft.com/office/powerpoint/2010/main" val="3556883815"/>
      </p:ext>
    </p:extLst>
  </p:cSld>
  <p:clrMapOvr>
    <a:masterClrMapping/>
  </p:clrMapOvr>
</p:sld>
</file>

<file path=ppt/theme/theme1.xml><?xml version="1.0" encoding="utf-8"?>
<a:theme xmlns:a="http://schemas.openxmlformats.org/drawingml/2006/main" name="Tether Space">
  <a:themeElements>
    <a:clrScheme name="Tether Space">
      <a:dk1>
        <a:srgbClr val="111111"/>
      </a:dk1>
      <a:lt1>
        <a:srgbClr val="FFFFFF"/>
      </a:lt1>
      <a:dk2>
        <a:srgbClr val="1700E8"/>
      </a:dk2>
      <a:lt2>
        <a:srgbClr val="F1EFFF"/>
      </a:lt2>
      <a:accent1>
        <a:srgbClr val="1700E8"/>
      </a:accent1>
      <a:accent2>
        <a:srgbClr val="E71224"/>
      </a:accent2>
      <a:accent3>
        <a:srgbClr val="DEDAFF"/>
      </a:accent3>
      <a:accent4>
        <a:srgbClr val="FBD5D9"/>
      </a:accent4>
      <a:accent5>
        <a:srgbClr val="6B6B78"/>
      </a:accent5>
      <a:accent6>
        <a:srgbClr val="FFF0F1"/>
      </a:accent6>
      <a:hlink>
        <a:srgbClr val="1700E8"/>
      </a:hlink>
      <a:folHlink>
        <a:srgbClr val="E71224"/>
      </a:folHlink>
    </a:clrScheme>
    <a:fontScheme name="Tether Space">
      <a:majorFont>
        <a:latin typeface="Space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ther Spa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ther Space">
  <a:themeElements>
    <a:clrScheme name="Tether Space">
      <a:dk1>
        <a:srgbClr val="111111"/>
      </a:dk1>
      <a:lt1>
        <a:srgbClr val="FFFFFF"/>
      </a:lt1>
      <a:dk2>
        <a:srgbClr val="1700E8"/>
      </a:dk2>
      <a:lt2>
        <a:srgbClr val="F1EFFF"/>
      </a:lt2>
      <a:accent1>
        <a:srgbClr val="1700E8"/>
      </a:accent1>
      <a:accent2>
        <a:srgbClr val="E71224"/>
      </a:accent2>
      <a:accent3>
        <a:srgbClr val="DEDAFF"/>
      </a:accent3>
      <a:accent4>
        <a:srgbClr val="FBD5D9"/>
      </a:accent4>
      <a:accent5>
        <a:srgbClr val="6B6B78"/>
      </a:accent5>
      <a:accent6>
        <a:srgbClr val="FFF0F1"/>
      </a:accent6>
      <a:hlink>
        <a:srgbClr val="1700E8"/>
      </a:hlink>
      <a:folHlink>
        <a:srgbClr val="E71224"/>
      </a:folHlink>
    </a:clrScheme>
    <a:fontScheme name="Tether Space">
      <a:majorFont>
        <a:latin typeface="Space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ther Spa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5b1c879-2eb3-4514-a146-74ffd48af1b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338D343145480249B5E00585164C2047" ma:contentTypeVersion="6" ma:contentTypeDescription="Creare un nuovo documento." ma:contentTypeScope="" ma:versionID="05f8c6c4e4e40ed6168d45baecdc014d">
  <xsd:schema xmlns:xsd="http://www.w3.org/2001/XMLSchema" xmlns:xs="http://www.w3.org/2001/XMLSchema" xmlns:p="http://schemas.microsoft.com/office/2006/metadata/properties" xmlns:ns3="05b1c879-2eb3-4514-a146-74ffd48af1b0" targetNamespace="http://schemas.microsoft.com/office/2006/metadata/properties" ma:root="true" ma:fieldsID="ca1e525e1d2b29193aff8ee1664b4ad3" ns3:_="">
    <xsd:import namespace="05b1c879-2eb3-4514-a146-74ffd48af1b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b1c879-2eb3-4514-a146-74ffd48af1b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9190BD-F7BB-4BF9-A8C1-CEDD58A3BCA1}">
  <ds:schemaRefs>
    <ds:schemaRef ds:uri="05b1c879-2eb3-4514-a146-74ffd48af1b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3990C14-1F7D-4E6A-B197-8626B8C92EBB}">
  <ds:schemaRefs>
    <ds:schemaRef ds:uri="http://schemas.microsoft.com/sharepoint/v3/contenttype/forms"/>
  </ds:schemaRefs>
</ds:datastoreItem>
</file>

<file path=customXml/itemProps3.xml><?xml version="1.0" encoding="utf-8"?>
<ds:datastoreItem xmlns:ds="http://schemas.openxmlformats.org/officeDocument/2006/customXml" ds:itemID="{94721DDA-F342-4862-B12D-E469E6CD5276}">
  <ds:schemaRefs>
    <ds:schemaRef ds:uri="05b1c879-2eb3-4514-a146-74ffd48af1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27</Slides>
  <Notes>10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Tether Space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Sofia</vt:lpstr>
      <vt:lpstr>amici in comune</vt:lpstr>
      <vt:lpstr>Tommaso</vt:lpstr>
      <vt:lpstr>Avvisi falsi</vt:lpstr>
      <vt:lpstr>Chiara</vt:lpstr>
      <vt:lpstr>un'amica nei guai</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8</cp:revision>
  <dcterms:created xsi:type="dcterms:W3CDTF">2026-10-24T13:20:02Z</dcterms:created>
  <dcterms:modified xsi:type="dcterms:W3CDTF">2026-10-26T19:33:12Z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0x010100338D343145480249B5E00585164C2047</vt:lpwstr>
  </property>
</Properties>
</file>